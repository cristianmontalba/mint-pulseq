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2" r:id="rId4"/>
    <p:sldId id="271" r:id="rId5"/>
    <p:sldId id="273" r:id="rId6"/>
    <p:sldId id="275" r:id="rId7"/>
    <p:sldId id="262" r:id="rId8"/>
    <p:sldId id="260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89F"/>
    <a:srgbClr val="53BF60"/>
    <a:srgbClr val="0122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B5D935-58DF-E25F-D8D4-B56A961D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A7579C-3D84-27DB-B999-35EE3579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E0B46-185B-E4C0-FE16-65EE85710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FFF8E8-D49E-5541-3CE6-23CA58C4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C43B1-DDE4-1843-1F9A-D9D1AD0B2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354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97355-896C-5415-5422-AF11472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B24D7D-E9A7-FACE-2D8A-F3DA19E8E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509C9-5D11-EF16-570D-704DAD7F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7B47A9-206B-23C6-BF0B-F7A11043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F3C3C-94BF-4B3E-8479-3EA0DBB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904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42EAA-73A5-9B7B-5F76-18265AADF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931EC-0315-8980-F3AA-AD7A12DDE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F0F198-355E-D604-CA30-09388BF9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535DB-E2A6-2D11-2EDD-4F4F026F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258B7-D1CB-AADB-337E-54249C7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519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6CD377-CFAF-B197-0924-BEBF26E5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25FDCE-E193-D8CD-A3EA-BF7DAC0A8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2EF14E8-24EE-EFB3-97F7-6E057C641F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E451AE-E500-197A-69CE-11ACAF8A6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D9F673-6179-A088-DDD3-5E3EE800E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7A811-ACBF-63AB-A58E-F86CD3D4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376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7D01F-2EF0-5BC6-B18C-A91B98445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0E5F58-3DBF-3C6A-978C-16BE45465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781F9F-EC6B-C795-FC1F-0A3AF5A87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373FF2-7120-8418-E62F-CCF520699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29E8B7D-99F0-62FF-314F-E70174B3C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FC5DC0-2B45-3395-7D22-F2189FB9E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FF40EF-4032-EBC9-166D-1369B86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C4F1CB-7F98-2CBF-8573-A82E976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5480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5905C9-FD9F-AFCF-29A1-0F176F45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A10B60B-53FE-7A45-5CDB-3A6F344E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BA1DEF-C3A2-75FD-1907-390652EE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A0827A9-EA14-1602-1660-11A55E18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601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EF640C-61FE-3C65-6647-97784EF2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6C3E1C-C832-4457-E33D-09C288B44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9995D11-4456-4D79-278F-5CFE86A3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26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8473FF-91AD-F9C7-2188-33C5A3E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94DBEC-D67B-69A1-4300-A320C1513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797A32-95E8-5EF9-015A-1831D96874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D913BA-7953-2E95-CF49-09966D002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D15773-A5A4-C055-8652-438EAB5E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28CC5D-F2FC-383F-FF93-A27EA14F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639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6B189-31ED-325E-4384-CA5FC494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7E28676-A9E1-3A84-3358-51BFA9CB6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9290F-4760-F785-3CB0-35F967A9B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449D89-5CBA-3073-1066-81BC3632D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194A0E-04FF-84F8-B07E-944AB20D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22F051-01A3-8EB6-3E0B-C95B1649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2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8D17C-52D8-3C01-EAD7-43C6638BC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B01B957-7231-0F70-E67E-6B7A6874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B7D26B-0A00-7396-3BCD-1977159D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33DDE-C5DB-5055-8333-B8ECC5F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4AB907-CEAD-1A7F-F67B-D070872E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3494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1F5EC4-B174-113F-6193-A2D53C18E9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61EECE7-5BCC-D0AE-0F31-DE19BE3478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93630-5DAA-7360-397F-9B2BFEE5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5D6B42-9033-D380-F82A-BF57A762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06FDE-A582-B775-477C-76917C7A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56687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FC8C9D8-B7DC-45EE-CB43-1B6D39E6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B2697F-2332-19C2-5C25-29BC04ED4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5DFF6A-6CE7-B25D-E8E8-D35415FD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081711-12B5-4E5F-B48F-8A8AAE3D7EBC}" type="datetimeFigureOut">
              <a:rPr lang="es-CL" smtClean="0"/>
              <a:t>01-07-2026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9E32A-BEE6-36F2-E04C-0BF9A1F4F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59F2E-3A30-A474-2723-49D38E38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28E094-FF96-427E-83AD-DBBE326C26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044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3A34677F-6CA9-8747-F7C8-8345F8DFA1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925545" h="10287000">
                <a:moveTo>
                  <a:pt x="0" y="0"/>
                </a:moveTo>
                <a:lnTo>
                  <a:pt x="18925544" y="0"/>
                </a:lnTo>
                <a:lnTo>
                  <a:pt x="1892554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t="-119401" b="-107666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11" name="Group 7">
            <a:extLst>
              <a:ext uri="{FF2B5EF4-FFF2-40B4-BE49-F238E27FC236}">
                <a16:creationId xmlns:a16="http://schemas.microsoft.com/office/drawing/2014/main" id="{D16ACD94-DE52-9D17-C4C3-BE8A1DEF86CD}"/>
              </a:ext>
            </a:extLst>
          </p:cNvPr>
          <p:cNvGrpSpPr/>
          <p:nvPr/>
        </p:nvGrpSpPr>
        <p:grpSpPr>
          <a:xfrm>
            <a:off x="457200" y="6053328"/>
            <a:ext cx="11247120" cy="457200"/>
            <a:chOff x="0" y="0"/>
            <a:chExt cx="22494240" cy="914400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F622CB3-E140-EFC4-4E97-35C658F83BD2}"/>
                </a:ext>
              </a:extLst>
            </p:cNvPr>
            <p:cNvSpPr/>
            <p:nvPr/>
          </p:nvSpPr>
          <p:spPr>
            <a:xfrm>
              <a:off x="0" y="0"/>
              <a:ext cx="22494239" cy="914400"/>
            </a:xfrm>
            <a:custGeom>
              <a:avLst/>
              <a:gdLst/>
              <a:ahLst/>
              <a:cxnLst/>
              <a:rect l="l" t="t" r="r" b="b"/>
              <a:pathLst>
                <a:path w="22494239" h="914400">
                  <a:moveTo>
                    <a:pt x="0" y="0"/>
                  </a:moveTo>
                  <a:lnTo>
                    <a:pt x="22494239" y="0"/>
                  </a:lnTo>
                  <a:lnTo>
                    <a:pt x="2249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9331" b="-429331"/>
              </a:stretch>
            </a:blip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9">
              <a:extLst>
                <a:ext uri="{FF2B5EF4-FFF2-40B4-BE49-F238E27FC236}">
                  <a16:creationId xmlns:a16="http://schemas.microsoft.com/office/drawing/2014/main" id="{D7C7334F-ED52-B82E-16C9-6CF3D84EF055}"/>
                </a:ext>
              </a:extLst>
            </p:cNvPr>
            <p:cNvSpPr txBox="1"/>
            <p:nvPr/>
          </p:nvSpPr>
          <p:spPr>
            <a:xfrm>
              <a:off x="0" y="-9525"/>
              <a:ext cx="2249424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19"/>
                </a:lnSpc>
              </a:pPr>
              <a:endParaRPr lang="en-US" sz="1600" spc="-9" dirty="0">
                <a:solidFill>
                  <a:srgbClr val="FFFFFF"/>
                </a:solidFill>
                <a:latin typeface="TT Rounds Condensed"/>
                <a:ea typeface="TT Rounds Condensed"/>
                <a:cs typeface="TT Rounds Condensed"/>
                <a:sym typeface="TT Rounds Condensed"/>
              </a:endParaRP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054E814B-1731-B823-F453-D7C826D63924}"/>
              </a:ext>
            </a:extLst>
          </p:cNvPr>
          <p:cNvSpPr txBox="1"/>
          <p:nvPr/>
        </p:nvSpPr>
        <p:spPr>
          <a:xfrm>
            <a:off x="5964425" y="5752470"/>
            <a:ext cx="6989071" cy="621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Belén Bravo Kunz - bkbravo@uc.cl</a:t>
            </a:r>
          </a:p>
          <a:p>
            <a:pPr algn="ctr">
              <a:lnSpc>
                <a:spcPts val="2488"/>
              </a:lnSpc>
            </a:pPr>
            <a:r>
              <a:rPr lang="en-US" sz="1777" spc="89" dirty="0">
                <a:solidFill>
                  <a:srgbClr val="1A1A1A"/>
                </a:solidFill>
                <a:latin typeface="TT Drugs"/>
                <a:ea typeface="TT Drugs"/>
                <a:cs typeface="TT Drugs"/>
                <a:sym typeface="TT Drugs"/>
              </a:rPr>
              <a:t>Cristian Montalba - cristian.montalba@uc.cl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0C5A5AB0-4811-692A-F795-2415C8656C4F}"/>
              </a:ext>
            </a:extLst>
          </p:cNvPr>
          <p:cNvSpPr/>
          <p:nvPr/>
        </p:nvSpPr>
        <p:spPr>
          <a:xfrm>
            <a:off x="375920" y="581658"/>
            <a:ext cx="10637539" cy="5027870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A18C41-0D6C-C3D8-E4AD-6E74FE964E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67" y="143569"/>
            <a:ext cx="2181315" cy="1257108"/>
          </a:xfrm>
          <a:prstGeom prst="rect">
            <a:avLst/>
          </a:prstGeom>
        </p:spPr>
      </p:pic>
      <p:pic>
        <p:nvPicPr>
          <p:cNvPr id="18" name="Imagen 17" descr="HOME | CAMERA MRI Africa">
            <a:extLst>
              <a:ext uri="{FF2B5EF4-FFF2-40B4-BE49-F238E27FC236}">
                <a16:creationId xmlns:a16="http://schemas.microsoft.com/office/drawing/2014/main" id="{1CE4B862-3BCD-1BEF-7489-4817641B0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28844" y="143569"/>
            <a:ext cx="1283653" cy="1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4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C676B99-FDAB-5925-8BDD-FF6FB877CFC6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77A92B1-B0D6-6FA0-2DD4-6431A9198934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9E3D8FA-47F1-ACA5-6F07-97C32116A367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C19D182C-8457-92F0-06C8-142D4BB1DB6F}"/>
              </a:ext>
            </a:extLst>
          </p:cNvPr>
          <p:cNvSpPr txBox="1"/>
          <p:nvPr/>
        </p:nvSpPr>
        <p:spPr>
          <a:xfrm>
            <a:off x="517636" y="260526"/>
            <a:ext cx="118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s-CL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s-CL" sz="3000" b="1" dirty="0" err="1">
                <a:solidFill>
                  <a:schemeClr val="bg1"/>
                </a:solidFill>
              </a:rPr>
              <a:t>Democratizing</a:t>
            </a:r>
            <a:r>
              <a:rPr lang="es-CL" sz="3000" b="1" dirty="0">
                <a:solidFill>
                  <a:schemeClr val="bg1"/>
                </a:solidFill>
              </a:rPr>
              <a:t> MRI </a:t>
            </a:r>
            <a:r>
              <a:rPr lang="es-CL" sz="3000" b="1" dirty="0" err="1">
                <a:solidFill>
                  <a:schemeClr val="bg1"/>
                </a:solidFill>
              </a:rPr>
              <a:t>Sequence</a:t>
            </a:r>
            <a:r>
              <a:rPr lang="es-CL" sz="3000" b="1" dirty="0">
                <a:solidFill>
                  <a:schemeClr val="bg1"/>
                </a:solidFill>
              </a:rPr>
              <a:t> </a:t>
            </a:r>
            <a:r>
              <a:rPr lang="es-CL" sz="3000" b="1" dirty="0" err="1">
                <a:solidFill>
                  <a:schemeClr val="bg1"/>
                </a:solidFill>
              </a:rPr>
              <a:t>Design</a:t>
            </a:r>
            <a:endParaRPr lang="es-CL" sz="3000" b="1" dirty="0">
              <a:solidFill>
                <a:schemeClr val="bg1"/>
              </a:solidFill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ABB589F-769C-F419-520B-0DA2DFBE994D}"/>
              </a:ext>
            </a:extLst>
          </p:cNvPr>
          <p:cNvSpPr txBox="1"/>
          <p:nvPr/>
        </p:nvSpPr>
        <p:spPr>
          <a:xfrm>
            <a:off x="727586" y="1465457"/>
            <a:ext cx="48894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programming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traditionally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confined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vendor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frameworks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requireing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C/C++ and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deep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physics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skills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algn="just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Pulseq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and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pypulseq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acts as an open-source, vendor-agnostic hardware interface.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Medical Technologists understand image artifacts, contrasts, and clinical constraints.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Empower clinical professionals to shift from passive sequence users to active sequence innovators without the coding barrier.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4C4F65D-15E4-93CF-395F-19F417D6156E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8A987B4-CA29-ACB6-194F-ED82AE32369D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pic>
        <p:nvPicPr>
          <p:cNvPr id="13" name="Imagen 12" descr="GitHub - pulseq-admin/pulseq: Open source framework for pulse sequences ·  GitHub">
            <a:extLst>
              <a:ext uri="{FF2B5EF4-FFF2-40B4-BE49-F238E27FC236}">
                <a16:creationId xmlns:a16="http://schemas.microsoft.com/office/drawing/2014/main" id="{CAA5956D-E344-8868-C461-32C0A1BF0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611" y="1570321"/>
            <a:ext cx="1931123" cy="48278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B2ADACC-5C4D-1A80-D4BE-6D0FDEC506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303" y="2675814"/>
            <a:ext cx="5327613" cy="29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8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1AA6D-F5E4-95E4-7927-D134D3D5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09EAAF0-702B-8DB0-F902-9049659A3444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6A58BFD-E200-120B-8EED-CEB461F32938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ED0A817-C29D-6D4E-DF6C-BA98FB6ED9D6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9CABC0EA-3ACC-B3BD-2100-2C42183C9E97}"/>
              </a:ext>
            </a:extLst>
          </p:cNvPr>
          <p:cNvSpPr txBox="1"/>
          <p:nvPr/>
        </p:nvSpPr>
        <p:spPr>
          <a:xfrm>
            <a:off x="517636" y="260526"/>
            <a:ext cx="118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MINT </a:t>
            </a:r>
            <a:r>
              <a:rPr lang="es-C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endParaRPr lang="es-CL" sz="3200" b="1" dirty="0">
              <a:solidFill>
                <a:schemeClr val="bg1"/>
              </a:solidFill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659E76F-4445-F323-B10F-35352DDB0FB3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F7B3127B-ADEE-98F9-8C02-B2EFF0AB76F0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DEE76A-1A68-92E3-1DF5-30CCCBE183FF}"/>
              </a:ext>
            </a:extLst>
          </p:cNvPr>
          <p:cNvSpPr txBox="1"/>
          <p:nvPr/>
        </p:nvSpPr>
        <p:spPr>
          <a:xfrm>
            <a:off x="648929" y="1281629"/>
            <a:ext cx="839674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Consists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in general MRI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Courses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Excitation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: SE, GRE, 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Trajectories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: 2D-DFT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Cartesian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EPI, Radial,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Spiral</a:t>
            </a: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Builder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: .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file (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based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0.55T Siemens free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max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limitations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) 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Expectation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projects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Introduce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proyects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such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as “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My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first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GRE”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Program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fMRI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and DIXON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sequences</a:t>
            </a: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TODO List: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General MRI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classes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and Videos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pulseq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content</a:t>
            </a: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L" sz="16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82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F9E3D-D459-21B4-908F-16E472E7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68A7267-0F6D-BD3B-292F-621C69928E09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D317C27-0B5E-18BD-6A4D-27D9FC2A0D3E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C8388F-04EB-61A5-95CE-B1548D313C24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432DF850-0923-B695-5903-BD6EBB6906A8}"/>
              </a:ext>
            </a:extLst>
          </p:cNvPr>
          <p:cNvSpPr txBox="1"/>
          <p:nvPr/>
        </p:nvSpPr>
        <p:spPr>
          <a:xfrm>
            <a:off x="517636" y="260526"/>
            <a:ext cx="118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MINT </a:t>
            </a:r>
            <a:r>
              <a:rPr lang="es-C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Initiative</a:t>
            </a:r>
            <a:endParaRPr lang="es-CL" sz="3200" b="1" dirty="0">
              <a:solidFill>
                <a:schemeClr val="bg1"/>
              </a:solidFill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CF495C3-2A66-8B96-D1CB-01B6D26AB32C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0A52815A-8A81-847C-5EB2-ED7587DB87FD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4F848BF-E114-996F-97CA-3E30E6859FC7}"/>
              </a:ext>
            </a:extLst>
          </p:cNvPr>
          <p:cNvSpPr txBox="1"/>
          <p:nvPr/>
        </p:nvSpPr>
        <p:spPr>
          <a:xfrm>
            <a:off x="648929" y="1281629"/>
            <a:ext cx="751053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Browser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execution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No local MATLAB/Python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installations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environment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variables,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dependency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conflicts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Automated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Simulation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Pipeline: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Generates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universal .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files and pipes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directly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into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open-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virtual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phantoms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(KOMA / Bloch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simulators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).</a:t>
            </a:r>
          </a:p>
          <a:p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Scalable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Workshops &amp;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Hackathons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GitHub / Google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colab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/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Jupyter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repositories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equipped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"Open in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Colab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"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buttons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instant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deployment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Enables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clinical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professionals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participate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in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collaborative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engineering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driving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global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reproducibility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and Open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Science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612C97A-B702-9214-8F52-4215859D026F}"/>
              </a:ext>
            </a:extLst>
          </p:cNvPr>
          <p:cNvSpPr/>
          <p:nvPr/>
        </p:nvSpPr>
        <p:spPr>
          <a:xfrm>
            <a:off x="8573729" y="1460855"/>
            <a:ext cx="2969342" cy="466268"/>
          </a:xfrm>
          <a:prstGeom prst="rect">
            <a:avLst/>
          </a:prstGeom>
          <a:solidFill>
            <a:srgbClr val="049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FF20E3F-9E9E-39DD-1062-EA797B2F75EE}"/>
              </a:ext>
            </a:extLst>
          </p:cNvPr>
          <p:cNvSpPr/>
          <p:nvPr/>
        </p:nvSpPr>
        <p:spPr>
          <a:xfrm>
            <a:off x="8617974" y="5234704"/>
            <a:ext cx="2969342" cy="466268"/>
          </a:xfrm>
          <a:prstGeom prst="rect">
            <a:avLst/>
          </a:prstGeom>
          <a:solidFill>
            <a:srgbClr val="0498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8E835A0-9F1C-8240-2B06-740F20EB666E}"/>
              </a:ext>
            </a:extLst>
          </p:cNvPr>
          <p:cNvSpPr txBox="1"/>
          <p:nvPr/>
        </p:nvSpPr>
        <p:spPr>
          <a:xfrm>
            <a:off x="9657572" y="1507576"/>
            <a:ext cx="136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MINT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B0E659-FA12-4841-B517-16E36F8202FF}"/>
              </a:ext>
            </a:extLst>
          </p:cNvPr>
          <p:cNvSpPr txBox="1"/>
          <p:nvPr/>
        </p:nvSpPr>
        <p:spPr>
          <a:xfrm>
            <a:off x="8617974" y="3325867"/>
            <a:ext cx="2969342" cy="523220"/>
          </a:xfrm>
          <a:prstGeom prst="rect">
            <a:avLst/>
          </a:prstGeom>
          <a:solidFill>
            <a:srgbClr val="04989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Block / KOMA / Scanner </a:t>
            </a:r>
            <a:r>
              <a:rPr lang="es-CL" sz="14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acquisiton</a:t>
            </a:r>
            <a:endParaRPr lang="es-CL" sz="14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4F9144B-2FA7-FF75-3AB9-9E9D8E3ACF2D}"/>
              </a:ext>
            </a:extLst>
          </p:cNvPr>
          <p:cNvSpPr txBox="1"/>
          <p:nvPr/>
        </p:nvSpPr>
        <p:spPr>
          <a:xfrm>
            <a:off x="9243305" y="5240031"/>
            <a:ext cx="1929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Image</a:t>
            </a:r>
            <a:r>
              <a:rPr lang="es-CL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result</a:t>
            </a:r>
            <a:endParaRPr lang="es-CL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5" name="Flecha: hacia abajo 24">
            <a:extLst>
              <a:ext uri="{FF2B5EF4-FFF2-40B4-BE49-F238E27FC236}">
                <a16:creationId xmlns:a16="http://schemas.microsoft.com/office/drawing/2014/main" id="{B278AA27-E3A7-6BC5-712F-DD4E23808991}"/>
              </a:ext>
            </a:extLst>
          </p:cNvPr>
          <p:cNvSpPr/>
          <p:nvPr/>
        </p:nvSpPr>
        <p:spPr>
          <a:xfrm>
            <a:off x="9894856" y="2081320"/>
            <a:ext cx="324465" cy="1045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Flecha: hacia abajo 25">
            <a:extLst>
              <a:ext uri="{FF2B5EF4-FFF2-40B4-BE49-F238E27FC236}">
                <a16:creationId xmlns:a16="http://schemas.microsoft.com/office/drawing/2014/main" id="{8A1BBD29-DEA1-892D-CD4F-6E088F96D2C2}"/>
              </a:ext>
            </a:extLst>
          </p:cNvPr>
          <p:cNvSpPr/>
          <p:nvPr/>
        </p:nvSpPr>
        <p:spPr>
          <a:xfrm>
            <a:off x="9899772" y="3987601"/>
            <a:ext cx="324465" cy="1045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9815BC6-77D0-9735-84C0-6B93C9711246}"/>
              </a:ext>
            </a:extLst>
          </p:cNvPr>
          <p:cNvSpPr txBox="1"/>
          <p:nvPr/>
        </p:nvSpPr>
        <p:spPr>
          <a:xfrm>
            <a:off x="10163932" y="2300650"/>
            <a:ext cx="128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.</a:t>
            </a:r>
            <a:r>
              <a:rPr lang="es-CL" dirty="0" err="1"/>
              <a:t>seq</a:t>
            </a:r>
            <a:r>
              <a:rPr lang="es-CL" dirty="0"/>
              <a:t> file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B01AB9F-A41D-1327-82B3-47F48158BBD9}"/>
              </a:ext>
            </a:extLst>
          </p:cNvPr>
          <p:cNvSpPr txBox="1"/>
          <p:nvPr/>
        </p:nvSpPr>
        <p:spPr>
          <a:xfrm>
            <a:off x="10219321" y="4289833"/>
            <a:ext cx="128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FFT</a:t>
            </a:r>
          </a:p>
        </p:txBody>
      </p:sp>
    </p:spTree>
    <p:extLst>
      <p:ext uri="{BB962C8B-B14F-4D97-AF65-F5344CB8AC3E}">
        <p14:creationId xmlns:p14="http://schemas.microsoft.com/office/powerpoint/2010/main" val="3489997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F77E9-6F7C-0FBA-67CD-1B6B23A9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015FCEE2-1D6D-D6AF-FCB7-C17B4C19B8A4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B0092CE-6C2E-36FD-300C-6EA26F529165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52F6B19-67AE-9A9B-F4AA-F307445A68F0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8214EB12-52D3-8592-6E17-C9E4674205CF}"/>
              </a:ext>
            </a:extLst>
          </p:cNvPr>
          <p:cNvSpPr txBox="1"/>
          <p:nvPr/>
        </p:nvSpPr>
        <p:spPr>
          <a:xfrm>
            <a:off x="517636" y="260526"/>
            <a:ext cx="118316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8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MINT’s</a:t>
            </a:r>
            <a:r>
              <a:rPr lang="es-CL" sz="2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Mission: </a:t>
            </a:r>
            <a:r>
              <a:rPr lang="es-CL" sz="28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Collaboration</a:t>
            </a:r>
            <a:r>
              <a:rPr lang="es-CL" sz="28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Not </a:t>
            </a:r>
            <a:r>
              <a:rPr lang="es-CL" sz="2800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Competition</a:t>
            </a:r>
            <a:endParaRPr lang="es-CL" sz="2800" b="1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90C9F14-7FD3-DD41-FB15-E28306AB7A9A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6FBCCCD-58C2-A5D6-84C5-7D73784D2144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F0A9F9-188F-D964-B8CA-57648EAEA175}"/>
              </a:ext>
            </a:extLst>
          </p:cNvPr>
          <p:cNvSpPr txBox="1"/>
          <p:nvPr/>
        </p:nvSpPr>
        <p:spPr>
          <a:xfrm>
            <a:off x="624347" y="1278856"/>
            <a:ext cx="109433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s-CL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We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don’t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seek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compete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established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high-level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MR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or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simulation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software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like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JEMRIS.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Instead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MINT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acts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as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educational</a:t>
            </a:r>
            <a:r>
              <a:rPr lang="es-CL" b="1" dirty="0">
                <a:latin typeface="Helvetica" panose="020B0604020202020204" pitchFamily="34" charset="0"/>
                <a:cs typeface="Helvetica" panose="020B0604020202020204" pitchFamily="34" charset="0"/>
              </a:rPr>
              <a:t> gap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CL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It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prepares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clinical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professionals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by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lowering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barrier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entry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enabling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them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confidently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step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into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open-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source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ecosystem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(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such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as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Pulseq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and JEMRIS)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later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dirty="0" err="1">
                <a:latin typeface="Helvetica" panose="020B0604020202020204" pitchFamily="34" charset="0"/>
                <a:cs typeface="Helvetica" panose="020B0604020202020204" pitchFamily="34" charset="0"/>
              </a:rPr>
              <a:t>on</a:t>
            </a:r>
            <a:r>
              <a:rPr lang="es-CL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FC769B8-84D5-11F2-F48B-8103590F47B0}"/>
              </a:ext>
            </a:extLst>
          </p:cNvPr>
          <p:cNvSpPr/>
          <p:nvPr/>
        </p:nvSpPr>
        <p:spPr>
          <a:xfrm>
            <a:off x="2482645" y="4772552"/>
            <a:ext cx="2526890" cy="727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FE43090-AFD8-FD26-C07D-2252C6C0FC7D}"/>
              </a:ext>
            </a:extLst>
          </p:cNvPr>
          <p:cNvSpPr/>
          <p:nvPr/>
        </p:nvSpPr>
        <p:spPr>
          <a:xfrm>
            <a:off x="6979459" y="4772552"/>
            <a:ext cx="2526890" cy="727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E12E2F-3747-2E86-B000-75C82E735A62}"/>
              </a:ext>
            </a:extLst>
          </p:cNvPr>
          <p:cNvSpPr txBox="1"/>
          <p:nvPr/>
        </p:nvSpPr>
        <p:spPr>
          <a:xfrm>
            <a:off x="3362632" y="4952893"/>
            <a:ext cx="1887794" cy="366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MINT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1D51D1C-A383-B369-EEC3-B5EEB8F2AF90}"/>
              </a:ext>
            </a:extLst>
          </p:cNvPr>
          <p:cNvSpPr txBox="1"/>
          <p:nvPr/>
        </p:nvSpPr>
        <p:spPr>
          <a:xfrm>
            <a:off x="7541341" y="4813180"/>
            <a:ext cx="1887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err="1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Captsone</a:t>
            </a:r>
            <a:r>
              <a:rPr lang="es-CL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/ HACKATON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E25709-A2B7-96EE-EFAB-6916322D36D2}"/>
              </a:ext>
            </a:extLst>
          </p:cNvPr>
          <p:cNvSpPr txBox="1"/>
          <p:nvPr/>
        </p:nvSpPr>
        <p:spPr>
          <a:xfrm>
            <a:off x="2403987" y="5715718"/>
            <a:ext cx="2846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 err="1"/>
              <a:t>Foundational</a:t>
            </a:r>
            <a:r>
              <a:rPr lang="es-CL" dirty="0"/>
              <a:t> and no-</a:t>
            </a:r>
            <a:r>
              <a:rPr lang="es-CL" dirty="0" err="1"/>
              <a:t>code</a:t>
            </a:r>
            <a:endParaRPr lang="es-CL" dirty="0"/>
          </a:p>
          <a:p>
            <a:pPr algn="ctr"/>
            <a:r>
              <a:rPr lang="es-CL" dirty="0"/>
              <a:t>Videos + Simulator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8D57BCF-E969-599E-5026-18971551D7A5}"/>
              </a:ext>
            </a:extLst>
          </p:cNvPr>
          <p:cNvSpPr txBox="1"/>
          <p:nvPr/>
        </p:nvSpPr>
        <p:spPr>
          <a:xfrm>
            <a:off x="6811133" y="5715717"/>
            <a:ext cx="2846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Hands-</a:t>
            </a:r>
            <a:r>
              <a:rPr lang="es-CL" dirty="0" err="1"/>
              <a:t>on</a:t>
            </a:r>
            <a:r>
              <a:rPr lang="es-CL" dirty="0"/>
              <a:t> and </a:t>
            </a:r>
            <a:r>
              <a:rPr lang="es-CL" dirty="0" err="1"/>
              <a:t>coding</a:t>
            </a:r>
            <a:endParaRPr lang="es-CL" dirty="0"/>
          </a:p>
          <a:p>
            <a:pPr algn="ctr"/>
            <a:r>
              <a:rPr lang="es-CL" dirty="0"/>
              <a:t>Google </a:t>
            </a:r>
            <a:r>
              <a:rPr lang="es-CL" dirty="0" err="1"/>
              <a:t>Colab</a:t>
            </a:r>
            <a:r>
              <a:rPr lang="es-CL" dirty="0"/>
              <a:t> </a:t>
            </a:r>
            <a:r>
              <a:rPr lang="es-CL" dirty="0" err="1"/>
              <a:t>Workspace</a:t>
            </a:r>
            <a:endParaRPr lang="es-CL" dirty="0"/>
          </a:p>
        </p:txBody>
      </p:sp>
      <p:sp>
        <p:nvSpPr>
          <p:cNvPr id="19" name="Flecha: hacia abajo 18">
            <a:extLst>
              <a:ext uri="{FF2B5EF4-FFF2-40B4-BE49-F238E27FC236}">
                <a16:creationId xmlns:a16="http://schemas.microsoft.com/office/drawing/2014/main" id="{C750F984-7434-B707-8F46-653676F0F78C}"/>
              </a:ext>
            </a:extLst>
          </p:cNvPr>
          <p:cNvSpPr/>
          <p:nvPr/>
        </p:nvSpPr>
        <p:spPr>
          <a:xfrm rot="16200000">
            <a:off x="5832265" y="4607744"/>
            <a:ext cx="324465" cy="10457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501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CB8FD-CC46-3039-6334-D41B6850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61636B87-65D5-786F-D886-2C3307F4C9C1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0972AF-26FA-BE46-B538-EE6D8412625E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EF369D-EE59-9CAA-C29E-3A7FD2878AE3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E3E2CAD7-1E2C-61EF-F967-C168E2ED06DE}"/>
              </a:ext>
            </a:extLst>
          </p:cNvPr>
          <p:cNvSpPr txBox="1"/>
          <p:nvPr/>
        </p:nvSpPr>
        <p:spPr>
          <a:xfrm>
            <a:off x="517636" y="260526"/>
            <a:ext cx="11831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s-CL" sz="3200" b="1" dirty="0">
              <a:solidFill>
                <a:schemeClr val="bg1"/>
              </a:solidFill>
            </a:endParaRPr>
          </a:p>
          <a:p>
            <a:endParaRPr lang="es-CL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B9515B-D778-C707-E16D-123999396717}"/>
              </a:ext>
            </a:extLst>
          </p:cNvPr>
          <p:cNvSpPr txBox="1"/>
          <p:nvPr/>
        </p:nvSpPr>
        <p:spPr>
          <a:xfrm>
            <a:off x="727586" y="1465457"/>
            <a:ext cx="110416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Main Focus: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Let’s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open MR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the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world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!</a:t>
            </a:r>
          </a:p>
          <a:p>
            <a:endParaRPr lang="es-CL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s-CL" sz="20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Impact</a:t>
            </a:r>
            <a:r>
              <a:rPr lang="es-CL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 Pillars:</a:t>
            </a:r>
          </a:p>
          <a:p>
            <a:endParaRPr lang="es-CL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Empowering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Technologists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/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other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professionals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to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become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collaborative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researchers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Lowering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costs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for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early-stage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MR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sequence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design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education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globally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Driving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true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Democratization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of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Neuroimaging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 &amp; Open </a:t>
            </a:r>
            <a:r>
              <a:rPr lang="es-CL" sz="2000" dirty="0" err="1">
                <a:latin typeface="Helvetica" panose="020B0604020202020204" pitchFamily="34" charset="0"/>
                <a:cs typeface="Helvetica" panose="020B0604020202020204" pitchFamily="34" charset="0"/>
              </a:rPr>
              <a:t>Science</a:t>
            </a:r>
            <a:r>
              <a:rPr lang="es-CL" sz="20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9F30F4C-BD1F-8402-CAF4-98D5D26FBA22}"/>
              </a:ext>
            </a:extLst>
          </p:cNvPr>
          <p:cNvSpPr/>
          <p:nvPr/>
        </p:nvSpPr>
        <p:spPr>
          <a:xfrm>
            <a:off x="9657572" y="59084"/>
            <a:ext cx="2452296" cy="100419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30E43012-0807-A879-9664-D7620C4A0E6C}"/>
              </a:ext>
            </a:extLst>
          </p:cNvPr>
          <p:cNvSpPr/>
          <p:nvPr/>
        </p:nvSpPr>
        <p:spPr>
          <a:xfrm>
            <a:off x="9657572" y="-42029"/>
            <a:ext cx="2300321" cy="1105307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462" b="-56839"/>
            </a:stretch>
          </a:blipFill>
          <a:ln>
            <a:noFill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381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1E90E-D830-25E4-0F77-00501C9E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4D7B864-6F9B-87B2-7332-F8BACF570C59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DEEA344-7C6A-89EE-5891-9547852AA66A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AC2F70F-E536-ED08-4A95-AD9829FAAF82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4A482-6ED1-2E59-FB6D-EA5F15613285}"/>
              </a:ext>
            </a:extLst>
          </p:cNvPr>
          <p:cNvSpPr txBox="1"/>
          <p:nvPr/>
        </p:nvSpPr>
        <p:spPr>
          <a:xfrm>
            <a:off x="517635" y="260526"/>
            <a:ext cx="9275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MINT: </a:t>
            </a:r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fitting</a:t>
            </a:r>
            <a:r>
              <a:rPr lang="es-CL" sz="3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CAMERA’S </a:t>
            </a:r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initiatives</a:t>
            </a:r>
            <a:endParaRPr lang="es-CL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DF5FA79-9335-A710-168E-7981A68C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23" y="4848098"/>
            <a:ext cx="2479505" cy="166503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E330A69-90E1-1D88-11B0-36BE0166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094" y="4894032"/>
            <a:ext cx="2671466" cy="1573161"/>
          </a:xfrm>
          <a:prstGeom prst="rect">
            <a:avLst/>
          </a:prstGeom>
        </p:spPr>
      </p:pic>
      <p:sp>
        <p:nvSpPr>
          <p:cNvPr id="11" name="Freeform 2">
            <a:extLst>
              <a:ext uri="{FF2B5EF4-FFF2-40B4-BE49-F238E27FC236}">
                <a16:creationId xmlns:a16="http://schemas.microsoft.com/office/drawing/2014/main" id="{52231034-9826-583D-14F5-B9D510BDCBC9}"/>
              </a:ext>
            </a:extLst>
          </p:cNvPr>
          <p:cNvSpPr/>
          <p:nvPr/>
        </p:nvSpPr>
        <p:spPr>
          <a:xfrm>
            <a:off x="2663362" y="1042962"/>
            <a:ext cx="5979193" cy="2978432"/>
          </a:xfrm>
          <a:custGeom>
            <a:avLst/>
            <a:gdLst/>
            <a:ahLst/>
            <a:cxnLst/>
            <a:rect l="l" t="t" r="r" b="b"/>
            <a:pathLst>
              <a:path w="16604475" h="7971336">
                <a:moveTo>
                  <a:pt x="0" y="0"/>
                </a:moveTo>
                <a:lnTo>
                  <a:pt x="16604475" y="0"/>
                </a:lnTo>
                <a:lnTo>
                  <a:pt x="16604475" y="7971336"/>
                </a:lnTo>
                <a:lnTo>
                  <a:pt x="0" y="79713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1462" b="-56839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683A0FEA-2AD8-D755-222E-7FB76ACE048B}"/>
              </a:ext>
            </a:extLst>
          </p:cNvPr>
          <p:cNvSpPr/>
          <p:nvPr/>
        </p:nvSpPr>
        <p:spPr>
          <a:xfrm rot="8233473">
            <a:off x="2945646" y="4009223"/>
            <a:ext cx="996990" cy="630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7C1E3B61-BCAD-31E0-6652-8D24135C296C}"/>
              </a:ext>
            </a:extLst>
          </p:cNvPr>
          <p:cNvSpPr/>
          <p:nvPr/>
        </p:nvSpPr>
        <p:spPr>
          <a:xfrm rot="2833473">
            <a:off x="7760900" y="4009222"/>
            <a:ext cx="996990" cy="630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7417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4E3E3-583E-6796-1701-5361AD6E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AB95E3A-DAEE-ECE4-3012-9CA44A69DC80}"/>
              </a:ext>
            </a:extLst>
          </p:cNvPr>
          <p:cNvGrpSpPr/>
          <p:nvPr/>
        </p:nvGrpSpPr>
        <p:grpSpPr>
          <a:xfrm>
            <a:off x="0" y="0"/>
            <a:ext cx="12192000" cy="1122363"/>
            <a:chOff x="0" y="0"/>
            <a:chExt cx="24348440" cy="1671320"/>
          </a:xfrm>
          <a:solidFill>
            <a:srgbClr val="01224E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E3AC63-B729-F714-A5A0-AE4EEEE46A12}"/>
                </a:ext>
              </a:extLst>
            </p:cNvPr>
            <p:cNvSpPr/>
            <p:nvPr/>
          </p:nvSpPr>
          <p:spPr>
            <a:xfrm>
              <a:off x="12700" y="1270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D2AF905-60F8-671A-1F91-2DE28D0502B3}"/>
                </a:ext>
              </a:extLst>
            </p:cNvPr>
            <p:cNvSpPr/>
            <p:nvPr/>
          </p:nvSpPr>
          <p:spPr>
            <a:xfrm>
              <a:off x="0" y="0"/>
              <a:ext cx="24348439" cy="1671320"/>
            </a:xfrm>
            <a:custGeom>
              <a:avLst/>
              <a:gdLst/>
              <a:ahLst/>
              <a:cxnLst/>
              <a:rect l="l" t="t" r="r" b="b"/>
              <a:pathLst>
                <a:path w="24348439" h="1671320">
                  <a:moveTo>
                    <a:pt x="12700" y="0"/>
                  </a:moveTo>
                  <a:lnTo>
                    <a:pt x="24335739" y="0"/>
                  </a:lnTo>
                  <a:cubicBezTo>
                    <a:pt x="24342725" y="0"/>
                    <a:pt x="24348439" y="5715"/>
                    <a:pt x="24348439" y="12700"/>
                  </a:cubicBezTo>
                  <a:lnTo>
                    <a:pt x="24348439" y="1658620"/>
                  </a:lnTo>
                  <a:cubicBezTo>
                    <a:pt x="24348439" y="1665605"/>
                    <a:pt x="24342725" y="1671320"/>
                    <a:pt x="24335739" y="1671320"/>
                  </a:cubicBezTo>
                  <a:lnTo>
                    <a:pt x="12700" y="1671320"/>
                  </a:lnTo>
                  <a:cubicBezTo>
                    <a:pt x="5715" y="1671320"/>
                    <a:pt x="0" y="1665605"/>
                    <a:pt x="0" y="165862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658620"/>
                  </a:lnTo>
                  <a:lnTo>
                    <a:pt x="12700" y="1658620"/>
                  </a:lnTo>
                  <a:lnTo>
                    <a:pt x="12700" y="1645920"/>
                  </a:lnTo>
                  <a:lnTo>
                    <a:pt x="24335739" y="1645920"/>
                  </a:lnTo>
                  <a:lnTo>
                    <a:pt x="24335739" y="1658620"/>
                  </a:lnTo>
                  <a:lnTo>
                    <a:pt x="24323039" y="1658620"/>
                  </a:lnTo>
                  <a:lnTo>
                    <a:pt x="24323039" y="12700"/>
                  </a:lnTo>
                  <a:lnTo>
                    <a:pt x="24335739" y="12700"/>
                  </a:lnTo>
                  <a:lnTo>
                    <a:pt x="24335739" y="25400"/>
                  </a:lnTo>
                  <a:lnTo>
                    <a:pt x="12700" y="254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1B1AAD25-4D46-AFC4-7FFC-6AF476D49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t="21037" b="7703"/>
          <a:stretch>
            <a:fillRect/>
          </a:stretch>
        </p:blipFill>
        <p:spPr>
          <a:xfrm>
            <a:off x="274320" y="1625600"/>
            <a:ext cx="11917680" cy="488696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A5B95E-6D26-0161-2D25-12465A0C5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367" y="2728975"/>
            <a:ext cx="2181315" cy="1257108"/>
          </a:xfrm>
          <a:prstGeom prst="rect">
            <a:avLst/>
          </a:prstGeom>
        </p:spPr>
      </p:pic>
      <p:pic>
        <p:nvPicPr>
          <p:cNvPr id="12" name="Imagen 11" descr="HOME | CAMERA MRI Africa">
            <a:extLst>
              <a:ext uri="{FF2B5EF4-FFF2-40B4-BE49-F238E27FC236}">
                <a16:creationId xmlns:a16="http://schemas.microsoft.com/office/drawing/2014/main" id="{C9955189-527A-3638-7206-F8680A15F02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244" y="2728975"/>
            <a:ext cx="1283653" cy="1400050"/>
          </a:xfrm>
          <a:prstGeom prst="rect">
            <a:avLst/>
          </a:prstGeom>
        </p:spPr>
      </p:pic>
      <p:pic>
        <p:nvPicPr>
          <p:cNvPr id="13" name="Imagen 12" descr="McGill University - Wikipedia">
            <a:extLst>
              <a:ext uri="{FF2B5EF4-FFF2-40B4-BE49-F238E27FC236}">
                <a16:creationId xmlns:a16="http://schemas.microsoft.com/office/drawing/2014/main" id="{86ABC0AD-E1C5-27B1-3B24-E7E78C1CB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24" y="4401672"/>
            <a:ext cx="1070292" cy="135904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3121526-438A-8600-77F4-6CDBB7E308E2}"/>
              </a:ext>
            </a:extLst>
          </p:cNvPr>
          <p:cNvSpPr txBox="1"/>
          <p:nvPr/>
        </p:nvSpPr>
        <p:spPr>
          <a:xfrm>
            <a:off x="517635" y="260526"/>
            <a:ext cx="92752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</a:t>
            </a:r>
            <a:endParaRPr lang="es-CL" sz="3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6684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382</Words>
  <Application>Microsoft Office PowerPoint</Application>
  <PresentationFormat>Panorámica</PresentationFormat>
  <Paragraphs>71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Helvetica</vt:lpstr>
      <vt:lpstr>TT Drugs</vt:lpstr>
      <vt:lpstr>TT Rounds Condensed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Andres Montalba Zalaquett</dc:creator>
  <cp:lastModifiedBy>Cristian Andres Montalba Zalaquett</cp:lastModifiedBy>
  <cp:revision>7</cp:revision>
  <dcterms:created xsi:type="dcterms:W3CDTF">2026-07-01T18:43:50Z</dcterms:created>
  <dcterms:modified xsi:type="dcterms:W3CDTF">2026-07-02T04:18:11Z</dcterms:modified>
</cp:coreProperties>
</file>