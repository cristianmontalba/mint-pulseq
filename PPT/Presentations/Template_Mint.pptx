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89F"/>
    <a:srgbClr val="53BF60"/>
    <a:srgbClr val="0122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B5D935-58DF-E25F-D8D4-B56A961D0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A7579C-3D84-27DB-B999-35EE35792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E0B46-185B-E4C0-FE16-65EE85710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08-07-2026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FFF8E8-D49E-5541-3CE6-23CA58C4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CC43B1-DDE4-1843-1F9A-D9D1AD0B2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9354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97355-896C-5415-5422-AF1147211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B24D7D-E9A7-FACE-2D8A-F3DA19E8E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A509C9-5D11-EF16-570D-704DAD7F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08-07-2026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7B47A9-206B-23C6-BF0B-F7A11043B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F3C3C-94BF-4B3E-8479-3EA0DBBC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9043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42EAA-73A5-9B7B-5F76-18265AADF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D931EC-0315-8980-F3AA-AD7A12DDE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F0F198-355E-D604-CA30-09388BF99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08-07-2026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D535DB-E2A6-2D11-2EDD-4F4F026F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E258B7-D1CB-AADB-337E-54249C73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519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6CD377-CFAF-B197-0924-BEBF26E51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25FDCE-E193-D8CD-A3EA-BF7DAC0A8E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EF14E8-24EE-EFB3-97F7-6E057C641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E451AE-E500-197A-69CE-11ACAF8A6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08-07-2026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D9F673-6179-A088-DDD3-5E3EE800E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87A811-ACBF-63AB-A58E-F86CD3D4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3762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7D01F-2EF0-5BC6-B18C-A91B98445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0E5F58-3DBF-3C6A-978C-16BE45465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781F9F-EC6B-C795-FC1F-0A3AF5A87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1373FF2-7120-8418-E62F-CCF520699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29E8B7D-99F0-62FF-314F-E70174B3C3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FC5DC0-2B45-3395-7D22-F2189FB9E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08-07-2026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4FF40EF-4032-EBC9-166D-1369B8622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C4F1CB-7F98-2CBF-8573-A82E9760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4807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5905C9-FD9F-AFCF-29A1-0F176F45F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A10B60B-53FE-7A45-5CDB-3A6F344E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08-07-2026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BA1DEF-C3A2-75FD-1907-390652EE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A0827A9-EA14-1602-1660-11A55E18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6014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6EF640C-61FE-3C65-6647-97784EF28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08-07-2026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E6C3E1C-C832-4457-E33D-09C288B44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995D11-4456-4D79-278F-5CFE86A3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3268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473FF-91AD-F9C7-2188-33C5A3E63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94DBEC-D67B-69A1-4300-A320C1513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797A32-95E8-5EF9-015A-1831D9687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D913BA-7953-2E95-CF49-09966D002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08-07-2026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D15773-A5A4-C055-8652-438EAB5E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28CC5D-F2FC-383F-FF93-A27EA14F8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6395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6B189-31ED-325E-4384-CA5FC494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7E28676-A9E1-3A84-3358-51BFA9CB6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49290F-4760-F785-3CB0-35F967A9B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449D89-5CBA-3073-1066-81BC3632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08-07-2026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194A0E-04FF-84F8-B07E-944AB20DD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22F051-01A3-8EB6-3E0B-C95B16498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280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8D17C-52D8-3C01-EAD7-43C6638B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01B957-7231-0F70-E67E-6B7A6874D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B7D26B-0A00-7396-3BCD-1977159D6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08-07-2026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733DDE-C5DB-5055-8333-B8ECC5F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4AB907-CEAD-1A7F-F67B-D070872E3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3494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1F5EC4-B174-113F-6193-A2D53C18E9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1EECE7-5BCC-D0AE-0F31-DE19BE347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D93630-5DAA-7360-397F-9B2BFEE5A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08-07-2026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5D6B42-9033-D380-F82A-BF57A7622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506FDE-A582-B775-477C-76917C7A2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56687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FC8C9D8-B7DC-45EE-CB43-1B6D39E69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B2697F-2332-19C2-5C25-29BC04ED4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5DFF6A-6CE7-B25D-E8E8-D35415FD7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81711-12B5-4E5F-B48F-8A8AAE3D7EBC}" type="datetimeFigureOut">
              <a:rPr lang="es-CL" smtClean="0"/>
              <a:t>08-07-2026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9E32A-BEE6-36F2-E04C-0BF9A1F4F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659F2E-3A30-A474-2723-49D38E384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0445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3A34677F-6CA9-8747-F7C8-8345F8DFA1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925545" h="10287000">
                <a:moveTo>
                  <a:pt x="0" y="0"/>
                </a:moveTo>
                <a:lnTo>
                  <a:pt x="18925544" y="0"/>
                </a:lnTo>
                <a:lnTo>
                  <a:pt x="1892554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t="-119401" b="-107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D16ACD94-DE52-9D17-C4C3-BE8A1DEF86CD}"/>
              </a:ext>
            </a:extLst>
          </p:cNvPr>
          <p:cNvGrpSpPr/>
          <p:nvPr/>
        </p:nvGrpSpPr>
        <p:grpSpPr>
          <a:xfrm>
            <a:off x="457200" y="6053328"/>
            <a:ext cx="11247120" cy="457200"/>
            <a:chOff x="0" y="0"/>
            <a:chExt cx="22494240" cy="914400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CF622CB3-E140-EFC4-4E97-35C658F83BD2}"/>
                </a:ext>
              </a:extLst>
            </p:cNvPr>
            <p:cNvSpPr/>
            <p:nvPr/>
          </p:nvSpPr>
          <p:spPr>
            <a:xfrm>
              <a:off x="0" y="0"/>
              <a:ext cx="22494239" cy="914400"/>
            </a:xfrm>
            <a:custGeom>
              <a:avLst/>
              <a:gdLst/>
              <a:ahLst/>
              <a:cxnLst/>
              <a:rect l="l" t="t" r="r" b="b"/>
              <a:pathLst>
                <a:path w="22494239" h="914400">
                  <a:moveTo>
                    <a:pt x="0" y="0"/>
                  </a:moveTo>
                  <a:lnTo>
                    <a:pt x="22494239" y="0"/>
                  </a:lnTo>
                  <a:lnTo>
                    <a:pt x="224942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9331" b="-429331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D7C7334F-ED52-B82E-16C9-6CF3D84EF055}"/>
                </a:ext>
              </a:extLst>
            </p:cNvPr>
            <p:cNvSpPr txBox="1"/>
            <p:nvPr/>
          </p:nvSpPr>
          <p:spPr>
            <a:xfrm>
              <a:off x="0" y="-9525"/>
              <a:ext cx="224942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19"/>
                </a:lnSpc>
              </a:pPr>
              <a:endParaRPr lang="en-US" sz="1600" spc="-9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endParaRP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054E814B-1731-B823-F453-D7C826D63924}"/>
              </a:ext>
            </a:extLst>
          </p:cNvPr>
          <p:cNvSpPr txBox="1"/>
          <p:nvPr/>
        </p:nvSpPr>
        <p:spPr>
          <a:xfrm>
            <a:off x="5964425" y="5752470"/>
            <a:ext cx="6989071" cy="621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8"/>
              </a:lnSpc>
            </a:pPr>
            <a:r>
              <a:rPr lang="en-US" sz="1777" spc="89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Belén Bravo Kunz - bkbravo@uc.cl</a:t>
            </a:r>
          </a:p>
          <a:p>
            <a:pPr algn="ctr">
              <a:lnSpc>
                <a:spcPts val="2488"/>
              </a:lnSpc>
            </a:pPr>
            <a:r>
              <a:rPr lang="en-US" sz="1777" spc="89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Cristian Montalba - cristian.montalba@uc.cl</a:t>
            </a:r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0C5A5AB0-4811-692A-F795-2415C8656C4F}"/>
              </a:ext>
            </a:extLst>
          </p:cNvPr>
          <p:cNvSpPr/>
          <p:nvPr/>
        </p:nvSpPr>
        <p:spPr>
          <a:xfrm>
            <a:off x="375920" y="581658"/>
            <a:ext cx="10637539" cy="5027870"/>
          </a:xfrm>
          <a:custGeom>
            <a:avLst/>
            <a:gdLst/>
            <a:ahLst/>
            <a:cxnLst/>
            <a:rect l="l" t="t" r="r" b="b"/>
            <a:pathLst>
              <a:path w="16604475" h="7971336">
                <a:moveTo>
                  <a:pt x="0" y="0"/>
                </a:moveTo>
                <a:lnTo>
                  <a:pt x="16604475" y="0"/>
                </a:lnTo>
                <a:lnTo>
                  <a:pt x="16604475" y="7971336"/>
                </a:lnTo>
                <a:lnTo>
                  <a:pt x="0" y="7971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1462" b="-56839"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5A18C41-0D6C-C3D8-E4AD-6E74FE964E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967" y="143569"/>
            <a:ext cx="2181315" cy="1257108"/>
          </a:xfrm>
          <a:prstGeom prst="rect">
            <a:avLst/>
          </a:prstGeom>
        </p:spPr>
      </p:pic>
      <p:pic>
        <p:nvPicPr>
          <p:cNvPr id="18" name="Imagen 17" descr="HOME | CAMERA MRI Africa">
            <a:extLst>
              <a:ext uri="{FF2B5EF4-FFF2-40B4-BE49-F238E27FC236}">
                <a16:creationId xmlns:a16="http://schemas.microsoft.com/office/drawing/2014/main" id="{1CE4B862-3BCD-1BEF-7489-4817641B0E5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28844" y="143569"/>
            <a:ext cx="1283653" cy="1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5C676B99-FDAB-5925-8BDD-FF6FB877CFC6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77A92B1-B0D6-6FA0-2DD4-6431A9198934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9E3D8FA-47F1-ACA5-6F07-97C32116A367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C19D182C-8457-92F0-06C8-142D4BB1DB6F}"/>
              </a:ext>
            </a:extLst>
          </p:cNvPr>
          <p:cNvSpPr txBox="1"/>
          <p:nvPr/>
        </p:nvSpPr>
        <p:spPr>
          <a:xfrm>
            <a:off x="517636" y="260526"/>
            <a:ext cx="11831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r>
              <a:rPr lang="es-CL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s-CL" sz="3000" b="1" dirty="0" err="1">
                <a:solidFill>
                  <a:schemeClr val="bg1"/>
                </a:solidFill>
              </a:rPr>
              <a:t>Democratizing</a:t>
            </a:r>
            <a:r>
              <a:rPr lang="es-CL" sz="3000" b="1" dirty="0">
                <a:solidFill>
                  <a:schemeClr val="bg1"/>
                </a:solidFill>
              </a:rPr>
              <a:t> MRI </a:t>
            </a:r>
            <a:r>
              <a:rPr lang="es-CL" sz="3000" b="1" dirty="0" err="1">
                <a:solidFill>
                  <a:schemeClr val="bg1"/>
                </a:solidFill>
              </a:rPr>
              <a:t>Sequence</a:t>
            </a:r>
            <a:r>
              <a:rPr lang="es-CL" sz="3000" b="1" dirty="0">
                <a:solidFill>
                  <a:schemeClr val="bg1"/>
                </a:solidFill>
              </a:rPr>
              <a:t> </a:t>
            </a:r>
            <a:r>
              <a:rPr lang="es-CL" sz="3000" b="1" dirty="0" err="1">
                <a:solidFill>
                  <a:schemeClr val="bg1"/>
                </a:solidFill>
              </a:rPr>
              <a:t>Design</a:t>
            </a:r>
            <a:endParaRPr lang="es-CL" sz="3000" b="1" dirty="0">
              <a:solidFill>
                <a:schemeClr val="bg1"/>
              </a:solidFill>
            </a:endParaRPr>
          </a:p>
          <a:p>
            <a:endParaRPr lang="es-CL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4C4F65D-15E4-93CF-395F-19F417D6156E}"/>
              </a:ext>
            </a:extLst>
          </p:cNvPr>
          <p:cNvSpPr/>
          <p:nvPr/>
        </p:nvSpPr>
        <p:spPr>
          <a:xfrm>
            <a:off x="9657572" y="59084"/>
            <a:ext cx="2452296" cy="10041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B8A987B4-CA29-ACB6-194F-ED82AE32369D}"/>
              </a:ext>
            </a:extLst>
          </p:cNvPr>
          <p:cNvSpPr/>
          <p:nvPr/>
        </p:nvSpPr>
        <p:spPr>
          <a:xfrm>
            <a:off x="9657572" y="-42029"/>
            <a:ext cx="2300321" cy="1105307"/>
          </a:xfrm>
          <a:custGeom>
            <a:avLst/>
            <a:gdLst/>
            <a:ahLst/>
            <a:cxnLst/>
            <a:rect l="l" t="t" r="r" b="b"/>
            <a:pathLst>
              <a:path w="16604475" h="7971336">
                <a:moveTo>
                  <a:pt x="0" y="0"/>
                </a:moveTo>
                <a:lnTo>
                  <a:pt x="16604475" y="0"/>
                </a:lnTo>
                <a:lnTo>
                  <a:pt x="16604475" y="7971336"/>
                </a:lnTo>
                <a:lnTo>
                  <a:pt x="0" y="7971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1462" b="-56839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884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4E3E3-583E-6796-1701-5361AD6E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AB95E3A-DAEE-ECE4-3012-9CA44A69DC80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2E3AC63-B729-F714-A5A0-AE4EEEE46A12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D2AF905-60F8-671A-1F91-2DE28D0502B3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1B1AAD25-4D46-AFC4-7FFC-6AF476D49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" t="21037" b="7703"/>
          <a:stretch>
            <a:fillRect/>
          </a:stretch>
        </p:blipFill>
        <p:spPr>
          <a:xfrm>
            <a:off x="274320" y="1625600"/>
            <a:ext cx="11917680" cy="488696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9A5B95E-6D26-0161-2D25-12465A0C5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367" y="2728975"/>
            <a:ext cx="2181315" cy="1257108"/>
          </a:xfrm>
          <a:prstGeom prst="rect">
            <a:avLst/>
          </a:prstGeom>
        </p:spPr>
      </p:pic>
      <p:pic>
        <p:nvPicPr>
          <p:cNvPr id="12" name="Imagen 11" descr="HOME | CAMERA MRI Africa">
            <a:extLst>
              <a:ext uri="{FF2B5EF4-FFF2-40B4-BE49-F238E27FC236}">
                <a16:creationId xmlns:a16="http://schemas.microsoft.com/office/drawing/2014/main" id="{C9955189-527A-3638-7206-F8680A15F02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7244" y="2728975"/>
            <a:ext cx="1283653" cy="1400050"/>
          </a:xfrm>
          <a:prstGeom prst="rect">
            <a:avLst/>
          </a:prstGeom>
        </p:spPr>
      </p:pic>
      <p:pic>
        <p:nvPicPr>
          <p:cNvPr id="13" name="Imagen 12" descr="McGill University - Wikipedia">
            <a:extLst>
              <a:ext uri="{FF2B5EF4-FFF2-40B4-BE49-F238E27FC236}">
                <a16:creationId xmlns:a16="http://schemas.microsoft.com/office/drawing/2014/main" id="{86ABC0AD-E1C5-27B1-3B24-E7E78C1CB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924" y="4401672"/>
            <a:ext cx="1070292" cy="135904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3121526-438A-8600-77F4-6CDBB7E308E2}"/>
              </a:ext>
            </a:extLst>
          </p:cNvPr>
          <p:cNvSpPr txBox="1"/>
          <p:nvPr/>
        </p:nvSpPr>
        <p:spPr>
          <a:xfrm>
            <a:off x="517635" y="260526"/>
            <a:ext cx="92752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  <a:endParaRPr lang="es-CL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6684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26</Words>
  <Application>Microsoft Office PowerPoint</Application>
  <PresentationFormat>Panorámica</PresentationFormat>
  <Paragraphs>4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TT Drugs</vt:lpstr>
      <vt:lpstr>TT Rounds Condensed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Andres Montalba Zalaquett</dc:creator>
  <cp:lastModifiedBy>Cristian Andres Montalba Zalaquett</cp:lastModifiedBy>
  <cp:revision>8</cp:revision>
  <dcterms:created xsi:type="dcterms:W3CDTF">2026-07-01T18:43:50Z</dcterms:created>
  <dcterms:modified xsi:type="dcterms:W3CDTF">2026-07-08T18:41:45Z</dcterms:modified>
</cp:coreProperties>
</file>