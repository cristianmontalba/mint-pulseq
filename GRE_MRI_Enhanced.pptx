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7315200" cy="7315200"/>
          </a:xfrm>
          <a:prstGeom prst="ellipse">
            <a:avLst/>
          </a:prstGeom>
          <a:solidFill>
            <a:srgbClr val="02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90E0EF"/>
                </a:solidFill>
              </a:rPr>
              <a:t>MY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Cartesian GRE in MRI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8AA8BF"/>
                </a:solidFill>
              </a:rPr>
              <a:t>Gradient Echo Sequence — Principles, k-Space &amp;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AA8BF"/>
                </a:solidFill>
              </a:rPr>
              <a:t>Based on lecture by Belén Bravo Kunz · Enhanced English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035040"/>
            <a:ext cx="2103120" cy="4114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Flip Angle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6035040"/>
            <a:ext cx="2103120" cy="4114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6080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</a:rPr>
              <a:t>Slice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6035040"/>
            <a:ext cx="2103120" cy="4114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6080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k-Space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6035040"/>
            <a:ext cx="2103120" cy="4114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60807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Pre-Gradients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is a Gradient Echo (GRE)?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A fast MRI sequence using a single RF pulse and gradient reversal to form an echo</a:t>
            </a:r>
          </a:p>
        </p:txBody>
      </p:sp>
      <p:pic>
        <p:nvPicPr>
          <p:cNvPr id="6" name="Picture 5" descr="frame_0002_0137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GRE vs. Spin Echo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295144"/>
            <a:ext cx="109728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240280"/>
            <a:ext cx="4572000" cy="320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180° refocusing pulse — uses gradient reversal instead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770632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15768"/>
            <a:ext cx="4572000" cy="320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Shorter TR/TE → faster acquisitions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246120"/>
            <a:ext cx="10972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191256"/>
            <a:ext cx="4572000" cy="320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Sensitive to T2* (not T2) — susceptibility effects visible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721608"/>
            <a:ext cx="109728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666744"/>
            <a:ext cx="4572000" cy="320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Flip angle &lt; 90° preserves longitudinal magnetization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2519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Key Parameters to 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70916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Flip Angle (FA)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70916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Tip angle of magnetization — trade-off between SNR &amp; T1 contrast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111496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Excitation Time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11149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Duration of RF pulse — shorter → wider bandwidth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513832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Frequency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51383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42.6 MHz/T × B₀ (Larmor frequency)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91616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Shape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591616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Sinc pulse → uniform slice excitation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RF EXCITATION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Pulse A — RF Excitation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Defining the sinc pulse that creates slice-selective excitation</a:t>
            </a:r>
          </a:p>
        </p:txBody>
      </p:sp>
      <p:pic>
        <p:nvPicPr>
          <p:cNvPr id="6" name="Picture 5" descr="frame_0005_024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Optimal Choices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94560"/>
            <a:ext cx="5760720" cy="8686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FA → 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6060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Maximizes transverse magnetization → maximum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182112"/>
            <a:ext cx="5760720" cy="8686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2735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Duration →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5935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Short pulse = wide bandwidth = better slice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169664"/>
            <a:ext cx="5760720" cy="8686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2611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 = 42.6 MHz/T · B₀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58114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Larmor frequency; scales with field strength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5157216"/>
            <a:ext cx="5760720" cy="86868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24865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Shape = Sinc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568696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Rectangular profile in frequency → uniform slice excitation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6172200"/>
            <a:ext cx="5760720" cy="457200"/>
          </a:xfrm>
          <a:prstGeom prst="roundRect">
            <a:avLst/>
          </a:prstGeom>
          <a:solidFill>
            <a:srgbClr val="043A1C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6281928"/>
            <a:ext cx="5486400" cy="228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Pulse A = excitation AND slice selection in one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SLICE SELECTION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Gz — Slice-Selection 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Applied simultaneously with the RF pulse to select a single slice</a:t>
            </a:r>
          </a:p>
        </p:txBody>
      </p:sp>
      <p:pic>
        <p:nvPicPr>
          <p:cNvPr id="6" name="Picture 5" descr="frame_0009_0338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Gz Waveform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402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GS  (Anz)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Slice-selection lobe — active during RF 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6974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A/2  (GTP)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Rephasing lobe — restores phase coherence after excitation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375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mr.makeSincPulse(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84048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  FA          — flip angle in radians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187952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8BF"/>
                </a:solidFill>
              </a:rPr>
              <a:t>  Lims        — hardware limits (slew rate, max amplitude)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535424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8BF"/>
                </a:solidFill>
              </a:rPr>
              <a:t>  'Duration'  — pulse duration in seconds (e.g. 3e-3 = 3 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882896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8BF"/>
                </a:solidFill>
              </a:rPr>
              <a:t>  'SliceThickness' — slice thickness in metres (e.g. 10e-3 = 10 mm)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230368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8BF"/>
                </a:solidFill>
              </a:rPr>
              <a:t>  'Apodization'    — 0.5 → Hanning window (reduces side-lobes)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577840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8BF"/>
                </a:solidFill>
              </a:rPr>
              <a:t>  'timeBwProduct'  — time–bandwidth product controls slice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K-SPACE — FIRST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Where Are We in k-Space After the RF Pulse?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The 90° RF pulse positions the readout cursor at the center of k-space</a:t>
            </a:r>
          </a:p>
        </p:txBody>
      </p:sp>
      <p:pic>
        <p:nvPicPr>
          <p:cNvPr id="6" name="Picture 5" descr="frame_0022_0719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Effect on k-Space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240280"/>
            <a:ext cx="5760720" cy="91440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2331720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RF 90° 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265176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Sets current k-space position to the CENTER (kx=0, ky=0)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19272"/>
            <a:ext cx="5760720" cy="91440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3410712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Gz gradient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730752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Provides SLICE SELECTION — confines excitation to one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398264"/>
            <a:ext cx="5760720" cy="91440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489704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809744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Move from center to the CORNER of k-space before readout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5486400"/>
            <a:ext cx="5760720" cy="502920"/>
          </a:xfrm>
          <a:prstGeom prst="roundRect">
            <a:avLst/>
          </a:prstGeom>
          <a:solidFill>
            <a:srgbClr val="043A1C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596128"/>
            <a:ext cx="54864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Slice selection and k-space center happen at the same moment — efficient!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K-SPACE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Field of View &amp; Spatial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The image lives in real space; we sample it via k-space (Fourier domain)</a:t>
            </a:r>
          </a:p>
        </p:txBody>
      </p:sp>
      <p:pic>
        <p:nvPicPr>
          <p:cNvPr id="6" name="Picture 5" descr="frame_0036_145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Key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402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FOV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Field of View — size of the imaged region (mm × mm)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74320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Resolution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4320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Pixel size (mm × mm) — spatial resolution of the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4612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# of points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4612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FOV ÷ Resolution → number of k-space samples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794760"/>
            <a:ext cx="5760720" cy="1188720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8862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Worked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224528"/>
            <a:ext cx="5440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FOV = 25.6 cm,   Resolution = 2 mm × 2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4544568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→  256 mm ÷ 2 mm = 128 sample points per dimension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16636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NUT = 1  (Number of Transients — single acquisition per 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5778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AA8BF"/>
                </a:solidFill>
              </a:rPr>
              <a:t>Sampling occurs in k-space (Fourier space), not image space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K-SPACE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Defining k-Space Resolution (Δk)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The spacing between k-space samples determines the FOV in image space</a:t>
            </a:r>
          </a:p>
        </p:txBody>
      </p:sp>
      <p:pic>
        <p:nvPicPr>
          <p:cNvPr id="6" name="Picture 5" descr="frame_0042_159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k-Space Sampling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402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Δk  (or u)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k-space resolution — spacing between adjacent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71576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N = 128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1576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Number of points (same in frequency &amp; phase directions)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91256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T = 2 mm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19125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Sampling period in image space =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6674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Δk = 1/FOV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66744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Reciprocal relationship: smaller Δk → larger FOV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2976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Duality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73659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Total k-space extent (k_width) → controls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120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• k-space step size (Δk) → controls FOV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50468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A8BF"/>
                </a:solidFill>
              </a:rPr>
              <a:t>• More k-space points → same FOV, better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PRE-GRADIENTS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Pre-Gradients — Moving to the k-Space Corner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Before readout, we need to position the k-space cursor at (-kwidth/2, -kwidth/2)</a:t>
            </a:r>
          </a:p>
        </p:txBody>
      </p:sp>
      <p:pic>
        <p:nvPicPr>
          <p:cNvPr id="6" name="Picture 5" descr="frame_0053_187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Why Pre-Gradients?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240280"/>
            <a:ext cx="5760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After the RF pulse we are at k = (0, 0) — k-space center.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697480"/>
            <a:ext cx="5760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Readout must start at the edge: kx = −kwidth/2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154680"/>
            <a:ext cx="5760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Pre-gradients move the cursor to the starting corner before the ADC opens.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611880"/>
            <a:ext cx="5760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⚠  ADC is OFF during pre-gradients (hardware constraint).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2519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k = Area Under the Gradient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6634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 (m⁻¹) = γ / 2π · ∫G(t) dt  =  gradient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166360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AA8BF"/>
                </a:solidFill>
              </a:rPr>
              <a:t>Goal: very short pre-gradients → all pre-grads must have equal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68756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</a:rPr>
              <a:t>→ Relevant: sample k-space CENTER (highest SNR) first → short 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PRE-GRADIENTS — FREQUENCY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Gx Pre-Gradient (Frequency Encoding)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Identical for every k-space line — positions readout to kx = −kwidth/2</a:t>
            </a:r>
          </a:p>
        </p:txBody>
      </p:sp>
      <p:pic>
        <p:nvPicPr>
          <p:cNvPr id="6" name="Picture 5" descr="frame_0055_207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Gx Pre — Same for All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402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Area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−kwidth/2  ±  Δk/2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71576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Duration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1576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 time ≈ 2 ms  (can be shorter with stronger gradients)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91256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Polarity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19125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Negative → moves kx to the LEFT edge of k-space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6674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Varies?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66744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— same waveform repeated for every phase-encode 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251960"/>
            <a:ext cx="5760720" cy="1051560"/>
          </a:xfrm>
          <a:prstGeom prst="roundRect">
            <a:avLst/>
          </a:prstGeom>
          <a:solidFill>
            <a:srgbClr val="0422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361688"/>
            <a:ext cx="548640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Gx_pre = mr.makeTrapezoid('x', lims,
   'Area', kwidth/2 − Δk/2,
   'Duration', pre_time)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406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8BF"/>
                </a:solidFill>
              </a:rPr>
              <a:t>Note: want even number of sample points → include ±Δk/2 correction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PRE-GRADIENTS — PHASE DIRECTION &amp;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Gy Pre-Gradient &amp; Readout 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Gy changes each line (phase encoding); Gx readout collects all kx points</a:t>
            </a:r>
          </a:p>
        </p:txBody>
      </p:sp>
      <p:pic>
        <p:nvPicPr>
          <p:cNvPr id="6" name="Picture 5" descr="frame_0087_254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3035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Gy Pre — Changes Every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19456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Area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9456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−(kwidth/2) + Line · Δk    (Line = 0 … N−1)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67004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Varies?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7004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YES — different for each TR repetition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45536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00B4D8"/>
                </a:solidFill>
              </a:rPr>
              <a:t>Purpose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14553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Steps ky from bottom to top of k-space, one line per 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383280"/>
            <a:ext cx="5760720" cy="822960"/>
          </a:xfrm>
          <a:prstGeom prst="roundRect">
            <a:avLst/>
          </a:prstGeom>
          <a:solidFill>
            <a:srgbClr val="042238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493008"/>
            <a:ext cx="5486400" cy="594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Gy_pre = mr.makeTrapezoid('y', Lims, …)
termino = mr.addBlock(Gy_pre, Gx_pre)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3891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Readout Gradient (Gx)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84632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No Gy during readout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84632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 do NOT move in ky during readout — fixed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25780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Gx duration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25780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ADC readout window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66928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Gx flat area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6692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kwidth  (covers the full kx extent)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6080760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B4D8"/>
                </a:solidFill>
              </a:rPr>
              <a:t>ADC ON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608076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Samples all N kx points during the flat 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GRE Sequence — Full Timing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Each TR block: RF + Gz → Pre-grads → Readout (Gx ADC) → repeat for all ky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92024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32304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RF + Gz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44368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</a:rPr>
              <a:t>Excitation
+ Slice
Select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377440"/>
            <a:ext cx="2011680" cy="4572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43230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Gx Pre
Gy Pre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44368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Position
k-space
cursor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77440"/>
            <a:ext cx="3657600" cy="45720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3230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ADC ON
(Readout Gx)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44368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D166"/>
                </a:solidFill>
              </a:rPr>
              <a:t>Collect
all kx
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377440"/>
            <a:ext cx="3474720" cy="45720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432304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Wait / Gy
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944368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</a:rPr>
              <a:t>T1 recovery
Reset phase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78608"/>
            <a:ext cx="11430000" cy="54864"/>
          </a:xfrm>
          <a:prstGeom prst="rect">
            <a:avLst/>
          </a:prstGeom>
          <a:solidFill>
            <a:srgbClr val="8AA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8BF"/>
                </a:solidFill>
              </a:rPr>
              <a:t>t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301752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8BF"/>
                </a:solidFill>
              </a:rPr>
              <a:t>TR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5394960" cy="530352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8620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31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Repetition Time — time between successive RF pulses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840480"/>
            <a:ext cx="5394960" cy="530352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931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Echo Time — from RF center to k-space center readout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80560"/>
            <a:ext cx="5394960" cy="530352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52628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Flip Angle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572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&lt; 90° for short TR (Ernst angle optimizes SNR)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480560"/>
            <a:ext cx="5394960" cy="530352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52628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k-space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572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Filled line-by-line; N lines = N TR repetitions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5394960" cy="530352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6636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Scan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212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 × N_lines × NUT  (e.g. 100ms × 128 × 1 = 12.8 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120640"/>
            <a:ext cx="5394960" cy="530352"/>
          </a:xfrm>
          <a:prstGeom prst="roundRect">
            <a:avLst/>
          </a:prstGeom>
          <a:solidFill>
            <a:srgbClr val="152A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166360"/>
            <a:ext cx="1371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T2* decay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212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Signal decays during readout → limits resolution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6858000" cy="6858000"/>
          </a:xfrm>
          <a:prstGeom prst="ellipse">
            <a:avLst/>
          </a:prstGeom>
          <a:solidFill>
            <a:srgbClr val="023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90E0EF"/>
                </a:solidFill>
              </a:rPr>
              <a:t>FROM PULSE TO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You now have a complete
Cartesian GRE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411480" cy="4114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5468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Define RF sinc pulse (FA, duration, frequency, shape)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75888"/>
            <a:ext cx="411480" cy="4114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758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21608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Apply Gz for slice selection simultaneously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42816"/>
            <a:ext cx="411480" cy="4114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88536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Compute k-space parameters (FOV, Δk, 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09744"/>
            <a:ext cx="411480" cy="411480"/>
          </a:xfrm>
          <a:prstGeom prst="round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0974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55464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Apply Gx_pre &amp; Gy_pre to reach k-space corner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76672"/>
            <a:ext cx="411480" cy="4114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766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22392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Readout with Gx — ADC collects N samples per 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411480" cy="4114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Repeat N times (one per ky line) → full k-space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8BF"/>
                </a:solidFill>
              </a:rPr>
              <a:t>Belén Bravo Kunz · Enhanced English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