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234440"/>
            <a:ext cx="4480560" cy="4480560"/>
          </a:xfrm>
          <a:prstGeom prst="rect">
            <a:avLst/>
          </a:prstGeom>
        </p:spPr>
      </p:pic>
      <p:pic>
        <p:nvPicPr>
          <p:cNvPr id="4" name="Picture 3" descr="ring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51460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33172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Calibri"/>
              </a:rPr>
              <a:t>Espacio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2D3EE"/>
                </a:solidFill>
                <a:latin typeface="Calibri"/>
              </a:rPr>
              <a:t>El dominio de frecuencias espaciales en Resonancia Magnética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9BA3C7"/>
                </a:solidFill>
                <a:latin typeface="Calibri"/>
              </a:rPr>
              <a:t>Presentación técnica sobre adquisición y reconstrucción de imágenes de 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SECCIÓN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87782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Fundamentos del Espacio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BA3C7"/>
                </a:solidFill>
                <a:latin typeface="Calibri"/>
              </a:rPr>
              <a:t>La matriz de frecuencias espaciales que precede a toda imagen de resonancia magnética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¿Qué es el Espacio K?</a:t>
            </a:r>
          </a:p>
        </p:txBody>
      </p:sp>
      <p:pic>
        <p:nvPicPr>
          <p:cNvPr id="4" name="Picture 3" descr="grid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39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187451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Matriz de datos crudos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3171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Es la matriz donde se almacena la señal de RM tal como llega desde la bobina receptora, antes de cualquier reconstrucción.</a:t>
            </a:r>
          </a:p>
        </p:txBody>
      </p:sp>
      <p:pic>
        <p:nvPicPr>
          <p:cNvPr id="7" name="Picture 6" descr="wav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59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329183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Dominio de frecuencia espacial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4903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Cada punto no corresponde a un píxel: representa cuánto contribuye una frecuencia espacial determinada a toda la imagen.</a:t>
            </a:r>
          </a:p>
        </p:txBody>
      </p:sp>
      <p:pic>
        <p:nvPicPr>
          <p:cNvPr id="10" name="Picture 9" descr="arrow_transform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54879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0200" y="470915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Relación con la imagen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16635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La imagen final se obtiene aplicando una Transformada de Fourier (2D o 3D) sobre los datos del espacio 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Codificación Espacial y Gradientes</a:t>
            </a:r>
          </a:p>
        </p:txBody>
      </p:sp>
      <p:pic>
        <p:nvPicPr>
          <p:cNvPr id="4" name="Picture 3" descr="wave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39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187451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Ecuación de Larmor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3171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Los gradientes modifican el campo magnético según la posición, haciendo que cada tejido resuene con una frecuencia y fase únicas.</a:t>
            </a:r>
          </a:p>
        </p:txBody>
      </p:sp>
      <p:pic>
        <p:nvPicPr>
          <p:cNvPr id="7" name="Picture 6" descr="gradient_ramp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59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329183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Ejes kx y ky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4903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La posición de un dato en el espacio k está dada por la integral en el tiempo del gradiente aplicado en esa dirección.</a:t>
            </a:r>
          </a:p>
        </p:txBody>
      </p:sp>
      <p:pic>
        <p:nvPicPr>
          <p:cNvPr id="10" name="Picture 9" descr="gri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54879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0200" y="470915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Frecuencia y fase de codificación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16635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El eje kx corresponde a la lectura (frequency encoding); el eje ky, a la codificación de fase, adquirida línea por línea.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Centro vs. Periferia</a:t>
            </a:r>
          </a:p>
        </p:txBody>
      </p:sp>
      <p:pic>
        <p:nvPicPr>
          <p:cNvPr id="4" name="Picture 3" descr="rings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356616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46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Centro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9BA3C7"/>
                </a:solidFill>
                <a:latin typeface="Calibri"/>
              </a:rPr>
              <a:t>Periferia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874519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Calibri"/>
              </a:rPr>
              <a:t>Centro del espacio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395728"/>
            <a:ext cx="68580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Bajas frecuencias espaciales: </a:t>
            </a:r>
            <a:r>
              <a:rPr sz="1450" b="0">
                <a:solidFill>
                  <a:srgbClr val="9BA3C7"/>
                </a:solidFill>
                <a:latin typeface="Calibri"/>
              </a:rPr>
              <a:t>codifican el contraste y la forma general de la imagen.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Adquisición: </a:t>
            </a:r>
            <a:r>
              <a:rPr sz="1450" b="0">
                <a:solidFill>
                  <a:srgbClr val="9BA3C7"/>
                </a:solidFill>
                <a:latin typeface="Calibri"/>
              </a:rPr>
              <a:t>gradientes de baja amplitud y/o corta duración.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41605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>
                <a:solidFill>
                  <a:srgbClr val="8B7CFF"/>
                </a:solidFill>
                <a:latin typeface="Calibri"/>
              </a:rPr>
              <a:t>Periferia del espacio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4681728"/>
            <a:ext cx="68580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Altas frecuencias espaciales: </a:t>
            </a:r>
            <a:r>
              <a:rPr sz="1450" b="0">
                <a:solidFill>
                  <a:srgbClr val="9BA3C7"/>
                </a:solidFill>
                <a:latin typeface="Calibri"/>
              </a:rPr>
              <a:t>codifican bordes, contornos y detalle fino.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Adquisición: </a:t>
            </a:r>
            <a:r>
              <a:rPr sz="1450" b="0">
                <a:solidFill>
                  <a:srgbClr val="9BA3C7"/>
                </a:solidFill>
                <a:latin typeface="Calibri"/>
              </a:rPr>
              <a:t>gradientes de mayor amplitud y/o duración.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Simetría del Espacio K</a:t>
            </a:r>
          </a:p>
        </p:txBody>
      </p:sp>
      <p:pic>
        <p:nvPicPr>
          <p:cNvPr id="4" name="Picture 3" descr="mirror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329184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09160" y="1874519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Simetría Hermitiana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2295143"/>
            <a:ext cx="68580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En un espacio k ideal, los datos son simétricos respecto al origen: un punto y su opuesto son complejos conjugados.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3291839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Origen físico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3712463"/>
            <a:ext cx="68580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Surge de representar la señal como ondas seno y coseno, funciones antisimétrica y simétrica respectivamente.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4709159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Aplicación: Half Fourier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5129783"/>
            <a:ext cx="68580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Permite reconstruir la imagen adquiriendo poco más de la mitad del espacio k, acortando el escaneo a costa de SNR.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SECCIÓN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87782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Trayectorias de Llenado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BA3C7"/>
                </a:solidFill>
                <a:latin typeface="Calibri"/>
              </a:rPr>
              <a:t>El orden de adquisición del espacio k define velocidad, contraste y artefactos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Trayectorias del Espacio 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rtesian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21408"/>
            <a:ext cx="77724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65960" y="2121408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Cartesiana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606040"/>
            <a:ext cx="374904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Adquiere una línea completa de ky por excitación: secuencial, céntrica o en reversa según el contraste buscado.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82880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pi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121408"/>
            <a:ext cx="777240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62672" y="2121408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EPI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2606040"/>
            <a:ext cx="374904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Recorre gran parte o todo el espacio k en una sola excitación con gradientes oscilantes; muy rápida, sensible a distorsión y T2*.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33672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dial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26280"/>
            <a:ext cx="777240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65960" y="452628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Radial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010912"/>
            <a:ext cx="374904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Adquiere líneas que pasan por el centro del espacio k; robusta al movimiento, permite TE ultracorto.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4233672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piral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4526280"/>
            <a:ext cx="777240" cy="777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62672" y="452628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Espiral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5010912"/>
            <a:ext cx="374904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Recorre el espacio k en espiral desde (o hacia) el centro; muy eficiente, pero necesita reencuadre (regridding) de los datos.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SECCIÓN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87782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Aceleración, Artefactos y Reconstrucción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BA3C7"/>
                </a:solidFill>
                <a:latin typeface="Calibri"/>
              </a:rPr>
              <a:t>Cómo acortar el tiempo de escaneo sin perder información clínica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Estrategias de Aceleración</a:t>
            </a:r>
          </a:p>
        </p:txBody>
      </p:sp>
      <p:pic>
        <p:nvPicPr>
          <p:cNvPr id="4" name="Picture 3" descr="gradient_ramp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880360"/>
            <a:ext cx="257860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FOV rectangular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2578608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Reduce las líneas adquiridas en la dirección de fase; ahorra tiempo pero puede causar aliasing.</a:t>
            </a:r>
          </a:p>
        </p:txBody>
      </p:sp>
      <p:pic>
        <p:nvPicPr>
          <p:cNvPr id="7" name="Picture 6" descr="zero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1965960"/>
            <a:ext cx="6858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56432" y="2880360"/>
            <a:ext cx="257860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Scan percentage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3611880"/>
            <a:ext cx="2578608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Omite las líneas más periféricas del espacio k; reduce resolución y tiempo, sube el SNR relativo.</a:t>
            </a:r>
          </a:p>
        </p:txBody>
      </p:sp>
      <p:pic>
        <p:nvPicPr>
          <p:cNvPr id="10" name="Picture 9" descr="mirror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965960"/>
            <a:ext cx="685800" cy="685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2784" y="2880360"/>
            <a:ext cx="257860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Half Fourier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3611880"/>
            <a:ext cx="2578608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Aprovecha la simetría del espacio k para adquirir poco más de la mitad de las líneas de fase.</a:t>
            </a:r>
          </a:p>
        </p:txBody>
      </p:sp>
      <p:pic>
        <p:nvPicPr>
          <p:cNvPr id="13" name="Picture 12" descr="layers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36" y="1965960"/>
            <a:ext cx="685800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89136" y="2880360"/>
            <a:ext cx="257860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Imagen paralela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3611880"/>
            <a:ext cx="2578608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SENSE/SMASH usan múltiples bobinas para reconstruir líneas faltantes sin escanearlas.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Artefactos en el Espacio K</a:t>
            </a:r>
          </a:p>
        </p:txBody>
      </p:sp>
      <p:pic>
        <p:nvPicPr>
          <p:cNvPr id="4" name="Picture 3" descr="ghost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39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187451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Ghosting por movimiento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3171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El movimiento entre líneas de fase introduce una diferencia de fase que se traduce en fantasmas a lo largo de la dirección de codificación de fase.</a:t>
            </a:r>
          </a:p>
        </p:txBody>
      </p:sp>
      <p:pic>
        <p:nvPicPr>
          <p:cNvPr id="7" name="Picture 6" descr="spik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59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329183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Bandas por spikes de 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4903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Un punto de datos defectuoso en el espacio k se convierte, tras la Transformada de Fourier, en bandas oscuras repetidas sobre toda la imagen.</a:t>
            </a:r>
          </a:p>
        </p:txBody>
      </p:sp>
      <p:pic>
        <p:nvPicPr>
          <p:cNvPr id="10" name="Picture 9" descr="rings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54879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0200" y="470915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Ringing de Gibbs por truncamiento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16635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Omitir las frecuencias espaciales más altas genera oscilaciones (anillos) cerca de bordes de alto contraste.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 Espacio K a Imagen</a:t>
            </a:r>
          </a:p>
        </p:txBody>
      </p:sp>
      <p:pic>
        <p:nvPicPr>
          <p:cNvPr id="4" name="Picture 3" descr="fft_chip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39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187451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Transformada Rápida de Fourier (FFT)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3171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Es el método estándar: convierte directamente la matriz del espacio k en la imagen final.</a:t>
            </a:r>
          </a:p>
        </p:txBody>
      </p:sp>
      <p:pic>
        <p:nvPicPr>
          <p:cNvPr id="7" name="Picture 6" descr="zero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59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329183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Zero-filling e interpolación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4903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Rellena con ceros las líneas no adquiridas para interpolar una imagen de mayor resolución aparente.</a:t>
            </a:r>
          </a:p>
        </p:txBody>
      </p:sp>
      <p:pic>
        <p:nvPicPr>
          <p:cNvPr id="10" name="Picture 9" descr="layer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54879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0200" y="4709159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Reconstrucción avanzada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166359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BA3C7"/>
                </a:solidFill>
                <a:latin typeface="Calibri"/>
              </a:rPr>
              <a:t>Compressed sensing y aprendizaje profundo permiten reconstruir imágenes a partir de datos muy submuestreados.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20" y="1737360"/>
            <a:ext cx="54864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2423160"/>
            <a:ext cx="987552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Todo lo que vemos en la imagen se decide en el espacio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34340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2D3EE"/>
                </a:solidFill>
                <a:latin typeface="Calibri"/>
              </a:rPr>
              <a:t>Contraste, resolución y artefactos son, ante todo, una historia de cómo se llena esta matriz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