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4"/>
    <p:sldId id="257" r:id="rId3"/>
    <p:sldId id="270" r:id="rId12"/>
    <p:sldId id="271" r:id="rId13"/>
    <p:sldId id="272" r:id="rId14"/>
    <p:sldId id="266" r:id="rId10"/>
    <p:sldId id="273" r:id="rId15"/>
    <p:sldId id="267" r:id="rId11"/>
    <p:sldId id="274" r:id="rId16"/>
    <p:sldId id="275" r:id="rId17"/>
    <p:sldId id="276" r:id="rId18"/>
    <p:sldId id="277" r:id="rId19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89F"/>
    <a:srgbClr val="53BF60"/>
    <a:srgbClr val="0122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B5D935-58DF-E25F-D8D4-B56A961D0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A7579C-3D84-27DB-B999-35EE35792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AE0B46-185B-E4C0-FE16-65EE85710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FFF8E8-D49E-5541-3CE6-23CA58C42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CC43B1-DDE4-1843-1F9A-D9D1AD0B2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29354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A97355-896C-5415-5422-AF1147211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B24D7D-E9A7-FACE-2D8A-F3DA19E8E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A509C9-5D11-EF16-570D-704DAD7F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7B47A9-206B-23C6-BF0B-F7A11043B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F3C3C-94BF-4B3E-8479-3EA0DBBC0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89043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242EAA-73A5-9B7B-5F76-18265AADF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D931EC-0315-8980-F3AA-AD7A12DDE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F0F198-355E-D604-CA30-09388BF99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D535DB-E2A6-2D11-2EDD-4F4F026F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E258B7-D1CB-AADB-337E-54249C731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25190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6CD377-CFAF-B197-0924-BEBF26E51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25FDCE-E193-D8CD-A3EA-BF7DAC0A8E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2EF14E8-24EE-EFB3-97F7-6E057C641F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E451AE-E500-197A-69CE-11ACAF8A6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ED9F673-6179-A088-DDD3-5E3EE800E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87A811-ACBF-63AB-A58E-F86CD3D48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73762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87D01F-2EF0-5BC6-B18C-A91B98445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0E5F58-3DBF-3C6A-978C-16BE45465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E781F9F-EC6B-C795-FC1F-0A3AF5A87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1373FF2-7120-8418-E62F-CCF5206992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29E8B7D-99F0-62FF-314F-E70174B3C3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0FC5DC0-2B45-3395-7D22-F2189FB9E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4FF40EF-4032-EBC9-166D-1369B8622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8C4F1CB-7F98-2CBF-8573-A82E9760F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54807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5905C9-FD9F-AFCF-29A1-0F176F45F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A10B60B-53FE-7A45-5CDB-3A6F344E1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2BA1DEF-C3A2-75FD-1907-390652EEE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A0827A9-EA14-1602-1660-11A55E18F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66014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6EF640C-61FE-3C65-6647-97784EF28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E6C3E1C-C832-4457-E33D-09C288B44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995D11-4456-4D79-278F-5CFE86A3A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3268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8473FF-91AD-F9C7-2188-33C5A3E63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94DBEC-D67B-69A1-4300-A320C1513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0797A32-95E8-5EF9-015A-1831D9687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2D913BA-7953-2E95-CF49-09966D002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8D15773-A5A4-C055-8652-438EAB5E5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28CC5D-F2FC-383F-FF93-A27EA14F8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76395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56B189-31ED-325E-4384-CA5FC494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7E28676-A9E1-3A84-3358-51BFA9CB6A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649290F-4760-F785-3CB0-35F967A9B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449D89-5CBA-3073-1066-81BC3632D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194A0E-04FF-84F8-B07E-944AB20DD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22F051-01A3-8EB6-3E0B-C95B16498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280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28D17C-52D8-3C01-EAD7-43C6638BC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B01B957-7231-0F70-E67E-6B7A6874D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B7D26B-0A00-7396-3BCD-1977159D6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733DDE-C5DB-5055-8333-B8ECC5F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4AB907-CEAD-1A7F-F67B-D070872E3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3494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C1F5EC4-B174-113F-6193-A2D53C18E9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61EECE7-5BCC-D0AE-0F31-DE19BE3478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D93630-5DAA-7360-397F-9B2BFEE5A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5D6B42-9033-D380-F82A-BF57A7622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506FDE-A582-B775-477C-76917C7A2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5668799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FC8C9D8-B7DC-45EE-CB43-1B6D39E69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B2697F-2332-19C2-5C25-29BC04ED4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5DFF6A-6CE7-B25D-E8E8-D35415FD7B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59E32A-BEE6-36F2-E04C-0BF9A1F4F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659F2E-3A30-A474-2723-49D38E384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40445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3A34677F-6CA9-8747-F7C8-8345F8DFA1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925545" h="10287000">
                <a:moveTo>
                  <a:pt x="0" y="0"/>
                </a:moveTo>
                <a:lnTo>
                  <a:pt x="18925544" y="0"/>
                </a:lnTo>
                <a:lnTo>
                  <a:pt x="1892554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t="-119401" b="-107666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1" name="Group 7">
            <a:extLst>
              <a:ext uri="{FF2B5EF4-FFF2-40B4-BE49-F238E27FC236}">
                <a16:creationId xmlns:a16="http://schemas.microsoft.com/office/drawing/2014/main" id="{D16ACD94-DE52-9D17-C4C3-BE8A1DEF86CD}"/>
              </a:ext>
            </a:extLst>
          </p:cNvPr>
          <p:cNvGrpSpPr/>
          <p:nvPr/>
        </p:nvGrpSpPr>
        <p:grpSpPr>
          <a:xfrm>
            <a:off x="457200" y="6053328"/>
            <a:ext cx="11247120" cy="457200"/>
            <a:chOff x="0" y="0"/>
            <a:chExt cx="22494240" cy="914400"/>
          </a:xfrm>
        </p:grpSpPr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CF622CB3-E140-EFC4-4E97-35C658F83BD2}"/>
                </a:ext>
              </a:extLst>
            </p:cNvPr>
            <p:cNvSpPr/>
            <p:nvPr/>
          </p:nvSpPr>
          <p:spPr>
            <a:xfrm>
              <a:off x="0" y="0"/>
              <a:ext cx="22494239" cy="914400"/>
            </a:xfrm>
            <a:custGeom>
              <a:avLst/>
              <a:gdLst/>
              <a:ahLst/>
              <a:cxnLst/>
              <a:rect l="l" t="t" r="r" b="b"/>
              <a:pathLst>
                <a:path w="22494239" h="914400">
                  <a:moveTo>
                    <a:pt x="0" y="0"/>
                  </a:moveTo>
                  <a:lnTo>
                    <a:pt x="22494239" y="0"/>
                  </a:lnTo>
                  <a:lnTo>
                    <a:pt x="224942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9331" b="-429331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D7C7334F-ED52-B82E-16C9-6CF3D84EF055}"/>
                </a:ext>
              </a:extLst>
            </p:cNvPr>
            <p:cNvSpPr txBox="1"/>
            <p:nvPr/>
          </p:nvSpPr>
          <p:spPr>
            <a:xfrm>
              <a:off x="0" y="-9525"/>
              <a:ext cx="2249424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19"/>
                </a:lnSpc>
              </a:pPr>
              <a:endParaRPr lang="en-US" sz="1600" spc="-9" dirty="0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endParaRPr>
            </a:p>
          </p:txBody>
        </p:sp>
      </p:grpSp>
      <p:sp>
        <p:nvSpPr>
          <p:cNvPr id="14" name="TextBox 11">
            <a:extLst>
              <a:ext uri="{FF2B5EF4-FFF2-40B4-BE49-F238E27FC236}">
                <a16:creationId xmlns:a16="http://schemas.microsoft.com/office/drawing/2014/main" id="{054E814B-1731-B823-F453-D7C826D63924}"/>
              </a:ext>
            </a:extLst>
          </p:cNvPr>
          <p:cNvSpPr txBox="1"/>
          <p:nvPr/>
        </p:nvSpPr>
        <p:spPr>
          <a:xfrm>
            <a:off x="5964425" y="5752470"/>
            <a:ext cx="6989071" cy="621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8"/>
              </a:lnSpc>
            </a:pPr>
            <a:r>
              <a:rPr lang="en-US" sz="1777" spc="89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Belén Bravo Kunz - bkbravo@uc.cl</a:t>
            </a:r>
          </a:p>
          <a:p>
            <a:pPr algn="ctr">
              <a:lnSpc>
                <a:spcPts val="2488"/>
              </a:lnSpc>
            </a:pPr>
            <a:r>
              <a:rPr lang="en-US" sz="1777" spc="89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Cristian Montalba - cristian.montalba@uc.cl</a:t>
            </a:r>
          </a:p>
        </p:txBody>
      </p:sp>
      <p:sp>
        <p:nvSpPr>
          <p:cNvPr id="16" name="Freeform 2">
            <a:extLst>
              <a:ext uri="{FF2B5EF4-FFF2-40B4-BE49-F238E27FC236}">
                <a16:creationId xmlns:a16="http://schemas.microsoft.com/office/drawing/2014/main" id="{0C5A5AB0-4811-692A-F795-2415C8656C4F}"/>
              </a:ext>
            </a:extLst>
          </p:cNvPr>
          <p:cNvSpPr/>
          <p:nvPr/>
        </p:nvSpPr>
        <p:spPr>
          <a:xfrm>
            <a:off x="375920" y="581658"/>
            <a:ext cx="10637539" cy="5027870"/>
          </a:xfrm>
          <a:custGeom>
            <a:avLst/>
            <a:gdLst/>
            <a:ahLst/>
            <a:cxnLst/>
            <a:rect l="l" t="t" r="r" b="b"/>
            <a:pathLst>
              <a:path w="16604475" h="7971336">
                <a:moveTo>
                  <a:pt x="0" y="0"/>
                </a:moveTo>
                <a:lnTo>
                  <a:pt x="16604475" y="0"/>
                </a:lnTo>
                <a:lnTo>
                  <a:pt x="16604475" y="7971336"/>
                </a:lnTo>
                <a:lnTo>
                  <a:pt x="0" y="7971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1462" b="-56839"/>
            </a:stretch>
          </a:blipFill>
        </p:spPr>
        <p:txBody>
          <a:bodyPr/>
          <a:lstStyle/>
          <a:p>
            <a:endParaRPr lang="es-CL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45A18C41-0D6C-C3D8-E4AD-6E74FE964E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967" y="143569"/>
            <a:ext cx="2181315" cy="1257108"/>
          </a:xfrm>
          <a:prstGeom prst="rect">
            <a:avLst/>
          </a:prstGeom>
        </p:spPr>
      </p:pic>
      <p:pic>
        <p:nvPicPr>
          <p:cNvPr id="18" name="Imagen 17" descr="HOME | CAMERA MRI Africa">
            <a:extLst>
              <a:ext uri="{FF2B5EF4-FFF2-40B4-BE49-F238E27FC236}">
                <a16:creationId xmlns:a16="http://schemas.microsoft.com/office/drawing/2014/main" id="{1CE4B862-3BCD-1BEF-7489-4817641B0E5F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28844" y="143569"/>
            <a:ext cx="1283653" cy="1400050"/>
          </a:xfrm>
          <a:prstGeom prst="rect">
            <a:avLst/>
          </a:prstGeom>
        </p:spPr>
      </p:pic>
      <p:sp>
        <p:nvSpPr>
          <p:cNvPr id="20" name="TextBox Tagline"/>
          <p:cNvSpPr txBox="1"/>
          <p:nvPr/>
        </p:nvSpPr>
        <p:spPr>
          <a:xfrm>
            <a:off x="375920" y="120000"/>
            <a:ext cx="7600000" cy="42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/>
            <a:r>
              <a:rPr lang="es-CL" sz="20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Espacio K</a:t>
            </a:r>
            <a:r>
              <a:rPr lang="es-CL" sz="1400" dirty="0">
                <a:solidFill>
                  <a:srgbClr val="04989F"/>
                </a:solidFill>
                <a:latin typeface="TT Drugs"/>
                <a:ea typeface="TT Drugs"/>
                <a:cs typeface="TT Drugs"/>
                <a:sym typeface="TT Drugs"/>
              </a:rPr>
              <a:t xml:space="preserve"> — el dominio de frecuencias espaciales de la RM</a:t>
            </a:r>
          </a:p>
        </p:txBody>
      </p:sp>
    </p:spTree>
    <p:extLst>
      <p:ext uri="{BB962C8B-B14F-4D97-AF65-F5344CB8AC3E}">
        <p14:creationId xmlns:p14="http://schemas.microsoft.com/office/powerpoint/2010/main" val="73934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BF9F7-A7D1-760D-5B04-8AE3E4FA5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28E588F1-5D36-8861-490D-2D4845885572}"/>
              </a:ext>
            </a:extLst>
          </p:cNvPr>
          <p:cNvGrpSpPr/>
          <p:nvPr/>
        </p:nvGrpSpPr>
        <p:grpSpPr>
          <a:xfrm>
            <a:off x="0" y="0"/>
            <a:ext cx="12192000" cy="1122363"/>
            <a:chOff x="0" y="0"/>
            <a:chExt cx="24348440" cy="1671320"/>
          </a:xfrm>
          <a:solidFill>
            <a:srgbClr val="01224E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3528E23-AA71-D71D-2440-CE67897D067B}"/>
                </a:ext>
              </a:extLst>
            </p:cNvPr>
            <p:cNvSpPr/>
            <p:nvPr/>
          </p:nvSpPr>
          <p:spPr>
            <a:xfrm>
              <a:off x="12700" y="1270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0897BC5-AE8E-797B-F6E7-DEECF30B3CF4}"/>
                </a:ext>
              </a:extLst>
            </p:cNvPr>
            <p:cNvSpPr/>
            <p:nvPr/>
          </p:nvSpPr>
          <p:spPr>
            <a:xfrm>
              <a:off x="0" y="0"/>
              <a:ext cx="24348439" cy="1671320"/>
            </a:xfrm>
            <a:custGeom>
              <a:avLst/>
              <a:gdLst/>
              <a:ahLst/>
              <a:cxnLst/>
              <a:rect l="l" t="t" r="r" b="b"/>
              <a:pathLst>
                <a:path w="24348439" h="167132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658620"/>
                  </a:lnTo>
                  <a:cubicBezTo>
                    <a:pt x="24348439" y="1665605"/>
                    <a:pt x="24342725" y="1671320"/>
                    <a:pt x="243357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4335739" y="1645920"/>
                  </a:lnTo>
                  <a:lnTo>
                    <a:pt x="24335739" y="1658620"/>
                  </a:lnTo>
                  <a:lnTo>
                    <a:pt x="24323039" y="16586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Title"/>
          <p:cNvSpPr txBox="1"/>
          <p:nvPr/>
        </p:nvSpPr>
        <p:spPr>
          <a:xfrm>
            <a:off x="457200" y="280000"/>
            <a:ext cx="10800000" cy="60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/>
            <a:r>
              <a:rPr lang="es-CL" sz="2800" b="1" dirty="0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¿Qué es el Espacio K?</a:t>
            </a:r>
          </a:p>
        </p:txBody>
      </p:sp>
      <p:sp>
        <p:nvSpPr>
          <p:cNvPr id="10" name="TextBox Body"/>
          <p:cNvSpPr txBox="1"/>
          <p:nvPr/>
        </p:nvSpPr>
        <p:spPr>
          <a:xfrm>
            <a:off x="500000" y="1600000"/>
            <a:ext cx="11192000" cy="480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/>
            <a:r>
              <a:rPr lang="es-CL" sz="20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Matriz de datos crudos</a:t>
            </a:r>
          </a:p>
          <a:p>
            <a:pPr algn="l">
              <a:spcAft>
                <a:spcPts val="2400"/>
              </a:spcAft>
            </a:pPr>
            <a:r>
              <a:rPr lang="es-CL" sz="16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Es la matriz donde se almacena la señal de RM tal como llega desde la bobina receptora, antes de cualquier reconstrucción.</a:t>
            </a:r>
          </a:p>
          <a:p>
            <a:pPr algn="l">
              <a:spcBef>
                <a:spcPts val="1600"/>
              </a:spcBef>
            </a:pPr>
            <a:r>
              <a:rPr lang="es-CL" sz="20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Dominio de frecuencia espacial</a:t>
            </a:r>
          </a:p>
          <a:p>
            <a:pPr algn="l">
              <a:spcAft>
                <a:spcPts val="2400"/>
              </a:spcAft>
            </a:pPr>
            <a:r>
              <a:rPr lang="es-CL" sz="16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Cada punto no corresponde a un píxel: representa cuánto contribuye una frecuencia espacial determinada a toda la imagen.</a:t>
            </a:r>
          </a:p>
          <a:p>
            <a:pPr algn="l">
              <a:spcBef>
                <a:spcPts val="1600"/>
              </a:spcBef>
            </a:pPr>
            <a:r>
              <a:rPr lang="es-CL" sz="20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Relación con la imagen</a:t>
            </a:r>
          </a:p>
          <a:p>
            <a:pPr algn="l"/>
            <a:r>
              <a:rPr lang="es-CL" sz="16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La imagen final se obtiene aplicando una Transformada de Fourier (2D o 3D) sobre los datos del espacio k.</a:t>
            </a:r>
          </a:p>
        </p:txBody>
      </p:sp>
    </p:spTree>
    <p:extLst>
      <p:ext uri="{BB962C8B-B14F-4D97-AF65-F5344CB8AC3E}">
        <p14:creationId xmlns:p14="http://schemas.microsoft.com/office/powerpoint/2010/main" val="4255369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28326-480D-3F05-2F38-58AB066E4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0392788-1ABD-F1B6-4940-7622575AD404}"/>
              </a:ext>
            </a:extLst>
          </p:cNvPr>
          <p:cNvGrpSpPr/>
          <p:nvPr/>
        </p:nvGrpSpPr>
        <p:grpSpPr>
          <a:xfrm flipV="1">
            <a:off x="3276601" y="3640519"/>
            <a:ext cx="8092439" cy="241987"/>
            <a:chOff x="0" y="0"/>
            <a:chExt cx="24348440" cy="1671320"/>
          </a:xfrm>
          <a:solidFill>
            <a:srgbClr val="01224E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DBB396A-D3C5-E36F-A668-D8E57564D545}"/>
                </a:ext>
              </a:extLst>
            </p:cNvPr>
            <p:cNvSpPr/>
            <p:nvPr/>
          </p:nvSpPr>
          <p:spPr>
            <a:xfrm>
              <a:off x="12700" y="1270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495656D-B9BC-B05C-3C1F-03510BEEBBED}"/>
                </a:ext>
              </a:extLst>
            </p:cNvPr>
            <p:cNvSpPr/>
            <p:nvPr/>
          </p:nvSpPr>
          <p:spPr>
            <a:xfrm>
              <a:off x="0" y="0"/>
              <a:ext cx="24348439" cy="1671320"/>
            </a:xfrm>
            <a:custGeom>
              <a:avLst/>
              <a:gdLst/>
              <a:ahLst/>
              <a:cxnLst/>
              <a:rect l="l" t="t" r="r" b="b"/>
              <a:pathLst>
                <a:path w="24348439" h="167132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658620"/>
                  </a:lnTo>
                  <a:cubicBezTo>
                    <a:pt x="24348439" y="1665605"/>
                    <a:pt x="24342725" y="1671320"/>
                    <a:pt x="243357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4335739" y="1645920"/>
                  </a:lnTo>
                  <a:lnTo>
                    <a:pt x="24335739" y="1658620"/>
                  </a:lnTo>
                  <a:lnTo>
                    <a:pt x="24323039" y="16586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8" name="Freeform 5">
            <a:extLst>
              <a:ext uri="{FF2B5EF4-FFF2-40B4-BE49-F238E27FC236}">
                <a16:creationId xmlns:a16="http://schemas.microsoft.com/office/drawing/2014/main" id="{229BA34D-D468-834E-EAED-AA579E51E34C}"/>
              </a:ext>
            </a:extLst>
          </p:cNvPr>
          <p:cNvSpPr/>
          <p:nvPr/>
        </p:nvSpPr>
        <p:spPr>
          <a:xfrm flipV="1">
            <a:off x="1163447" y="3640517"/>
            <a:ext cx="2113154" cy="241989"/>
          </a:xfrm>
          <a:custGeom>
            <a:avLst/>
            <a:gdLst/>
            <a:ahLst/>
            <a:cxnLst/>
            <a:rect l="l" t="t" r="r" b="b"/>
            <a:pathLst>
              <a:path w="24323039" h="1645920">
                <a:moveTo>
                  <a:pt x="0" y="0"/>
                </a:moveTo>
                <a:lnTo>
                  <a:pt x="24323039" y="0"/>
                </a:lnTo>
                <a:lnTo>
                  <a:pt x="24323039" y="1645920"/>
                </a:lnTo>
                <a:lnTo>
                  <a:pt x="0" y="1645920"/>
                </a:lnTo>
                <a:close/>
              </a:path>
            </a:pathLst>
          </a:custGeom>
          <a:solidFill>
            <a:srgbClr val="04989F"/>
          </a:solidFill>
        </p:spPr>
        <p:txBody>
          <a:bodyPr/>
          <a:lstStyle/>
          <a:p>
            <a:endParaRPr lang="es-CL" dirty="0"/>
          </a:p>
        </p:txBody>
      </p:sp>
      <p:sp>
        <p:nvSpPr>
          <p:cNvPr id="9" name="TextBox Section Title"/>
          <p:cNvSpPr txBox="1"/>
          <p:nvPr/>
        </p:nvSpPr>
        <p:spPr>
          <a:xfrm>
            <a:off x="0" y="2400000"/>
            <a:ext cx="12192000" cy="11400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algn="ctr"/>
            <a:r>
              <a:rPr lang="es-CL" sz="40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Espacio K</a:t>
            </a:r>
          </a:p>
        </p:txBody>
      </p:sp>
      <p:sp>
        <p:nvSpPr>
          <p:cNvPr id="10" name="TextBox Section Subtitle"/>
          <p:cNvSpPr txBox="1"/>
          <p:nvPr/>
        </p:nvSpPr>
        <p:spPr>
          <a:xfrm>
            <a:off x="900000" y="4000000"/>
            <a:ext cx="10392000" cy="50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/>
            <a:r>
              <a:rPr lang="es-CL" sz="16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La matriz de frecuencias espaciales que precede a toda imagen de RM</a:t>
            </a:r>
          </a:p>
        </p:txBody>
      </p:sp>
    </p:spTree>
    <p:extLst>
      <p:ext uri="{BB962C8B-B14F-4D97-AF65-F5344CB8AC3E}">
        <p14:creationId xmlns:p14="http://schemas.microsoft.com/office/powerpoint/2010/main" val="3895638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28326-480D-3F05-2F38-58AB066E4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0392788-1ABD-F1B6-4940-7622575AD404}"/>
              </a:ext>
            </a:extLst>
          </p:cNvPr>
          <p:cNvGrpSpPr/>
          <p:nvPr/>
        </p:nvGrpSpPr>
        <p:grpSpPr>
          <a:xfrm flipV="1">
            <a:off x="3276601" y="3640519"/>
            <a:ext cx="8092439" cy="241987"/>
            <a:chOff x="0" y="0"/>
            <a:chExt cx="24348440" cy="1671320"/>
          </a:xfrm>
          <a:solidFill>
            <a:srgbClr val="01224E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DBB396A-D3C5-E36F-A668-D8E57564D545}"/>
                </a:ext>
              </a:extLst>
            </p:cNvPr>
            <p:cNvSpPr/>
            <p:nvPr/>
          </p:nvSpPr>
          <p:spPr>
            <a:xfrm>
              <a:off x="12700" y="1270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495656D-B9BC-B05C-3C1F-03510BEEBBED}"/>
                </a:ext>
              </a:extLst>
            </p:cNvPr>
            <p:cNvSpPr/>
            <p:nvPr/>
          </p:nvSpPr>
          <p:spPr>
            <a:xfrm>
              <a:off x="0" y="0"/>
              <a:ext cx="24348439" cy="1671320"/>
            </a:xfrm>
            <a:custGeom>
              <a:avLst/>
              <a:gdLst/>
              <a:ahLst/>
              <a:cxnLst/>
              <a:rect l="l" t="t" r="r" b="b"/>
              <a:pathLst>
                <a:path w="24348439" h="167132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658620"/>
                  </a:lnTo>
                  <a:cubicBezTo>
                    <a:pt x="24348439" y="1665605"/>
                    <a:pt x="24342725" y="1671320"/>
                    <a:pt x="243357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4335739" y="1645920"/>
                  </a:lnTo>
                  <a:lnTo>
                    <a:pt x="24335739" y="1658620"/>
                  </a:lnTo>
                  <a:lnTo>
                    <a:pt x="24323039" y="16586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8" name="Freeform 5">
            <a:extLst>
              <a:ext uri="{FF2B5EF4-FFF2-40B4-BE49-F238E27FC236}">
                <a16:creationId xmlns:a16="http://schemas.microsoft.com/office/drawing/2014/main" id="{229BA34D-D468-834E-EAED-AA579E51E34C}"/>
              </a:ext>
            </a:extLst>
          </p:cNvPr>
          <p:cNvSpPr/>
          <p:nvPr/>
        </p:nvSpPr>
        <p:spPr>
          <a:xfrm flipV="1">
            <a:off x="1163447" y="3640517"/>
            <a:ext cx="2113154" cy="241989"/>
          </a:xfrm>
          <a:custGeom>
            <a:avLst/>
            <a:gdLst/>
            <a:ahLst/>
            <a:cxnLst/>
            <a:rect l="l" t="t" r="r" b="b"/>
            <a:pathLst>
              <a:path w="24323039" h="1645920">
                <a:moveTo>
                  <a:pt x="0" y="0"/>
                </a:moveTo>
                <a:lnTo>
                  <a:pt x="24323039" y="0"/>
                </a:lnTo>
                <a:lnTo>
                  <a:pt x="24323039" y="1645920"/>
                </a:lnTo>
                <a:lnTo>
                  <a:pt x="0" y="1645920"/>
                </a:lnTo>
                <a:close/>
              </a:path>
            </a:pathLst>
          </a:custGeom>
          <a:solidFill>
            <a:srgbClr val="04989F"/>
          </a:solidFill>
        </p:spPr>
        <p:txBody>
          <a:bodyPr/>
          <a:lstStyle/>
          <a:p>
            <a:endParaRPr lang="es-CL" dirty="0"/>
          </a:p>
        </p:txBody>
      </p:sp>
      <p:sp>
        <p:nvSpPr>
          <p:cNvPr id="9" name="TextBox Section Title"/>
          <p:cNvSpPr txBox="1"/>
          <p:nvPr/>
        </p:nvSpPr>
        <p:spPr>
          <a:xfrm>
            <a:off x="0" y="2400000"/>
            <a:ext cx="12192000" cy="11400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algn="ctr"/>
            <a:r>
              <a:rPr lang="es-CL" sz="40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Trayectorias de Llenado</a:t>
            </a:r>
          </a:p>
        </p:txBody>
      </p:sp>
      <p:sp>
        <p:nvSpPr>
          <p:cNvPr id="10" name="TextBox Section Subtitle"/>
          <p:cNvSpPr txBox="1"/>
          <p:nvPr/>
        </p:nvSpPr>
        <p:spPr>
          <a:xfrm>
            <a:off x="900000" y="4000000"/>
            <a:ext cx="10392000" cy="50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/>
            <a:r>
              <a:rPr lang="es-CL" sz="16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El orden de adquisición del espacio k define velocidad, contraste y artefactos</a:t>
            </a:r>
          </a:p>
        </p:txBody>
      </p:sp>
    </p:spTree>
    <p:extLst>
      <p:ext uri="{BB962C8B-B14F-4D97-AF65-F5344CB8AC3E}">
        <p14:creationId xmlns:p14="http://schemas.microsoft.com/office/powerpoint/2010/main" val="3895638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28326-480D-3F05-2F38-58AB066E4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0392788-1ABD-F1B6-4940-7622575AD404}"/>
              </a:ext>
            </a:extLst>
          </p:cNvPr>
          <p:cNvGrpSpPr/>
          <p:nvPr/>
        </p:nvGrpSpPr>
        <p:grpSpPr>
          <a:xfrm flipV="1">
            <a:off x="3276601" y="3640519"/>
            <a:ext cx="8092439" cy="241987"/>
            <a:chOff x="0" y="0"/>
            <a:chExt cx="24348440" cy="1671320"/>
          </a:xfrm>
          <a:solidFill>
            <a:srgbClr val="01224E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DBB396A-D3C5-E36F-A668-D8E57564D545}"/>
                </a:ext>
              </a:extLst>
            </p:cNvPr>
            <p:cNvSpPr/>
            <p:nvPr/>
          </p:nvSpPr>
          <p:spPr>
            <a:xfrm>
              <a:off x="12700" y="1270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495656D-B9BC-B05C-3C1F-03510BEEBBED}"/>
                </a:ext>
              </a:extLst>
            </p:cNvPr>
            <p:cNvSpPr/>
            <p:nvPr/>
          </p:nvSpPr>
          <p:spPr>
            <a:xfrm>
              <a:off x="0" y="0"/>
              <a:ext cx="24348439" cy="1671320"/>
            </a:xfrm>
            <a:custGeom>
              <a:avLst/>
              <a:gdLst/>
              <a:ahLst/>
              <a:cxnLst/>
              <a:rect l="l" t="t" r="r" b="b"/>
              <a:pathLst>
                <a:path w="24348439" h="167132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658620"/>
                  </a:lnTo>
                  <a:cubicBezTo>
                    <a:pt x="24348439" y="1665605"/>
                    <a:pt x="24342725" y="1671320"/>
                    <a:pt x="243357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4335739" y="1645920"/>
                  </a:lnTo>
                  <a:lnTo>
                    <a:pt x="24335739" y="1658620"/>
                  </a:lnTo>
                  <a:lnTo>
                    <a:pt x="24323039" y="16586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8" name="Freeform 5">
            <a:extLst>
              <a:ext uri="{FF2B5EF4-FFF2-40B4-BE49-F238E27FC236}">
                <a16:creationId xmlns:a16="http://schemas.microsoft.com/office/drawing/2014/main" id="{229BA34D-D468-834E-EAED-AA579E51E34C}"/>
              </a:ext>
            </a:extLst>
          </p:cNvPr>
          <p:cNvSpPr/>
          <p:nvPr/>
        </p:nvSpPr>
        <p:spPr>
          <a:xfrm flipV="1">
            <a:off x="1163447" y="3640517"/>
            <a:ext cx="2113154" cy="241989"/>
          </a:xfrm>
          <a:custGeom>
            <a:avLst/>
            <a:gdLst/>
            <a:ahLst/>
            <a:cxnLst/>
            <a:rect l="l" t="t" r="r" b="b"/>
            <a:pathLst>
              <a:path w="24323039" h="1645920">
                <a:moveTo>
                  <a:pt x="0" y="0"/>
                </a:moveTo>
                <a:lnTo>
                  <a:pt x="24323039" y="0"/>
                </a:lnTo>
                <a:lnTo>
                  <a:pt x="24323039" y="1645920"/>
                </a:lnTo>
                <a:lnTo>
                  <a:pt x="0" y="1645920"/>
                </a:lnTo>
                <a:close/>
              </a:path>
            </a:pathLst>
          </a:custGeom>
          <a:solidFill>
            <a:srgbClr val="04989F"/>
          </a:solidFill>
        </p:spPr>
        <p:txBody>
          <a:bodyPr/>
          <a:lstStyle/>
          <a:p>
            <a:endParaRPr lang="es-CL" dirty="0"/>
          </a:p>
        </p:txBody>
      </p:sp>
      <p:sp>
        <p:nvSpPr>
          <p:cNvPr id="9" name="TextBox Section Title"/>
          <p:cNvSpPr txBox="1"/>
          <p:nvPr/>
        </p:nvSpPr>
        <p:spPr>
          <a:xfrm>
            <a:off x="0" y="2400000"/>
            <a:ext cx="12192000" cy="11400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algn="ctr"/>
            <a:r>
              <a:rPr lang="es-CL" sz="40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Aceleración, Artefactos y Reconstrucción</a:t>
            </a:r>
          </a:p>
        </p:txBody>
      </p:sp>
      <p:sp>
        <p:nvSpPr>
          <p:cNvPr id="10" name="TextBox Section Subtitle"/>
          <p:cNvSpPr txBox="1"/>
          <p:nvPr/>
        </p:nvSpPr>
        <p:spPr>
          <a:xfrm>
            <a:off x="900000" y="4000000"/>
            <a:ext cx="10392000" cy="50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/>
            <a:r>
              <a:rPr lang="es-CL" sz="16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Cómo acortar el tiempo de escaneo sin perder información clínica</a:t>
            </a:r>
          </a:p>
        </p:txBody>
      </p:sp>
    </p:spTree>
    <p:extLst>
      <p:ext uri="{BB962C8B-B14F-4D97-AF65-F5344CB8AC3E}">
        <p14:creationId xmlns:p14="http://schemas.microsoft.com/office/powerpoint/2010/main" val="3895638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BF9F7-A7D1-760D-5B04-8AE3E4FA5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28E588F1-5D36-8861-490D-2D4845885572}"/>
              </a:ext>
            </a:extLst>
          </p:cNvPr>
          <p:cNvGrpSpPr/>
          <p:nvPr/>
        </p:nvGrpSpPr>
        <p:grpSpPr>
          <a:xfrm>
            <a:off x="0" y="0"/>
            <a:ext cx="12192000" cy="1122363"/>
            <a:chOff x="0" y="0"/>
            <a:chExt cx="24348440" cy="1671320"/>
          </a:xfrm>
          <a:solidFill>
            <a:srgbClr val="01224E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3528E23-AA71-D71D-2440-CE67897D067B}"/>
                </a:ext>
              </a:extLst>
            </p:cNvPr>
            <p:cNvSpPr/>
            <p:nvPr/>
          </p:nvSpPr>
          <p:spPr>
            <a:xfrm>
              <a:off x="12700" y="1270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0897BC5-AE8E-797B-F6E7-DEECF30B3CF4}"/>
                </a:ext>
              </a:extLst>
            </p:cNvPr>
            <p:cNvSpPr/>
            <p:nvPr/>
          </p:nvSpPr>
          <p:spPr>
            <a:xfrm>
              <a:off x="0" y="0"/>
              <a:ext cx="24348439" cy="1671320"/>
            </a:xfrm>
            <a:custGeom>
              <a:avLst/>
              <a:gdLst/>
              <a:ahLst/>
              <a:cxnLst/>
              <a:rect l="l" t="t" r="r" b="b"/>
              <a:pathLst>
                <a:path w="24348439" h="167132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658620"/>
                  </a:lnTo>
                  <a:cubicBezTo>
                    <a:pt x="24348439" y="1665605"/>
                    <a:pt x="24342725" y="1671320"/>
                    <a:pt x="243357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4335739" y="1645920"/>
                  </a:lnTo>
                  <a:lnTo>
                    <a:pt x="24335739" y="1658620"/>
                  </a:lnTo>
                  <a:lnTo>
                    <a:pt x="24323039" y="16586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Title"/>
          <p:cNvSpPr txBox="1"/>
          <p:nvPr/>
        </p:nvSpPr>
        <p:spPr>
          <a:xfrm>
            <a:off x="457200" y="280000"/>
            <a:ext cx="10800000" cy="60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/>
            <a:r>
              <a:rPr lang="es-CL" sz="2800" b="1" dirty="0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Codificación Espacial y Gradientes</a:t>
            </a:r>
          </a:p>
        </p:txBody>
      </p:sp>
      <p:sp>
        <p:nvSpPr>
          <p:cNvPr id="10" name="TextBox Body"/>
          <p:cNvSpPr txBox="1"/>
          <p:nvPr/>
        </p:nvSpPr>
        <p:spPr>
          <a:xfrm>
            <a:off x="500000" y="1600000"/>
            <a:ext cx="11192000" cy="480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/>
            <a:r>
              <a:rPr lang="es-CL" sz="20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Ecuación de Larmor</a:t>
            </a:r>
          </a:p>
          <a:p>
            <a:pPr algn="l">
              <a:spcAft>
                <a:spcPts val="2400"/>
              </a:spcAft>
            </a:pPr>
            <a:r>
              <a:rPr lang="es-CL" sz="16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Los gradientes modifican el campo magnético según la posición, haciendo que cada tejido resuene con una frecuencia y fase únicas.</a:t>
            </a:r>
          </a:p>
          <a:p>
            <a:pPr algn="l">
              <a:spcBef>
                <a:spcPts val="1600"/>
              </a:spcBef>
            </a:pPr>
            <a:r>
              <a:rPr lang="es-CL" sz="20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Ejes kx y ky</a:t>
            </a:r>
          </a:p>
          <a:p>
            <a:pPr algn="l">
              <a:spcAft>
                <a:spcPts val="2400"/>
              </a:spcAft>
            </a:pPr>
            <a:r>
              <a:rPr lang="es-CL" sz="16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La posición de un dato en el espacio k está dada por la integral en el tiempo del gradiente aplicado en esa dirección.</a:t>
            </a:r>
          </a:p>
          <a:p>
            <a:pPr algn="l">
              <a:spcBef>
                <a:spcPts val="1600"/>
              </a:spcBef>
            </a:pPr>
            <a:r>
              <a:rPr lang="es-CL" sz="20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Frecuencia y fase de codificación</a:t>
            </a:r>
          </a:p>
          <a:p>
            <a:pPr algn="l"/>
            <a:r>
              <a:rPr lang="es-CL" sz="16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El eje kx corresponde a la lectura (frequency encoding); el eje ky, a la codificación de fase, adquirida línea por línea en las secuencias convencionales.</a:t>
            </a:r>
          </a:p>
        </p:txBody>
      </p:sp>
    </p:spTree>
    <p:extLst>
      <p:ext uri="{BB962C8B-B14F-4D97-AF65-F5344CB8AC3E}">
        <p14:creationId xmlns:p14="http://schemas.microsoft.com/office/powerpoint/2010/main" val="4255369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BF9F7-A7D1-760D-5B04-8AE3E4FA5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28E588F1-5D36-8861-490D-2D4845885572}"/>
              </a:ext>
            </a:extLst>
          </p:cNvPr>
          <p:cNvGrpSpPr/>
          <p:nvPr/>
        </p:nvGrpSpPr>
        <p:grpSpPr>
          <a:xfrm>
            <a:off x="0" y="0"/>
            <a:ext cx="12192000" cy="1122363"/>
            <a:chOff x="0" y="0"/>
            <a:chExt cx="24348440" cy="1671320"/>
          </a:xfrm>
          <a:solidFill>
            <a:srgbClr val="01224E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3528E23-AA71-D71D-2440-CE67897D067B}"/>
                </a:ext>
              </a:extLst>
            </p:cNvPr>
            <p:cNvSpPr/>
            <p:nvPr/>
          </p:nvSpPr>
          <p:spPr>
            <a:xfrm>
              <a:off x="12700" y="1270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0897BC5-AE8E-797B-F6E7-DEECF30B3CF4}"/>
                </a:ext>
              </a:extLst>
            </p:cNvPr>
            <p:cNvSpPr/>
            <p:nvPr/>
          </p:nvSpPr>
          <p:spPr>
            <a:xfrm>
              <a:off x="0" y="0"/>
              <a:ext cx="24348439" cy="1671320"/>
            </a:xfrm>
            <a:custGeom>
              <a:avLst/>
              <a:gdLst/>
              <a:ahLst/>
              <a:cxnLst/>
              <a:rect l="l" t="t" r="r" b="b"/>
              <a:pathLst>
                <a:path w="24348439" h="167132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658620"/>
                  </a:lnTo>
                  <a:cubicBezTo>
                    <a:pt x="24348439" y="1665605"/>
                    <a:pt x="24342725" y="1671320"/>
                    <a:pt x="243357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4335739" y="1645920"/>
                  </a:lnTo>
                  <a:lnTo>
                    <a:pt x="24335739" y="1658620"/>
                  </a:lnTo>
                  <a:lnTo>
                    <a:pt x="24323039" y="16586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Title"/>
          <p:cNvSpPr txBox="1"/>
          <p:nvPr/>
        </p:nvSpPr>
        <p:spPr>
          <a:xfrm>
            <a:off x="457200" y="280000"/>
            <a:ext cx="10800000" cy="60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/>
            <a:r>
              <a:rPr lang="es-CL" sz="2800" b="1" dirty="0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Centro vs. Periferia</a:t>
            </a:r>
          </a:p>
        </p:txBody>
      </p:sp>
      <p:sp>
        <p:nvSpPr>
          <p:cNvPr id="20" name="Column Header"/>
          <p:cNvSpPr txBox="1"/>
          <p:nvPr/>
        </p:nvSpPr>
        <p:spPr>
          <a:xfrm>
            <a:off x="500000" y="1600000"/>
            <a:ext cx="5396000" cy="55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/>
            <a:r>
              <a:rPr lang="es-CL" sz="22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Centro del espacio k</a:t>
            </a:r>
          </a:p>
        </p:txBody>
      </p:sp>
      <p:sp>
        <p:nvSpPr>
          <p:cNvPr id="21" name="Column Body"/>
          <p:cNvSpPr txBox="1"/>
          <p:nvPr/>
        </p:nvSpPr>
        <p:spPr>
          <a:xfrm>
            <a:off x="500000" y="2250000"/>
            <a:ext cx="5396000" cy="4000000"/>
          </a:xfrm>
          <a:prstGeom prst="rect">
            <a:avLst/>
          </a:prstGeom>
        </p:spPr>
        <p:txBody>
          <a:bodyPr lIns="0" tIns="0" rIns="0" bIns="0" rtlCol="0" anchor="t" wrap="square"/>
          <a:lstStyle/>
          <a:p>
            <a:pPr algn="l"/>
            <a:r>
              <a:rPr lang="es-CL" sz="1400" b="1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 xml:space="preserve">Bajas frecuencias espaciales: </a:t>
            </a:r>
            <a:r>
              <a:rPr lang="es-CL" sz="14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codifican el contraste y la forma general de la imagen.</a:t>
            </a:r>
          </a:p>
          <a:p>
            <a:pPr algn="l">
              <a:spcBef>
                <a:spcPts val="1800"/>
              </a:spcBef>
            </a:pPr>
            <a:r>
              <a:rPr lang="es-CL" sz="1400" b="1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 xml:space="preserve">Adquisición: </a:t>
            </a:r>
            <a:r>
              <a:rPr lang="es-CL" sz="14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gradientes de baja amplitud y/o corta duración.</a:t>
            </a:r>
          </a:p>
          <a:p>
            <a:pPr algn="l">
              <a:spcBef>
                <a:spcPts val="1800"/>
              </a:spcBef>
            </a:pPr>
            <a:r>
              <a:rPr lang="es-CL" sz="1400" b="1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 xml:space="preserve">Si se pierde: </a:t>
            </a:r>
            <a:r>
              <a:rPr lang="es-CL" sz="14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la imagen conserva bordes pero pierde contraste.</a:t>
            </a:r>
          </a:p>
        </p:txBody>
      </p:sp>
      <p:sp>
        <p:nvSpPr>
          <p:cNvPr id="24" name="Column Header"/>
          <p:cNvSpPr txBox="1"/>
          <p:nvPr/>
        </p:nvSpPr>
        <p:spPr>
          <a:xfrm>
            <a:off x="6296000" y="1600000"/>
            <a:ext cx="5396000" cy="55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/>
            <a:r>
              <a:rPr lang="es-CL" sz="2200" b="1" dirty="0">
                <a:solidFill>
                  <a:srgbClr val="04989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Periferia del espacio k</a:t>
            </a:r>
          </a:p>
        </p:txBody>
      </p:sp>
      <p:sp>
        <p:nvSpPr>
          <p:cNvPr id="25" name="Column Body"/>
          <p:cNvSpPr txBox="1"/>
          <p:nvPr/>
        </p:nvSpPr>
        <p:spPr>
          <a:xfrm>
            <a:off x="6296000" y="2250000"/>
            <a:ext cx="5396000" cy="4000000"/>
          </a:xfrm>
          <a:prstGeom prst="rect">
            <a:avLst/>
          </a:prstGeom>
        </p:spPr>
        <p:txBody>
          <a:bodyPr lIns="0" tIns="0" rIns="0" bIns="0" rtlCol="0" anchor="t" wrap="square"/>
          <a:lstStyle/>
          <a:p>
            <a:pPr algn="l"/>
            <a:r>
              <a:rPr lang="es-CL" sz="1400" b="1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 xml:space="preserve">Altas frecuencias espaciales: </a:t>
            </a:r>
            <a:r>
              <a:rPr lang="es-CL" sz="14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codifican bordes, contornos y detalle fino.</a:t>
            </a:r>
          </a:p>
          <a:p>
            <a:pPr algn="l">
              <a:spcBef>
                <a:spcPts val="1800"/>
              </a:spcBef>
            </a:pPr>
            <a:r>
              <a:rPr lang="es-CL" sz="1400" b="1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 xml:space="preserve">Adquisición: </a:t>
            </a:r>
            <a:r>
              <a:rPr lang="es-CL" sz="14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gradientes de mayor amplitud y/o duración.</a:t>
            </a:r>
          </a:p>
          <a:p>
            <a:pPr algn="l">
              <a:spcBef>
                <a:spcPts val="1800"/>
              </a:spcBef>
            </a:pPr>
            <a:r>
              <a:rPr lang="es-CL" sz="1400" b="1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 xml:space="preserve">Si se pierde: </a:t>
            </a:r>
            <a:r>
              <a:rPr lang="es-CL" sz="14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la imagen se ve borrosa pero conserva el contraste.</a:t>
            </a:r>
          </a:p>
        </p:txBody>
      </p:sp>
    </p:spTree>
    <p:extLst>
      <p:ext uri="{BB962C8B-B14F-4D97-AF65-F5344CB8AC3E}">
        <p14:creationId xmlns:p14="http://schemas.microsoft.com/office/powerpoint/2010/main" val="4255369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BF9F7-A7D1-760D-5B04-8AE3E4FA5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28E588F1-5D36-8861-490D-2D4845885572}"/>
              </a:ext>
            </a:extLst>
          </p:cNvPr>
          <p:cNvGrpSpPr/>
          <p:nvPr/>
        </p:nvGrpSpPr>
        <p:grpSpPr>
          <a:xfrm>
            <a:off x="0" y="0"/>
            <a:ext cx="12192000" cy="1122363"/>
            <a:chOff x="0" y="0"/>
            <a:chExt cx="24348440" cy="1671320"/>
          </a:xfrm>
          <a:solidFill>
            <a:srgbClr val="01224E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3528E23-AA71-D71D-2440-CE67897D067B}"/>
                </a:ext>
              </a:extLst>
            </p:cNvPr>
            <p:cNvSpPr/>
            <p:nvPr/>
          </p:nvSpPr>
          <p:spPr>
            <a:xfrm>
              <a:off x="12700" y="1270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0897BC5-AE8E-797B-F6E7-DEECF30B3CF4}"/>
                </a:ext>
              </a:extLst>
            </p:cNvPr>
            <p:cNvSpPr/>
            <p:nvPr/>
          </p:nvSpPr>
          <p:spPr>
            <a:xfrm>
              <a:off x="0" y="0"/>
              <a:ext cx="24348439" cy="1671320"/>
            </a:xfrm>
            <a:custGeom>
              <a:avLst/>
              <a:gdLst/>
              <a:ahLst/>
              <a:cxnLst/>
              <a:rect l="l" t="t" r="r" b="b"/>
              <a:pathLst>
                <a:path w="24348439" h="167132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658620"/>
                  </a:lnTo>
                  <a:cubicBezTo>
                    <a:pt x="24348439" y="1665605"/>
                    <a:pt x="24342725" y="1671320"/>
                    <a:pt x="243357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4335739" y="1645920"/>
                  </a:lnTo>
                  <a:lnTo>
                    <a:pt x="24335739" y="1658620"/>
                  </a:lnTo>
                  <a:lnTo>
                    <a:pt x="24323039" y="16586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Title"/>
          <p:cNvSpPr txBox="1"/>
          <p:nvPr/>
        </p:nvSpPr>
        <p:spPr>
          <a:xfrm>
            <a:off x="457200" y="280000"/>
            <a:ext cx="10800000" cy="60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/>
            <a:r>
              <a:rPr lang="es-CL" sz="2800" b="1" dirty="0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Simetría del Espacio K</a:t>
            </a:r>
          </a:p>
        </p:txBody>
      </p:sp>
      <p:sp>
        <p:nvSpPr>
          <p:cNvPr id="10" name="TextBox Body"/>
          <p:cNvSpPr txBox="1"/>
          <p:nvPr/>
        </p:nvSpPr>
        <p:spPr>
          <a:xfrm>
            <a:off x="500000" y="1600000"/>
            <a:ext cx="11192000" cy="480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/>
            <a:r>
              <a:rPr lang="es-CL" sz="20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Simetría Hermitiana</a:t>
            </a:r>
          </a:p>
          <a:p>
            <a:pPr algn="l">
              <a:spcAft>
                <a:spcPts val="2400"/>
              </a:spcAft>
            </a:pPr>
            <a:r>
              <a:rPr lang="es-CL" sz="16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En un espacio k ideal, los datos son simétricos respecto al origen: un punto y su opuesto son complejos conjugados.</a:t>
            </a:r>
          </a:p>
          <a:p>
            <a:pPr algn="l">
              <a:spcBef>
                <a:spcPts val="1600"/>
              </a:spcBef>
            </a:pPr>
            <a:r>
              <a:rPr lang="es-CL" sz="20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Origen físico</a:t>
            </a:r>
          </a:p>
          <a:p>
            <a:pPr algn="l">
              <a:spcAft>
                <a:spcPts val="2400"/>
              </a:spcAft>
            </a:pPr>
            <a:r>
              <a:rPr lang="es-CL" sz="16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Surge de representar la señal como ondas seno y coseno, funciones antisimétrica y simétrica respectivamente.</a:t>
            </a:r>
          </a:p>
          <a:p>
            <a:pPr algn="l">
              <a:spcBef>
                <a:spcPts val="1600"/>
              </a:spcBef>
            </a:pPr>
            <a:r>
              <a:rPr lang="es-CL" sz="20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Aplicación práctica: Half Fourier</a:t>
            </a:r>
          </a:p>
          <a:p>
            <a:pPr algn="l"/>
            <a:r>
              <a:rPr lang="es-CL" sz="16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Permite reconstruir la imagen adquiriendo poco más de la mitad del espacio k, acortando el tiempo de escaneo a costa de SNR.</a:t>
            </a:r>
          </a:p>
        </p:txBody>
      </p:sp>
    </p:spTree>
    <p:extLst>
      <p:ext uri="{BB962C8B-B14F-4D97-AF65-F5344CB8AC3E}">
        <p14:creationId xmlns:p14="http://schemas.microsoft.com/office/powerpoint/2010/main" val="4255369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BF9F7-A7D1-760D-5B04-8AE3E4FA5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28E588F1-5D36-8861-490D-2D4845885572}"/>
              </a:ext>
            </a:extLst>
          </p:cNvPr>
          <p:cNvGrpSpPr/>
          <p:nvPr/>
        </p:nvGrpSpPr>
        <p:grpSpPr>
          <a:xfrm>
            <a:off x="0" y="0"/>
            <a:ext cx="12192000" cy="1122363"/>
            <a:chOff x="0" y="0"/>
            <a:chExt cx="24348440" cy="1671320"/>
          </a:xfrm>
          <a:solidFill>
            <a:srgbClr val="01224E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3528E23-AA71-D71D-2440-CE67897D067B}"/>
                </a:ext>
              </a:extLst>
            </p:cNvPr>
            <p:cNvSpPr/>
            <p:nvPr/>
          </p:nvSpPr>
          <p:spPr>
            <a:xfrm>
              <a:off x="12700" y="1270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0897BC5-AE8E-797B-F6E7-DEECF30B3CF4}"/>
                </a:ext>
              </a:extLst>
            </p:cNvPr>
            <p:cNvSpPr/>
            <p:nvPr/>
          </p:nvSpPr>
          <p:spPr>
            <a:xfrm>
              <a:off x="0" y="0"/>
              <a:ext cx="24348439" cy="1671320"/>
            </a:xfrm>
            <a:custGeom>
              <a:avLst/>
              <a:gdLst/>
              <a:ahLst/>
              <a:cxnLst/>
              <a:rect l="l" t="t" r="r" b="b"/>
              <a:pathLst>
                <a:path w="24348439" h="167132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658620"/>
                  </a:lnTo>
                  <a:cubicBezTo>
                    <a:pt x="24348439" y="1665605"/>
                    <a:pt x="24342725" y="1671320"/>
                    <a:pt x="243357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4335739" y="1645920"/>
                  </a:lnTo>
                  <a:lnTo>
                    <a:pt x="24335739" y="1658620"/>
                  </a:lnTo>
                  <a:lnTo>
                    <a:pt x="24323039" y="16586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Title"/>
          <p:cNvSpPr txBox="1"/>
          <p:nvPr/>
        </p:nvSpPr>
        <p:spPr>
          <a:xfrm>
            <a:off x="457200" y="280000"/>
            <a:ext cx="10800000" cy="60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/>
            <a:r>
              <a:rPr lang="es-CL" sz="2800" b="1" dirty="0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Trayectorias del Espacio K</a:t>
            </a:r>
          </a:p>
        </p:txBody>
      </p:sp>
      <p:sp>
        <p:nvSpPr>
          <p:cNvPr id="20" name="Card"/>
          <p:cNvSpPr/>
          <p:nvPr/>
        </p:nvSpPr>
        <p:spPr>
          <a:xfrm>
            <a:off x="500000" y="1750000"/>
            <a:ext cx="5396000" cy="2200000"/>
          </a:xfrm>
          <a:prstGeom prst="roundRect">
            <a:avLst>
              <a:gd name="adj" fmla="val 6000"/>
            </a:avLst>
          </a:prstGeom>
          <a:solidFill>
            <a:srgbClr val="01224E"/>
          </a:solidFill>
          <a:ln>
            <a:noFill/>
          </a:ln>
        </p:spPr>
        <p:txBody>
          <a:bodyPr lIns="180000" tIns="140000" rIns="180000" bIns="140000" rtlCol="0" anchor="t"/>
          <a:lstStyle/>
          <a:p>
            <a:pPr algn="l"/>
            <a:r>
              <a:rPr lang="es-CL" sz="1100" dirty="0">
                <a:solidFill>
                  <a:srgbClr val="FFFFFF"/>
                </a:solidFill>
                <a:latin typeface="TT Drugs"/>
                <a:ea typeface="TT Drugs"/>
                <a:cs typeface="TT Drugs"/>
                <a:sym typeface="TT Drugs"/>
              </a:rPr>
              <a:t>Línea a línea</a:t>
            </a:r>
          </a:p>
          <a:p>
            <a:pPr algn="l">
              <a:spcBef>
                <a:spcPts val="400"/>
              </a:spcBef>
            </a:pPr>
            <a:r>
              <a:rPr lang="es-CL" sz="1900" b="1" dirty="0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Cartesiana</a:t>
            </a:r>
          </a:p>
          <a:p>
            <a:pPr algn="l">
              <a:spcBef>
                <a:spcPts val="400"/>
              </a:spcBef>
            </a:pPr>
            <a:r>
              <a:rPr lang="es-CL" sz="1200" dirty="0">
                <a:solidFill>
                  <a:srgbClr val="FFFFFF"/>
                </a:solidFill>
                <a:latin typeface="TT Drugs"/>
                <a:ea typeface="TT Drugs"/>
                <a:cs typeface="TT Drugs"/>
                <a:sym typeface="TT Drugs"/>
              </a:rPr>
              <a:t>Adquiere una línea completa de ky por excitación: secuencial, céntrica o en reversa según el contraste buscado.</a:t>
            </a:r>
          </a:p>
        </p:txBody>
      </p:sp>
      <p:sp>
        <p:nvSpPr>
          <p:cNvPr id="21" name="Card"/>
          <p:cNvSpPr/>
          <p:nvPr/>
        </p:nvSpPr>
        <p:spPr>
          <a:xfrm>
            <a:off x="6296000" y="1750000"/>
            <a:ext cx="5396000" cy="2200000"/>
          </a:xfrm>
          <a:prstGeom prst="roundRect">
            <a:avLst>
              <a:gd name="adj" fmla="val 6000"/>
            </a:avLst>
          </a:prstGeom>
          <a:solidFill>
            <a:srgbClr val="01224E">
              <a:alpha val="12000"/>
            </a:srgbClr>
          </a:solidFill>
          <a:ln>
            <a:noFill/>
          </a:ln>
        </p:spPr>
        <p:txBody>
          <a:bodyPr lIns="180000" tIns="140000" rIns="180000" bIns="140000" rtlCol="0" anchor="t"/>
          <a:lstStyle/>
          <a:p>
            <a:pPr algn="l"/>
            <a:r>
              <a:rPr lang="es-CL" sz="11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Un solo disparo</a:t>
            </a:r>
          </a:p>
          <a:p>
            <a:pPr algn="l">
              <a:spcBef>
                <a:spcPts val="400"/>
              </a:spcBef>
            </a:pPr>
            <a:r>
              <a:rPr lang="es-CL" sz="1900" b="1" dirty="0">
                <a:solidFill>
                  <a:srgbClr val="1A1A1A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EPI</a:t>
            </a:r>
          </a:p>
          <a:p>
            <a:pPr algn="l">
              <a:spcBef>
                <a:spcPts val="400"/>
              </a:spcBef>
            </a:pPr>
            <a:r>
              <a:rPr lang="es-CL" sz="12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Recorre gran parte o todo el espacio k en una sola excitación con gradientes oscilantes; muy rápida, sensible a distorsión y T2*.</a:t>
            </a:r>
          </a:p>
        </p:txBody>
      </p:sp>
      <p:sp>
        <p:nvSpPr>
          <p:cNvPr id="22" name="Card"/>
          <p:cNvSpPr/>
          <p:nvPr/>
        </p:nvSpPr>
        <p:spPr>
          <a:xfrm>
            <a:off x="500000" y="4250000"/>
            <a:ext cx="5396000" cy="2200000"/>
          </a:xfrm>
          <a:prstGeom prst="roundRect">
            <a:avLst>
              <a:gd name="adj" fmla="val 6000"/>
            </a:avLst>
          </a:prstGeom>
          <a:solidFill>
            <a:srgbClr val="04989F">
              <a:alpha val="20000"/>
            </a:srgbClr>
          </a:solidFill>
          <a:ln>
            <a:noFill/>
          </a:ln>
        </p:spPr>
        <p:txBody>
          <a:bodyPr lIns="180000" tIns="140000" rIns="180000" bIns="140000" rtlCol="0" anchor="t"/>
          <a:lstStyle/>
          <a:p>
            <a:pPr algn="l"/>
            <a:r>
              <a:rPr lang="es-CL" sz="1100" dirty="0">
                <a:solidFill>
                  <a:srgbClr val="01224E"/>
                </a:solidFill>
                <a:latin typeface="TT Drugs"/>
                <a:ea typeface="TT Drugs"/>
                <a:cs typeface="TT Drugs"/>
                <a:sym typeface="TT Drugs"/>
              </a:rPr>
              <a:t>Radios de una rueda</a:t>
            </a:r>
          </a:p>
          <a:p>
            <a:pPr algn="l">
              <a:spcBef>
                <a:spcPts val="400"/>
              </a:spcBef>
            </a:pPr>
            <a:r>
              <a:rPr lang="es-CL" sz="19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Radial</a:t>
            </a:r>
          </a:p>
          <a:p>
            <a:pPr algn="l">
              <a:spcBef>
                <a:spcPts val="400"/>
              </a:spcBef>
            </a:pPr>
            <a:r>
              <a:rPr lang="es-CL" sz="1200" dirty="0">
                <a:solidFill>
                  <a:srgbClr val="01224E"/>
                </a:solidFill>
                <a:latin typeface="TT Drugs"/>
                <a:ea typeface="TT Drugs"/>
                <a:cs typeface="TT Drugs"/>
                <a:sym typeface="TT Drugs"/>
              </a:rPr>
              <a:t>Adquiere líneas que pasan por el centro del espacio k; robusta al movimiento, permite TE ultracorto.</a:t>
            </a:r>
          </a:p>
        </p:txBody>
      </p:sp>
      <p:sp>
        <p:nvSpPr>
          <p:cNvPr id="23" name="Card"/>
          <p:cNvSpPr/>
          <p:nvPr/>
        </p:nvSpPr>
        <p:spPr>
          <a:xfrm>
            <a:off x="6296000" y="4250000"/>
            <a:ext cx="5396000" cy="2200000"/>
          </a:xfrm>
          <a:prstGeom prst="roundRect">
            <a:avLst>
              <a:gd name="adj" fmla="val 6000"/>
            </a:avLst>
          </a:prstGeom>
          <a:solidFill>
            <a:srgbClr val="04989F"/>
          </a:solidFill>
          <a:ln>
            <a:noFill/>
          </a:ln>
        </p:spPr>
        <p:txBody>
          <a:bodyPr lIns="180000" tIns="140000" rIns="180000" bIns="140000" rtlCol="0" anchor="t"/>
          <a:lstStyle/>
          <a:p>
            <a:pPr algn="l"/>
            <a:r>
              <a:rPr lang="es-CL" sz="1100" dirty="0">
                <a:solidFill>
                  <a:srgbClr val="FFFFFF"/>
                </a:solidFill>
                <a:latin typeface="TT Drugs"/>
                <a:ea typeface="TT Drugs"/>
                <a:cs typeface="TT Drugs"/>
                <a:sym typeface="TT Drugs"/>
              </a:rPr>
              <a:t>Requiere regridding</a:t>
            </a:r>
          </a:p>
          <a:p>
            <a:pPr algn="l">
              <a:spcBef>
                <a:spcPts val="400"/>
              </a:spcBef>
            </a:pPr>
            <a:r>
              <a:rPr lang="es-CL" sz="1900" b="1" dirty="0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Espiral</a:t>
            </a:r>
          </a:p>
          <a:p>
            <a:pPr algn="l">
              <a:spcBef>
                <a:spcPts val="400"/>
              </a:spcBef>
            </a:pPr>
            <a:r>
              <a:rPr lang="es-CL" sz="1200" dirty="0">
                <a:solidFill>
                  <a:srgbClr val="FFFFFF"/>
                </a:solidFill>
                <a:latin typeface="TT Drugs"/>
                <a:ea typeface="TT Drugs"/>
                <a:cs typeface="TT Drugs"/>
                <a:sym typeface="TT Drugs"/>
              </a:rPr>
              <a:t>Recorre el espacio k en espiral desde (o hacia) el centro; muy eficiente, pero necesita reencuadre de los datos.</a:t>
            </a:r>
          </a:p>
        </p:txBody>
      </p:sp>
    </p:spTree>
    <p:extLst>
      <p:ext uri="{BB962C8B-B14F-4D97-AF65-F5344CB8AC3E}">
        <p14:creationId xmlns:p14="http://schemas.microsoft.com/office/powerpoint/2010/main" val="4255369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BF9F7-A7D1-760D-5B04-8AE3E4FA5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28E588F1-5D36-8861-490D-2D4845885572}"/>
              </a:ext>
            </a:extLst>
          </p:cNvPr>
          <p:cNvGrpSpPr/>
          <p:nvPr/>
        </p:nvGrpSpPr>
        <p:grpSpPr>
          <a:xfrm>
            <a:off x="0" y="0"/>
            <a:ext cx="12192000" cy="1122363"/>
            <a:chOff x="0" y="0"/>
            <a:chExt cx="24348440" cy="1671320"/>
          </a:xfrm>
          <a:solidFill>
            <a:srgbClr val="01224E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3528E23-AA71-D71D-2440-CE67897D067B}"/>
                </a:ext>
              </a:extLst>
            </p:cNvPr>
            <p:cNvSpPr/>
            <p:nvPr/>
          </p:nvSpPr>
          <p:spPr>
            <a:xfrm>
              <a:off x="12700" y="1270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0897BC5-AE8E-797B-F6E7-DEECF30B3CF4}"/>
                </a:ext>
              </a:extLst>
            </p:cNvPr>
            <p:cNvSpPr/>
            <p:nvPr/>
          </p:nvSpPr>
          <p:spPr>
            <a:xfrm>
              <a:off x="0" y="0"/>
              <a:ext cx="24348439" cy="1671320"/>
            </a:xfrm>
            <a:custGeom>
              <a:avLst/>
              <a:gdLst/>
              <a:ahLst/>
              <a:cxnLst/>
              <a:rect l="l" t="t" r="r" b="b"/>
              <a:pathLst>
                <a:path w="24348439" h="167132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658620"/>
                  </a:lnTo>
                  <a:cubicBezTo>
                    <a:pt x="24348439" y="1665605"/>
                    <a:pt x="24342725" y="1671320"/>
                    <a:pt x="243357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4335739" y="1645920"/>
                  </a:lnTo>
                  <a:lnTo>
                    <a:pt x="24335739" y="1658620"/>
                  </a:lnTo>
                  <a:lnTo>
                    <a:pt x="24323039" y="16586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Title"/>
          <p:cNvSpPr txBox="1"/>
          <p:nvPr/>
        </p:nvSpPr>
        <p:spPr>
          <a:xfrm>
            <a:off x="457200" y="280000"/>
            <a:ext cx="10800000" cy="60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/>
            <a:r>
              <a:rPr lang="es-CL" sz="2800" b="1" dirty="0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Estrategias de Aceleración</a:t>
            </a:r>
          </a:p>
        </p:txBody>
      </p:sp>
      <p:sp>
        <p:nvSpPr>
          <p:cNvPr id="20" name="Step Number 1"/>
          <p:cNvSpPr txBox="1"/>
          <p:nvPr/>
        </p:nvSpPr>
        <p:spPr>
          <a:xfrm>
            <a:off x="500000" y="1900000"/>
            <a:ext cx="2600000" cy="90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/>
            <a:r>
              <a:rPr lang="es-CL" sz="4000" b="1" dirty="0">
                <a:solidFill>
                  <a:srgbClr val="04989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1</a:t>
            </a:r>
          </a:p>
        </p:txBody>
      </p:sp>
      <p:sp>
        <p:nvSpPr>
          <p:cNvPr id="21" name="Step Header 1"/>
          <p:cNvSpPr txBox="1"/>
          <p:nvPr/>
        </p:nvSpPr>
        <p:spPr>
          <a:xfrm>
            <a:off x="500000" y="2850000"/>
            <a:ext cx="2600000" cy="700000"/>
          </a:xfrm>
          <a:prstGeom prst="rect">
            <a:avLst/>
          </a:prstGeom>
        </p:spPr>
        <p:txBody>
          <a:bodyPr lIns="0" tIns="0" rIns="0" bIns="0" rtlCol="0" anchor="t" wrap="square"/>
          <a:lstStyle/>
          <a:p>
            <a:pPr algn="l"/>
            <a:r>
              <a:rPr lang="es-CL" sz="15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FOV rectangular</a:t>
            </a:r>
          </a:p>
        </p:txBody>
      </p:sp>
      <p:sp>
        <p:nvSpPr>
          <p:cNvPr id="22" name="Step Desc 1"/>
          <p:cNvSpPr txBox="1"/>
          <p:nvPr/>
        </p:nvSpPr>
        <p:spPr>
          <a:xfrm>
            <a:off x="500000" y="3650000"/>
            <a:ext cx="2600000" cy="1700000"/>
          </a:xfrm>
          <a:prstGeom prst="rect">
            <a:avLst/>
          </a:prstGeom>
        </p:spPr>
        <p:txBody>
          <a:bodyPr lIns="0" tIns="0" rIns="0" bIns="0" rtlCol="0" anchor="t" wrap="square"/>
          <a:lstStyle/>
          <a:p>
            <a:pPr algn="l"/>
            <a:r>
              <a:rPr lang="es-CL" sz="12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Reduce las líneas adquiridas en la dirección de fase; ahorra tiempo pero puede causar aliasing si el objeto excede el FOV.</a:t>
            </a:r>
          </a:p>
        </p:txBody>
      </p:sp>
      <p:sp>
        <p:nvSpPr>
          <p:cNvPr id="23" name="Step Number 2"/>
          <p:cNvSpPr txBox="1"/>
          <p:nvPr/>
        </p:nvSpPr>
        <p:spPr>
          <a:xfrm>
            <a:off x="3364000" y="1900000"/>
            <a:ext cx="2600000" cy="90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/>
            <a:r>
              <a:rPr lang="es-CL" sz="4000" b="1" dirty="0">
                <a:solidFill>
                  <a:srgbClr val="04989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2</a:t>
            </a:r>
          </a:p>
        </p:txBody>
      </p:sp>
      <p:sp>
        <p:nvSpPr>
          <p:cNvPr id="24" name="Step Header 2"/>
          <p:cNvSpPr txBox="1"/>
          <p:nvPr/>
        </p:nvSpPr>
        <p:spPr>
          <a:xfrm>
            <a:off x="3364000" y="2850000"/>
            <a:ext cx="2600000" cy="700000"/>
          </a:xfrm>
          <a:prstGeom prst="rect">
            <a:avLst/>
          </a:prstGeom>
        </p:spPr>
        <p:txBody>
          <a:bodyPr lIns="0" tIns="0" rIns="0" bIns="0" rtlCol="0" anchor="t" wrap="square"/>
          <a:lstStyle/>
          <a:p>
            <a:pPr algn="l"/>
            <a:r>
              <a:rPr lang="es-CL" sz="15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Scan percentage</a:t>
            </a:r>
          </a:p>
        </p:txBody>
      </p:sp>
      <p:sp>
        <p:nvSpPr>
          <p:cNvPr id="25" name="Step Desc 2"/>
          <p:cNvSpPr txBox="1"/>
          <p:nvPr/>
        </p:nvSpPr>
        <p:spPr>
          <a:xfrm>
            <a:off x="3364000" y="3650000"/>
            <a:ext cx="2600000" cy="1700000"/>
          </a:xfrm>
          <a:prstGeom prst="rect">
            <a:avLst/>
          </a:prstGeom>
        </p:spPr>
        <p:txBody>
          <a:bodyPr lIns="0" tIns="0" rIns="0" bIns="0" rtlCol="0" anchor="t" wrap="square"/>
          <a:lstStyle/>
          <a:p>
            <a:pPr algn="l"/>
            <a:r>
              <a:rPr lang="es-CL" sz="12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Omite las líneas más periféricas del espacio k; reduce resolución y tiempo, aumenta el SNR relativo.</a:t>
            </a:r>
          </a:p>
        </p:txBody>
      </p:sp>
      <p:sp>
        <p:nvSpPr>
          <p:cNvPr id="26" name="Step Number 3"/>
          <p:cNvSpPr txBox="1"/>
          <p:nvPr/>
        </p:nvSpPr>
        <p:spPr>
          <a:xfrm>
            <a:off x="6228000" y="1900000"/>
            <a:ext cx="2600000" cy="90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/>
            <a:r>
              <a:rPr lang="es-CL" sz="4000" b="1" dirty="0">
                <a:solidFill>
                  <a:srgbClr val="04989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3</a:t>
            </a:r>
          </a:p>
        </p:txBody>
      </p:sp>
      <p:sp>
        <p:nvSpPr>
          <p:cNvPr id="27" name="Step Header 3"/>
          <p:cNvSpPr txBox="1"/>
          <p:nvPr/>
        </p:nvSpPr>
        <p:spPr>
          <a:xfrm>
            <a:off x="6228000" y="2850000"/>
            <a:ext cx="2600000" cy="700000"/>
          </a:xfrm>
          <a:prstGeom prst="rect">
            <a:avLst/>
          </a:prstGeom>
        </p:spPr>
        <p:txBody>
          <a:bodyPr lIns="0" tIns="0" rIns="0" bIns="0" rtlCol="0" anchor="t" wrap="square"/>
          <a:lstStyle/>
          <a:p>
            <a:pPr algn="l"/>
            <a:r>
              <a:rPr lang="es-CL" sz="15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Half Fourier</a:t>
            </a:r>
          </a:p>
        </p:txBody>
      </p:sp>
      <p:sp>
        <p:nvSpPr>
          <p:cNvPr id="28" name="Step Desc 3"/>
          <p:cNvSpPr txBox="1"/>
          <p:nvPr/>
        </p:nvSpPr>
        <p:spPr>
          <a:xfrm>
            <a:off x="6228000" y="3650000"/>
            <a:ext cx="2600000" cy="1700000"/>
          </a:xfrm>
          <a:prstGeom prst="rect">
            <a:avLst/>
          </a:prstGeom>
        </p:spPr>
        <p:txBody>
          <a:bodyPr lIns="0" tIns="0" rIns="0" bIns="0" rtlCol="0" anchor="t" wrap="square"/>
          <a:lstStyle/>
          <a:p>
            <a:pPr algn="l"/>
            <a:r>
              <a:rPr lang="es-CL" sz="12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Aprovecha la simetría del espacio k para adquirir poco más de la mitad de las líneas de fase.</a:t>
            </a:r>
          </a:p>
        </p:txBody>
      </p:sp>
      <p:sp>
        <p:nvSpPr>
          <p:cNvPr id="29" name="Step Number 4"/>
          <p:cNvSpPr txBox="1"/>
          <p:nvPr/>
        </p:nvSpPr>
        <p:spPr>
          <a:xfrm>
            <a:off x="9092000" y="1900000"/>
            <a:ext cx="2600000" cy="90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/>
            <a:r>
              <a:rPr lang="es-CL" sz="4000" b="1" dirty="0">
                <a:solidFill>
                  <a:srgbClr val="04989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4</a:t>
            </a:r>
          </a:p>
        </p:txBody>
      </p:sp>
      <p:sp>
        <p:nvSpPr>
          <p:cNvPr id="30" name="Step Header 4"/>
          <p:cNvSpPr txBox="1"/>
          <p:nvPr/>
        </p:nvSpPr>
        <p:spPr>
          <a:xfrm>
            <a:off x="9092000" y="2850000"/>
            <a:ext cx="2600000" cy="700000"/>
          </a:xfrm>
          <a:prstGeom prst="rect">
            <a:avLst/>
          </a:prstGeom>
        </p:spPr>
        <p:txBody>
          <a:bodyPr lIns="0" tIns="0" rIns="0" bIns="0" rtlCol="0" anchor="t" wrap="square"/>
          <a:lstStyle/>
          <a:p>
            <a:pPr algn="l"/>
            <a:r>
              <a:rPr lang="es-CL" sz="15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Imagen paralela</a:t>
            </a:r>
          </a:p>
        </p:txBody>
      </p:sp>
      <p:sp>
        <p:nvSpPr>
          <p:cNvPr id="31" name="Step Desc 4"/>
          <p:cNvSpPr txBox="1"/>
          <p:nvPr/>
        </p:nvSpPr>
        <p:spPr>
          <a:xfrm>
            <a:off x="9092000" y="3650000"/>
            <a:ext cx="2600000" cy="1700000"/>
          </a:xfrm>
          <a:prstGeom prst="rect">
            <a:avLst/>
          </a:prstGeom>
        </p:spPr>
        <p:txBody>
          <a:bodyPr lIns="0" tIns="0" rIns="0" bIns="0" rtlCol="0" anchor="t" wrap="square"/>
          <a:lstStyle/>
          <a:p>
            <a:pPr algn="l"/>
            <a:r>
              <a:rPr lang="es-CL" sz="12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SENSE/SMASH usan múltiples bobinas para reconstruir líneas faltantes sin necesidad de escanearlas.</a:t>
            </a:r>
          </a:p>
        </p:txBody>
      </p:sp>
    </p:spTree>
    <p:extLst>
      <p:ext uri="{BB962C8B-B14F-4D97-AF65-F5344CB8AC3E}">
        <p14:creationId xmlns:p14="http://schemas.microsoft.com/office/powerpoint/2010/main" val="4255369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BF9F7-A7D1-760D-5B04-8AE3E4FA5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28E588F1-5D36-8861-490D-2D4845885572}"/>
              </a:ext>
            </a:extLst>
          </p:cNvPr>
          <p:cNvGrpSpPr/>
          <p:nvPr/>
        </p:nvGrpSpPr>
        <p:grpSpPr>
          <a:xfrm>
            <a:off x="0" y="0"/>
            <a:ext cx="12192000" cy="1122363"/>
            <a:chOff x="0" y="0"/>
            <a:chExt cx="24348440" cy="1671320"/>
          </a:xfrm>
          <a:solidFill>
            <a:srgbClr val="01224E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3528E23-AA71-D71D-2440-CE67897D067B}"/>
                </a:ext>
              </a:extLst>
            </p:cNvPr>
            <p:cNvSpPr/>
            <p:nvPr/>
          </p:nvSpPr>
          <p:spPr>
            <a:xfrm>
              <a:off x="12700" y="1270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0897BC5-AE8E-797B-F6E7-DEECF30B3CF4}"/>
                </a:ext>
              </a:extLst>
            </p:cNvPr>
            <p:cNvSpPr/>
            <p:nvPr/>
          </p:nvSpPr>
          <p:spPr>
            <a:xfrm>
              <a:off x="0" y="0"/>
              <a:ext cx="24348439" cy="1671320"/>
            </a:xfrm>
            <a:custGeom>
              <a:avLst/>
              <a:gdLst/>
              <a:ahLst/>
              <a:cxnLst/>
              <a:rect l="l" t="t" r="r" b="b"/>
              <a:pathLst>
                <a:path w="24348439" h="167132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658620"/>
                  </a:lnTo>
                  <a:cubicBezTo>
                    <a:pt x="24348439" y="1665605"/>
                    <a:pt x="24342725" y="1671320"/>
                    <a:pt x="243357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4335739" y="1645920"/>
                  </a:lnTo>
                  <a:lnTo>
                    <a:pt x="24335739" y="1658620"/>
                  </a:lnTo>
                  <a:lnTo>
                    <a:pt x="24323039" y="16586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Title"/>
          <p:cNvSpPr txBox="1"/>
          <p:nvPr/>
        </p:nvSpPr>
        <p:spPr>
          <a:xfrm>
            <a:off x="457200" y="280000"/>
            <a:ext cx="10800000" cy="60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/>
            <a:r>
              <a:rPr lang="es-CL" sz="2800" b="1" dirty="0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Artefactos en el Espacio K</a:t>
            </a:r>
          </a:p>
        </p:txBody>
      </p:sp>
      <p:sp>
        <p:nvSpPr>
          <p:cNvPr id="10" name="TextBox Body"/>
          <p:cNvSpPr txBox="1"/>
          <p:nvPr/>
        </p:nvSpPr>
        <p:spPr>
          <a:xfrm>
            <a:off x="500000" y="1600000"/>
            <a:ext cx="11192000" cy="480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/>
            <a:r>
              <a:rPr lang="es-CL" sz="20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Ghosting por movimiento</a:t>
            </a:r>
          </a:p>
          <a:p>
            <a:pPr algn="l">
              <a:spcAft>
                <a:spcPts val="2400"/>
              </a:spcAft>
            </a:pPr>
            <a:r>
              <a:rPr lang="es-CL" sz="16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El movimiento entre líneas de fase introduce una diferencia de fase que se traduce en fantasmas a lo largo de la dirección de codificación de fase.</a:t>
            </a:r>
          </a:p>
          <a:p>
            <a:pPr algn="l">
              <a:spcBef>
                <a:spcPts val="1600"/>
              </a:spcBef>
            </a:pPr>
            <a:r>
              <a:rPr lang="es-CL" sz="20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Bandas por spikes de RF</a:t>
            </a:r>
          </a:p>
          <a:p>
            <a:pPr algn="l">
              <a:spcAft>
                <a:spcPts val="2400"/>
              </a:spcAft>
            </a:pPr>
            <a:r>
              <a:rPr lang="es-CL" sz="16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Un punto de datos defectuoso en el espacio k se convierte, tras la Transformada de Fourier, en bandas oscuras repetidas sobre toda la imagen.</a:t>
            </a:r>
          </a:p>
          <a:p>
            <a:pPr algn="l">
              <a:spcBef>
                <a:spcPts val="1600"/>
              </a:spcBef>
            </a:pPr>
            <a:r>
              <a:rPr lang="es-CL" sz="20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Ringing de Gibbs por truncamiento</a:t>
            </a:r>
          </a:p>
          <a:p>
            <a:pPr algn="l"/>
            <a:r>
              <a:rPr lang="es-CL" sz="16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Omitir las frecuencias espaciales más altas genera oscilaciones (anillos) cerca de bordes de alto contraste.</a:t>
            </a:r>
          </a:p>
        </p:txBody>
      </p:sp>
    </p:spTree>
    <p:extLst>
      <p:ext uri="{BB962C8B-B14F-4D97-AF65-F5344CB8AC3E}">
        <p14:creationId xmlns:p14="http://schemas.microsoft.com/office/powerpoint/2010/main" val="42553695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BF9F7-A7D1-760D-5B04-8AE3E4FA5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28E588F1-5D36-8861-490D-2D4845885572}"/>
              </a:ext>
            </a:extLst>
          </p:cNvPr>
          <p:cNvGrpSpPr/>
          <p:nvPr/>
        </p:nvGrpSpPr>
        <p:grpSpPr>
          <a:xfrm>
            <a:off x="0" y="0"/>
            <a:ext cx="12192000" cy="1122363"/>
            <a:chOff x="0" y="0"/>
            <a:chExt cx="24348440" cy="1671320"/>
          </a:xfrm>
          <a:solidFill>
            <a:srgbClr val="01224E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3528E23-AA71-D71D-2440-CE67897D067B}"/>
                </a:ext>
              </a:extLst>
            </p:cNvPr>
            <p:cNvSpPr/>
            <p:nvPr/>
          </p:nvSpPr>
          <p:spPr>
            <a:xfrm>
              <a:off x="12700" y="1270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0897BC5-AE8E-797B-F6E7-DEECF30B3CF4}"/>
                </a:ext>
              </a:extLst>
            </p:cNvPr>
            <p:cNvSpPr/>
            <p:nvPr/>
          </p:nvSpPr>
          <p:spPr>
            <a:xfrm>
              <a:off x="0" y="0"/>
              <a:ext cx="24348439" cy="1671320"/>
            </a:xfrm>
            <a:custGeom>
              <a:avLst/>
              <a:gdLst/>
              <a:ahLst/>
              <a:cxnLst/>
              <a:rect l="l" t="t" r="r" b="b"/>
              <a:pathLst>
                <a:path w="24348439" h="167132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658620"/>
                  </a:lnTo>
                  <a:cubicBezTo>
                    <a:pt x="24348439" y="1665605"/>
                    <a:pt x="24342725" y="1671320"/>
                    <a:pt x="243357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4335739" y="1645920"/>
                  </a:lnTo>
                  <a:lnTo>
                    <a:pt x="24335739" y="1658620"/>
                  </a:lnTo>
                  <a:lnTo>
                    <a:pt x="24323039" y="16586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Title"/>
          <p:cNvSpPr txBox="1"/>
          <p:nvPr/>
        </p:nvSpPr>
        <p:spPr>
          <a:xfrm>
            <a:off x="457200" y="280000"/>
            <a:ext cx="10800000" cy="60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/>
            <a:r>
              <a:rPr lang="es-CL" sz="2800" b="1" dirty="0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De Espacio K a Imagen</a:t>
            </a:r>
          </a:p>
        </p:txBody>
      </p:sp>
      <p:sp>
        <p:nvSpPr>
          <p:cNvPr id="10" name="TextBox Body"/>
          <p:cNvSpPr txBox="1"/>
          <p:nvPr/>
        </p:nvSpPr>
        <p:spPr>
          <a:xfrm>
            <a:off x="500000" y="1600000"/>
            <a:ext cx="11192000" cy="480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/>
            <a:r>
              <a:rPr lang="es-CL" sz="20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Transformada Rápida de Fourier (FFT)</a:t>
            </a:r>
          </a:p>
          <a:p>
            <a:pPr algn="l">
              <a:spcAft>
                <a:spcPts val="2400"/>
              </a:spcAft>
            </a:pPr>
            <a:r>
              <a:rPr lang="es-CL" sz="16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Es el método estándar: convierte directamente la matriz del espacio k en la imagen final.</a:t>
            </a:r>
          </a:p>
          <a:p>
            <a:pPr algn="l">
              <a:spcBef>
                <a:spcPts val="1600"/>
              </a:spcBef>
            </a:pPr>
            <a:r>
              <a:rPr lang="es-CL" sz="20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Zero-filling e interpolación</a:t>
            </a:r>
          </a:p>
          <a:p>
            <a:pPr algn="l">
              <a:spcAft>
                <a:spcPts val="2400"/>
              </a:spcAft>
            </a:pPr>
            <a:r>
              <a:rPr lang="es-CL" sz="16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Rellena con ceros las líneas no adquiridas para interpolar una imagen de mayor resolución aparente.</a:t>
            </a:r>
          </a:p>
          <a:p>
            <a:pPr algn="l">
              <a:spcBef>
                <a:spcPts val="1600"/>
              </a:spcBef>
            </a:pPr>
            <a:r>
              <a:rPr lang="es-CL" sz="20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Reconstrucción avanzada</a:t>
            </a:r>
          </a:p>
          <a:p>
            <a:pPr algn="l"/>
            <a:r>
              <a:rPr lang="es-CL" sz="16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Compressed sensing y aprendizaje profundo permiten reconstruir imágenes a partir de datos muy submuestreados, acelerando aún más la adquisición.</a:t>
            </a:r>
          </a:p>
        </p:txBody>
      </p:sp>
    </p:spTree>
    <p:extLst>
      <p:ext uri="{BB962C8B-B14F-4D97-AF65-F5344CB8AC3E}">
        <p14:creationId xmlns:p14="http://schemas.microsoft.com/office/powerpoint/2010/main" val="4255369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BF9F7-A7D1-760D-5B04-8AE3E4FA5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28E588F1-5D36-8861-490D-2D4845885572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24348440" cy="1671320"/>
          </a:xfrm>
          <a:solidFill>
            <a:srgbClr val="01224E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3528E23-AA71-D71D-2440-CE67897D067B}"/>
                </a:ext>
              </a:extLst>
            </p:cNvPr>
            <p:cNvSpPr/>
            <p:nvPr/>
          </p:nvSpPr>
          <p:spPr>
            <a:xfrm>
              <a:off x="12700" y="1270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0897BC5-AE8E-797B-F6E7-DEECF30B3CF4}"/>
                </a:ext>
              </a:extLst>
            </p:cNvPr>
            <p:cNvSpPr/>
            <p:nvPr/>
          </p:nvSpPr>
          <p:spPr>
            <a:xfrm>
              <a:off x="0" y="0"/>
              <a:ext cx="24348439" cy="1671320"/>
            </a:xfrm>
            <a:custGeom>
              <a:avLst/>
              <a:gdLst/>
              <a:ahLst/>
              <a:cxnLst/>
              <a:rect l="l" t="t" r="r" b="b"/>
              <a:pathLst>
                <a:path w="24348439" h="167132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658620"/>
                  </a:lnTo>
                  <a:cubicBezTo>
                    <a:pt x="24348439" y="1665605"/>
                    <a:pt x="24342725" y="1671320"/>
                    <a:pt x="243357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4335739" y="1645920"/>
                  </a:lnTo>
                  <a:lnTo>
                    <a:pt x="24335739" y="1658620"/>
                  </a:lnTo>
                  <a:lnTo>
                    <a:pt x="24323039" y="16586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Closing Title"/>
          <p:cNvSpPr txBox="1"/>
          <p:nvPr/>
        </p:nvSpPr>
        <p:spPr>
          <a:xfrm>
            <a:off x="1096200" y="2700000"/>
            <a:ext cx="10000000" cy="1700000"/>
          </a:xfrm>
          <a:prstGeom prst="rect">
            <a:avLst/>
          </a:prstGeom>
        </p:spPr>
        <p:txBody>
          <a:bodyPr lIns="0" tIns="0" rIns="0" bIns="0" rtlCol="0" anchor="b" wrap="square"/>
          <a:lstStyle/>
          <a:p>
            <a:pPr algn="ctr"/>
            <a:r>
              <a:rPr lang="es-CL" sz="3600" b="1" dirty="0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Todo lo que vemos en la imagen se decide en el espacio k</a:t>
            </a:r>
          </a:p>
        </p:txBody>
      </p:sp>
      <p:sp>
        <p:nvSpPr>
          <p:cNvPr id="10" name="TextBox Closing Subtitle"/>
          <p:cNvSpPr txBox="1"/>
          <p:nvPr/>
        </p:nvSpPr>
        <p:spPr>
          <a:xfrm>
            <a:off x="1096200" y="4550000"/>
            <a:ext cx="10000000" cy="70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/>
            <a:r>
              <a:rPr lang="es-CL" sz="1600" dirty="0">
                <a:solidFill>
                  <a:srgbClr val="04989F"/>
                </a:solidFill>
                <a:latin typeface="TT Drugs"/>
                <a:ea typeface="TT Drugs"/>
                <a:cs typeface="TT Drugs"/>
                <a:sym typeface="TT Drugs"/>
              </a:rPr>
              <a:t>Contraste, resolución y artefactos son, ante todo, una historia de cómo se llena esta matriz</a:t>
            </a:r>
          </a:p>
        </p:txBody>
      </p:sp>
    </p:spTree>
    <p:extLst>
      <p:ext uri="{BB962C8B-B14F-4D97-AF65-F5344CB8AC3E}">
        <p14:creationId xmlns:p14="http://schemas.microsoft.com/office/powerpoint/2010/main" val="42553695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19</Words>
  <Application>Microsoft Office PowerPoint</Application>
  <PresentationFormat>Panorámica</PresentationFormat>
  <Paragraphs>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TT Drugs</vt:lpstr>
      <vt:lpstr>TT Rounds Condensed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 Andres Montalba Zalaquett</dc:creator>
  <cp:lastModifiedBy>Cristian Andres Montalba Zalaquett</cp:lastModifiedBy>
  <cp:revision>3</cp:revision>
  <dcterms:created xsi:type="dcterms:W3CDTF">2026-07-01T18:43:50Z</dcterms:created>
  <dcterms:modified xsi:type="dcterms:W3CDTF">2026-07-01T19:14:16Z</dcterms:modified>
</cp:coreProperties>
</file>