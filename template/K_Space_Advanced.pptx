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234440"/>
            <a:ext cx="4480560" cy="4480560"/>
          </a:xfrm>
          <a:prstGeom prst="rect">
            <a:avLst/>
          </a:prstGeom>
        </p:spPr>
      </p:pic>
      <p:pic>
        <p:nvPicPr>
          <p:cNvPr id="4" name="Picture 3" descr="rings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514600"/>
            <a:ext cx="1920240" cy="1920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965960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200" b="1">
                <a:solidFill>
                  <a:srgbClr val="FFFFFF"/>
                </a:solidFill>
                <a:latin typeface="Calibri"/>
              </a:rPr>
              <a:t>K-Space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64922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22D3EE"/>
                </a:solidFill>
                <a:latin typeface="Calibri"/>
              </a:rPr>
              <a:t>A rigorous treatment of spatial-frequency encoding, sampling and reconstruction in MRI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9BA3C7"/>
                </a:solidFill>
                <a:latin typeface="Calibri"/>
              </a:rPr>
              <a:t>Advanced technical primer — trajectories, parallel imaging, and modern reconstruction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402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22D3EE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96926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Signal Equation &amp; Sampling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BA3C7"/>
                </a:solidFill>
                <a:latin typeface="Calibri"/>
              </a:rPr>
              <a:t>From the Larmor equation to a rigorous spatial-frequency formalism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The General k-Space Signal Equation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908792" cy="777240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0">
                <a:solidFill>
                  <a:srgbClr val="22D3EE"/>
                </a:solidFill>
                <a:latin typeface="Consolas"/>
              </a:rPr>
              <a:t>k(t) = (γ/2π) ∫₀ᵗ G(t') dt'      s(t) = ∫ ρ(r) e^(−i2π k(t)·r) dr</a:t>
            </a:r>
          </a:p>
        </p:txBody>
      </p:sp>
      <p:pic>
        <p:nvPicPr>
          <p:cNvPr id="6" name="Picture 5" descr="gradient_ramp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33472"/>
            <a:ext cx="512064" cy="512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2606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Two ways to move through k-space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9008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A constant gradient moves the trajectory continuously along a straight line; a 180° refocusing pulse mirrors it discontinuously through the origin. Every pulse sequence is a specific combination of these two operators.</a:t>
            </a:r>
          </a:p>
        </p:txBody>
      </p:sp>
      <p:pic>
        <p:nvPicPr>
          <p:cNvPr id="9" name="Picture 8" descr="arrow_transform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44112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3916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k-space and image space are Fourier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3007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Because the Fourier transform is information-preserving, the full content of the image is already present in k-space — reconstruction only changes its representation, never its content.</a:t>
            </a:r>
          </a:p>
        </p:txBody>
      </p:sp>
      <p:pic>
        <p:nvPicPr>
          <p:cNvPr id="12" name="Picture 11" descr="wav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254752"/>
            <a:ext cx="512064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522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Magnitude and phase carry different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1136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The magnitude of a k-space point indicates how strongly that spatial frequency is represented in the object; its phase indicates how that frequency component is positioned within the image.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Nyquist Sampling, FOV and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0908792" cy="777240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08792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700" b="0">
                <a:solidFill>
                  <a:srgbClr val="22D3EE"/>
                </a:solidFill>
                <a:latin typeface="Consolas"/>
              </a:rPr>
              <a:t>Δk = 1 / FOV            k_max = 1 / (2·Δx)</a:t>
            </a:r>
          </a:p>
        </p:txBody>
      </p:sp>
      <p:pic>
        <p:nvPicPr>
          <p:cNvPr id="6" name="Picture 5" descr="grid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33472"/>
            <a:ext cx="512064" cy="512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2606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Sample spacing sets the field of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9008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The separation Δk between adjacent k-space samples is inversely proportional to the FOV; too coarse a Δk folds signal from outside the intended FOV back into the image as aliasing.</a:t>
            </a:r>
          </a:p>
        </p:txBody>
      </p:sp>
      <p:pic>
        <p:nvPicPr>
          <p:cNvPr id="9" name="Picture 8" descr="rings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44112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3916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k-space extent sets spatial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3007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The maximum spatial frequency covered, k_max, is inversely proportional to the achievable pixel size; reaching farther into k-space sharpens the image without changing its contrast.</a:t>
            </a:r>
          </a:p>
        </p:txBody>
      </p:sp>
      <p:pic>
        <p:nvPicPr>
          <p:cNvPr id="12" name="Picture 11" descr="spik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254752"/>
            <a:ext cx="512064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522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Faster sampling always costs SNR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61136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Thermal noise scales with the square root of the acquisition bandwidth, so shortening dwell time to accelerate acquisition inevitably lowers SNR, regardless of the specific pulse sequence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Hermitian Symmetry and Partial-Fourier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22D3EE"/>
                </a:solidFill>
                <a:latin typeface="Calibri"/>
              </a:rPr>
              <a:t>THREE WAYS TO FILL IN THE MISSING HALF OF K-SPACE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54298" cy="402336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zero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94559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2926079"/>
            <a:ext cx="28142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Zero-Filling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47287"/>
            <a:ext cx="2814218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Missing lines are simply set to zero before the FFT. Simple and artifact-free when the missing fraction is small, but blurs the image and is unusable for large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1874519"/>
            <a:ext cx="3454298" cy="402336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irror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738" y="2194559"/>
            <a:ext cx="56692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88738" y="2926079"/>
            <a:ext cx="28142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Conjugate-Symmetry Phase Correction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8738" y="3447287"/>
            <a:ext cx="2814218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Missing data are estimated from their Hermitian conjugates, corrected for a slowly-varying phase term estimated from a small symmetric region. Requires the forward and inverse transform to be applied more than once.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874519"/>
            <a:ext cx="3454298" cy="402336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rrow_transform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356" y="2194559"/>
            <a:ext cx="566928" cy="566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17356" y="2926079"/>
            <a:ext cx="281421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Homodyne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7356" y="3447287"/>
            <a:ext cx="2814218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A weighting function splits the k-space data into symmetric and antisymmetric components before a single forward/inverse transform pair — removing the repeated-transform overhead of conjugate-symmetry correction.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402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22D3EE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96926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Trajectory Physics &amp; Pulse-Sequence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BA3C7"/>
                </a:solidFill>
                <a:latin typeface="Calibri"/>
              </a:rPr>
              <a:t>How gradient waveforms and refocusing pulses translate into distinct artifact and contrast signatures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Rectilinear (2DFT) Sampling: Gradient-Echo vs. Spin-Echo</a:t>
            </a:r>
          </a:p>
        </p:txBody>
      </p:sp>
      <p:pic>
        <p:nvPicPr>
          <p:cNvPr id="4" name="Picture 3" descr="cartesian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051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One line, one repetition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671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In conventional rectilinear imaging, each excitation encodes and reads out a single k_y line; total scan time scales directly with the number of phase-encode steps times TR.</a:t>
            </a:r>
          </a:p>
        </p:txBody>
      </p:sp>
      <p:pic>
        <p:nvPicPr>
          <p:cNvPr id="7" name="Picture 6" descr="gradient_ramp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27832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3200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Gradient-echo: refocusing by gradient reversal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5844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Dephasing from a negative readout lobe is reversed by a positive lobe; the echo forms exactly when the net gradient area is zero, at the k_x = 0 line.</a:t>
            </a:r>
          </a:p>
        </p:txBody>
      </p:sp>
      <p:pic>
        <p:nvPicPr>
          <p:cNvPr id="10" name="Picture 9" descr="mirror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45152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Spin-echo: refocusing by a 180° pulse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00176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The refocusing pulse mirrors the k-space trajectory through the origin, canceling static B0 inhomogeneity (but not true T2 decay) — and, because points fall on a grid, reconstruction is a single, direct FFT.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Echo-Planar Imaging: Speed at the Cost of Fidelity</a:t>
            </a:r>
          </a:p>
        </p:txBody>
      </p:sp>
      <p:pic>
        <p:nvPicPr>
          <p:cNvPr id="4" name="Picture 3" descr="epi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051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Nearly all of k-space in one 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6712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A single excitation sweeps back and forth across k-space with oscillating gradients, filling most or all of the matrix before the signal has meaningfully decayed.</a:t>
            </a:r>
          </a:p>
        </p:txBody>
      </p:sp>
      <p:pic>
        <p:nvPicPr>
          <p:cNvPr id="7" name="Picture 6" descr="wav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99232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2971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T2*-limited fidelity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35584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Because total acquisition time is n times longer than a single line, EPI must finish before T2* decay significantly attenuates the signal — this caps achievable resolution and drives blurring or signal loss if pushed too far.</a:t>
            </a:r>
          </a:p>
        </p:txBody>
      </p:sp>
      <p:pic>
        <p:nvPicPr>
          <p:cNvPr id="10" name="Picture 9" descr="gradient_ramp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87952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4160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Off-resonance becomes geometric displacement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54456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Chemical shift and field inhomogeneities accumulate over the long phase-encode dwell time and appear as pixel shifts along the phase-encode axis, not as blurring.</a:t>
            </a:r>
          </a:p>
        </p:txBody>
      </p:sp>
      <p:pic>
        <p:nvPicPr>
          <p:cNvPr id="13" name="Picture 12" descr="ghos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376672"/>
            <a:ext cx="512064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54480" y="5349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The N/2 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73328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Alternating readout polarity means odd and even lines are acquired in opposite directions; any timing asymmetry between them produces a ghost displaced by exactly half the field of 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RARE / Turbo &amp; Fast Spin Echo</a:t>
            </a:r>
          </a:p>
        </p:txBody>
      </p:sp>
      <p:pic>
        <p:nvPicPr>
          <p:cNvPr id="4" name="Picture 3" descr="mirror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051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A rewinder ties every echo back to the origin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6712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Each phase-encode step must be undone after readout so the trajectory returns to the same k-space point before the next 180° pulse, otherwise unwanted coherence pathways appear.</a:t>
            </a:r>
          </a:p>
        </p:txBody>
      </p:sp>
      <p:pic>
        <p:nvPicPr>
          <p:cNvPr id="7" name="Picture 6" descr="wav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99232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2971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T2 decay along the echo train sets the real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35584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Outer k-lines are acquired at longer effective echo times, so T2 relaxation across a long echo train blurs high-spatial-frequency detail even though the nominal resolution is unchanged.</a:t>
            </a:r>
          </a:p>
        </p:txBody>
      </p:sp>
      <p:pic>
        <p:nvPicPr>
          <p:cNvPr id="10" name="Picture 9" descr="cartesian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187952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4160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Echo-train ordering controls contrast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54456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Placing low-k_y lines early or late in the train determines whether the image is weighted toward the earliest or the latest effective TE.</a:t>
            </a:r>
          </a:p>
        </p:txBody>
      </p:sp>
      <p:pic>
        <p:nvPicPr>
          <p:cNvPr id="13" name="Picture 12" descr="spik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376672"/>
            <a:ext cx="512064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554480" y="5349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J-coupling makes fat paradoxically bright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73328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J-coupled lipid resonances are not refocused by repeated 180° pulses the way static field effects are, so fat signal in RARE/FSE is systematically brighter than in a conventional spin-echo at the same 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Non-Cartesian Trajectories: Radial and Spiral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adia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75688"/>
            <a:ext cx="731520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2075688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Radial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532888"/>
            <a:ext cx="37947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BA3C7"/>
                </a:solidFill>
                <a:latin typeface="Calibri"/>
              </a:rPr>
              <a:t>Each excitation acquires a spoke through the k-space origin. The center is intrinsically oversampled, giving strong motion robustness and extremely short TE, at the cost of streaking from an undersampled periphery.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7830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ir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075688"/>
            <a:ext cx="731520" cy="731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16952" y="2075688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Spiral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532888"/>
            <a:ext cx="37947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BA3C7"/>
                </a:solidFill>
                <a:latin typeface="Calibri"/>
              </a:rPr>
              <a:t>Both gradients are driven simultaneously at full amplitude — the most gradient-efficient trajectory. Off-resonance manifests as blurring rather than displacement; periodic coverage gives inherent motion averaging.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23944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rid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16552"/>
            <a:ext cx="731520" cy="731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20240" y="4416552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Regridding is mandatory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873752"/>
            <a:ext cx="37947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BA3C7"/>
                </a:solidFill>
                <a:latin typeface="Calibri"/>
              </a:rPr>
              <a:t>Non-Cartesian samples do not fall on a rectangular grid, so an FFT cannot be applied directly. Data must first be resampled (regridding / NUFFT) onto a Cartesian grid with density compensation.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4123944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ings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4416552"/>
            <a:ext cx="731520" cy="731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16952" y="4416552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FOV is set by trajectory spacing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4873752"/>
            <a:ext cx="379476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BA3C7"/>
                </a:solidFill>
                <a:latin typeface="Calibri"/>
              </a:rPr>
              <a:t>Unlike rectilinear scans, oversampling along a non-Cartesian readout does not enlarge the FOV for free — the FOV is fixed by how densely adjacent arms of the trajectory are spaced.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402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1">
                <a:solidFill>
                  <a:srgbClr val="22D3EE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96926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3800" b="1">
                <a:solidFill>
                  <a:srgbClr val="FFFFFF"/>
                </a:solidFill>
                <a:latin typeface="Calibri"/>
              </a:rPr>
              <a:t>Acceleration Beyond Nyquist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9BA3C7"/>
                </a:solidFill>
                <a:latin typeface="Calibri"/>
              </a:rPr>
              <a:t>Parallel imaging, sparsity and learned priors let modern MRI undersample k-space and still reconstruct a faithful image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Parallel Imaging I — SENSE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10908792" cy="658368"/>
          </a:xfrm>
          <a:prstGeom prst="roundRect">
            <a:avLst>
              <a:gd name="adj" fmla="val 6000"/>
            </a:avLst>
          </a:prstGeom>
          <a:solidFill>
            <a:srgbClr val="10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08792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550" b="0">
                <a:solidFill>
                  <a:srgbClr val="22D3EE"/>
                </a:solidFill>
                <a:latin typeface="Consolas"/>
              </a:rPr>
              <a:t>R = FOV / FOV_reduced          g ≥ 1  (geometry noise-amplification factor)</a:t>
            </a:r>
          </a:p>
        </p:txBody>
      </p:sp>
      <p:pic>
        <p:nvPicPr>
          <p:cNvPr id="6" name="Picture 5" descr="coils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42032"/>
            <a:ext cx="512064" cy="512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54480" y="2514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Coil sensitivity replaces missing gradient encoding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8986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Multiple receiver coils, each with a distinct, known spatial sensitivity profile, provide additional spatial information that substitutes for some of the phase-encode steps that would otherwise need to be acquired.</a:t>
            </a:r>
          </a:p>
        </p:txBody>
      </p:sp>
      <p:pic>
        <p:nvPicPr>
          <p:cNvPr id="9" name="Picture 8" descr="arrow_transform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83152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3855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Unfolding happens in image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23976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A reduced-FOV image from each coil is aliased; SENSE inverts the coil-sensitivity matrix at every pixel to separate the overlapping signals and recover the full FOV.</a:t>
            </a:r>
          </a:p>
        </p:txBody>
      </p:sp>
      <p:pic>
        <p:nvPicPr>
          <p:cNvPr id="12" name="Picture 11" descr="spik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224272"/>
            <a:ext cx="512064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5196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Acceleration has a noise penalty: the g-factor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8088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Reconstructed SNR falls by more than the √R expected from reduced averaging alone; the extra, geometry-dependent penalty is the g-factor, which grows with acceleration and with unfavorable coil geometry.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Parallel Imaging II — GRAPPA</a:t>
            </a:r>
          </a:p>
        </p:txBody>
      </p:sp>
      <p:pic>
        <p:nvPicPr>
          <p:cNvPr id="4" name="Picture 3" descr="kerne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051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Interpolation happens directly in k-space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671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Instead of unfolding aliased images, GRAPPA estimates each missing k-space line as a weighted combination of neighboring acquired lines across all coil channels.</a:t>
            </a:r>
          </a:p>
        </p:txBody>
      </p:sp>
      <p:pic>
        <p:nvPicPr>
          <p:cNvPr id="7" name="Picture 6" descr="grid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27832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3200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Calibration lines teach the kernel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5844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A small number of extra, fully-sampled autocalibration (ACS) lines near the center of k-space are used to fit the interpolation weights before they are applied to the undersampled data.</a:t>
            </a:r>
          </a:p>
        </p:txBody>
      </p:sp>
      <p:pic>
        <p:nvPicPr>
          <p:cNvPr id="10" name="Picture 9" descr="layers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45152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A gentler failure mode than 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00176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Because reconstruction stays in k-space and uses a local kernel, GRAPPA tends to degrade more gracefully than SENSE under unfavorable coil geometry, at the cost of greater computational complexity.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Compressed Sensing</a:t>
            </a:r>
          </a:p>
        </p:txBody>
      </p:sp>
      <p:pic>
        <p:nvPicPr>
          <p:cNvPr id="4" name="Picture 3" descr="sparse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051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Condition 1 — Sparsity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671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The image must have a compact representation in some transform domain (e.g. wavelets), meaning most of its transform coefficients are close to zero.</a:t>
            </a:r>
          </a:p>
        </p:txBody>
      </p:sp>
      <p:pic>
        <p:nvPicPr>
          <p:cNvPr id="7" name="Picture 6" descr="spik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27832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3200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Condition 2 — Incoherent undersampling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5844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Sampling k-space pseudo-randomly, rather than skipping regular blocks of lines, spreads the resulting aliasing into incoherent, noise-like artifact instead of a coherent, structured ghost.</a:t>
            </a:r>
          </a:p>
        </p:txBody>
      </p:sp>
      <p:pic>
        <p:nvPicPr>
          <p:cNvPr id="10" name="Picture 9" descr="fft_chip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45152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Nonlinear, not Fourier, reconstruction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00176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Because the acquisition is now underdetermined, the image is recovered by nonlinear optimization enforcing both data consistency and sparsity — typically an L1-regularized minimization — instead of a direct inverse transform.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Deep Learning Reconstruction</a:t>
            </a:r>
          </a:p>
        </p:txBody>
      </p:sp>
      <p:pic>
        <p:nvPicPr>
          <p:cNvPr id="4" name="Picture 3" descr="network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051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Learned priors replace hand-crafted 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671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Instead of assuming sparsity in a fixed transform like wavelets, a neural network learns — from large training datasets — what realistic anatomical images look like.</a:t>
            </a:r>
          </a:p>
        </p:txBody>
      </p:sp>
      <p:pic>
        <p:nvPicPr>
          <p:cNvPr id="7" name="Picture 6" descr="layers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27832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3200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Unrolled optimization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5844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Many modern architectures unroll an iterative reconstruction algorithm into a fixed number of network layers, alternating learned denoising steps with explicit data-consistency steps against the acquired k-space samples.</a:t>
            </a:r>
          </a:p>
        </p:txBody>
      </p:sp>
      <p:pic>
        <p:nvPicPr>
          <p:cNvPr id="10" name="Picture 9" descr="arrow_transform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45152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k-space-domain or image-domain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00176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Networks can operate directly on raw k-space data, on the aliased image, or on both — depending on whether the priority is enforcing physical consistency or maximizing perceptual image quality.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Calibri"/>
              </a:rPr>
              <a:t>k-Space Determinants of Contrast and Artifact</a:t>
            </a:r>
          </a:p>
        </p:txBody>
      </p:sp>
      <p:pic>
        <p:nvPicPr>
          <p:cNvPr id="4" name="Picture 3" descr="rings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10512"/>
            <a:ext cx="512064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The point-spread function links coverage to sharpness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6712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Truncating k-space is equivalent to convolving the true image with a sinc-like point-spread function — the mathematical origin of Gibbs ringing near sharp, high-contrast edges.</a:t>
            </a:r>
          </a:p>
        </p:txBody>
      </p:sp>
      <p:pic>
        <p:nvPicPr>
          <p:cNvPr id="7" name="Picture 6" descr="wav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27832"/>
            <a:ext cx="512064" cy="5120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54480" y="3200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TE placement inside the trajectory sets contrast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5844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Whichever moment the center of k-space (k=0) is sampled behaves as the effective echo time for contrast purposes, even when a single nominal TE cannot fully describe a complex trajectory.</a:t>
            </a:r>
          </a:p>
        </p:txBody>
      </p:sp>
      <p:pic>
        <p:nvPicPr>
          <p:cNvPr id="10" name="Picture 9" descr="gradient_ramp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45152"/>
            <a:ext cx="512064" cy="5120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54480" y="4617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50" b="1">
                <a:solidFill>
                  <a:srgbClr val="FFFFFF"/>
                </a:solidFill>
                <a:latin typeface="Calibri"/>
              </a:rPr>
              <a:t>Every acceleration strategy trades some fidelity for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00176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9BA3C7"/>
                </a:solidFill>
                <a:latin typeface="Calibri"/>
              </a:rPr>
              <a:t>Partial Fourier trades SNR, parallel imaging trades noise (the g-factor), non-Cartesian sampling trades reconstruction complexity, and compressed sensing / deep learning trade guaranteed exactness for a learned or assumed prior.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ngs_vio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88720" y="1737360"/>
            <a:ext cx="54864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88720" y="2331720"/>
            <a:ext cx="987552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Every artifact, contrast and acceleration trade-off in MRI traces back to how — and how completely — k-space was sampled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448056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0">
                <a:solidFill>
                  <a:srgbClr val="22D3EE"/>
                </a:solidFill>
                <a:latin typeface="Calibri"/>
              </a:rPr>
              <a:t>Spatial-frequency thinking is the unifying language of MR image 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