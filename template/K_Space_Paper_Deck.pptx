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s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234440"/>
            <a:ext cx="4480560" cy="4480560"/>
          </a:xfrm>
          <a:prstGeom prst="rect">
            <a:avLst/>
          </a:prstGeom>
        </p:spPr>
      </p:pic>
      <p:pic>
        <p:nvPicPr>
          <p:cNvPr id="4" name="Picture 3" descr="rings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514600"/>
            <a:ext cx="192024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057400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Surcando el Espacio-K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64922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D3EE"/>
                </a:solidFill>
                <a:latin typeface="Calibri"/>
              </a:rPr>
              <a:t>Cómo el espacio-k gobierna el contraste, la resolución espacial y el tiempo de adquisición en Resonancia Magnética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>
                <a:solidFill>
                  <a:srgbClr val="9BA3C7"/>
                </a:solidFill>
                <a:latin typeface="Calibri"/>
              </a:rPr>
              <a:t>Basado en Moratal-Pérez et al., “Surcando el espacio-k para mejorar la imagen por RM”, Radiología 2004;46(3):133-50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s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24028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>
                <a:solidFill>
                  <a:srgbClr val="22D3EE"/>
                </a:solidFill>
                <a:latin typeface="Calibri"/>
              </a:rPr>
              <a:t>PARTE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996696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¿Qué es el Espacio-K?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BA3C7"/>
                </a:solidFill>
                <a:latin typeface="Calibri"/>
              </a:rPr>
              <a:t>La matriz de datos crudos que precede a la reconstrucción de toda imagen de 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Definición y Estructura del Espacio-K</a:t>
            </a:r>
          </a:p>
        </p:txBody>
      </p:sp>
      <p:pic>
        <p:nvPicPr>
          <p:cNvPr id="4" name="Picture 3" descr="grid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1051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Una malla de frecuencias espaciales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6712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El espacio-k está formado por las coordenadas kx y ky, denominadas frecuencia espacial y expresadas en ciclos/cm, con una intensidad de señal representada como nivel de gris.</a:t>
            </a:r>
          </a:p>
        </p:txBody>
      </p:sp>
      <p:pic>
        <p:nvPicPr>
          <p:cNvPr id="7" name="Picture 6" descr="arrow_transform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27832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3200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Una relación de uno-a-todos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5844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Cada punto del espacio-k contiene información de todos y cada uno de los píxeles de la imagen, y viceversa; ambos dominios están relacionados mediante la Transformada de Fourier bidimensional (TF 2D).</a:t>
            </a:r>
          </a:p>
        </p:txBody>
      </p:sp>
      <p:pic>
        <p:nvPicPr>
          <p:cNvPr id="10" name="Picture 9" descr="cartesian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45152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4480" y="4617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Se rellena línea a línea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00176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En la adquisición convencional, cada pulso de excitación aplica el gradiente de codificación de fase y, después, el de frecuencia, rellenando así una línea horizontal del espacio-k por repetición.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Centro vs. Periferia</a:t>
            </a:r>
          </a:p>
        </p:txBody>
      </p:sp>
      <p:pic>
        <p:nvPicPr>
          <p:cNvPr id="4" name="Picture 3" descr="rings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4519"/>
            <a:ext cx="356616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32461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Centro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00" b="1">
                <a:solidFill>
                  <a:srgbClr val="9BA3C7"/>
                </a:solidFill>
                <a:latin typeface="Calibri"/>
              </a:rPr>
              <a:t>Periferia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874519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>
                <a:solidFill>
                  <a:srgbClr val="22D3EE"/>
                </a:solidFill>
                <a:latin typeface="Calibri"/>
              </a:rPr>
              <a:t>Centro del espacio-k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395728"/>
            <a:ext cx="685800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Bajas frecuencias espaciales: </a:t>
            </a:r>
            <a:r>
              <a:rPr sz="1450" b="0">
                <a:solidFill>
                  <a:srgbClr val="9BA3C7"/>
                </a:solidFill>
                <a:latin typeface="Calibri"/>
              </a:rPr>
              <a:t>corresponden a la forma general y al contraste de la imagen.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379476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>
                <a:solidFill>
                  <a:srgbClr val="8B7CFF"/>
                </a:solidFill>
                <a:latin typeface="Calibri"/>
              </a:rPr>
              <a:t>Periferia del espacio-k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4315968"/>
            <a:ext cx="685800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Altas frecuencias espaciales: </a:t>
            </a:r>
            <a:r>
              <a:rPr sz="1450" b="0">
                <a:solidFill>
                  <a:srgbClr val="9BA3C7"/>
                </a:solidFill>
                <a:latin typeface="Calibri"/>
              </a:rPr>
              <a:t>representan los detalles más finos y el borde de los objetos.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5394960"/>
            <a:ext cx="68580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La distribución de altas o bajas frecuencias depende del contenido de la imagen y de su número de pequeños objetos y detalles.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Los Cuatro Determinantes de la Calidad de Imagen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>
                <a:solidFill>
                  <a:srgbClr val="22D3EE"/>
                </a:solidFill>
                <a:latin typeface="Calibri"/>
              </a:rPr>
              <a:t>NO ES POSIBLE MAXIMIZAR LOS CUATRO A LA VEZ: LA CALIDAD DE IMAGEN ES SIEMPRE UN COMPROMISO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ings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75688"/>
            <a:ext cx="73152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20240" y="2075688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Contraste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532888"/>
            <a:ext cx="379476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BA3C7"/>
                </a:solidFill>
                <a:latin typeface="Calibri"/>
              </a:rPr>
              <a:t>Determinado por las codificaciones de fase centrales del espacio-k y por los parámetros de la secuencia (TR, TE, ángulo de flip).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78308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rid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075688"/>
            <a:ext cx="731520" cy="731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16952" y="2075688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Resolución espacial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2" y="2532888"/>
            <a:ext cx="379476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BA3C7"/>
                </a:solidFill>
                <a:latin typeface="Calibri"/>
              </a:rPr>
              <a:t>Determinada por la frecuencia espacial máxima cubierta, kmáx; a mayor tamaño de matriz, mayor resolución.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23944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ave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16552"/>
            <a:ext cx="731520" cy="731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20240" y="4416552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RSR (relación señal-ruido)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873752"/>
            <a:ext cx="379476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BA3C7"/>
                </a:solidFill>
                <a:latin typeface="Calibri"/>
              </a:rPr>
              <a:t>Proporcional al volumen del vóxel y a la raíz cuadrada del tiempo de adquisición.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4123944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host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4416552"/>
            <a:ext cx="731520" cy="7315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16952" y="4416552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Ausencia de artefactos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4873752"/>
            <a:ext cx="379476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BA3C7"/>
                </a:solidFill>
                <a:latin typeface="Calibri"/>
              </a:rPr>
              <a:t>Depende de cómo se muestrea el espacio-k: truncamiento, solapamiento, movimiento y simetría de los datos.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s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24028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>
                <a:solidFill>
                  <a:srgbClr val="22D3EE"/>
                </a:solidFill>
                <a:latin typeface="Calibri"/>
              </a:rPr>
              <a:t>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996696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El Compromiso Cuantitativo: Vóxel, FOV y Matriz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BA3C7"/>
                </a:solidFill>
                <a:latin typeface="Calibri"/>
              </a:rPr>
              <a:t>Tiempo de adquisición, resolución espacial y RSR están matemáticamente ligados a un mismo parámetro: el tamaño de la matriz de datos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Tamaño de Píxel y Vóxel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908792" cy="777240"/>
          </a:xfrm>
          <a:prstGeom prst="roundRect">
            <a:avLst>
              <a:gd name="adj" fmla="val 6000"/>
            </a:avLst>
          </a:prstGeom>
          <a:solidFill>
            <a:srgbClr val="10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00" b="0">
                <a:solidFill>
                  <a:srgbClr val="22D3EE"/>
                </a:solidFill>
                <a:latin typeface="Consolas"/>
              </a:rPr>
              <a:t>tamaño del píxel = FOV / tamaño de la matriz      tamaño del vóxel = espesor de corte × tamaño del píxel</a:t>
            </a:r>
          </a:p>
        </p:txBody>
      </p:sp>
      <p:pic>
        <p:nvPicPr>
          <p:cNvPr id="6" name="Picture 5" descr="wave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33472"/>
            <a:ext cx="512064" cy="5120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2606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La intensidad de un píxel refleja su contenido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9008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La intensidad de un píxel es proporcional al número de núcleos excitados en su vóxel correspondiente; por tanto, la RSR es proporcional al volumen del vóxel.</a:t>
            </a:r>
          </a:p>
        </p:txBody>
      </p:sp>
      <p:pic>
        <p:nvPicPr>
          <p:cNvPr id="9" name="Picture 8" descr="grid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44112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4480" y="3916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Matrices más grandes, píxeles más pequeños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30072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Cuanto mayor es la frecuencia espacial máxima cubierta por el espacio-k, menor es el tamaño de píxel resultante y mayor la resolución espacial.</a:t>
            </a:r>
          </a:p>
        </p:txBody>
      </p:sp>
      <p:pic>
        <p:nvPicPr>
          <p:cNvPr id="12" name="Picture 11" descr="gradient_ramp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254752"/>
            <a:ext cx="512064" cy="512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522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Más resolución siempre cuesta tiempo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61136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Adquirir más datos del espacio-k para aumentar la resolución implica necesariamente un mayor tiempo de adquisición.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Tres Palancas, Un Compromiso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>
                <a:solidFill>
                  <a:srgbClr val="22D3EE"/>
                </a:solidFill>
                <a:latin typeface="Calibri"/>
              </a:rPr>
              <a:t>EL EFECTO DE CADA PARÁMETRO DE ADQUISICIÓN SOBRE LA IMAGEN FINAL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454298" cy="411480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radient_ramp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94559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2926079"/>
            <a:ext cx="281421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Espesor de corte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57599"/>
            <a:ext cx="2814218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Mejora la RSR de forma lineal y reduce el número de cortes necesarios — pero disminuye la resolución espacial y aumenta el efecto de volumen parcial y los artefactos de susceptibilidad.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698" y="1874519"/>
            <a:ext cx="3454298" cy="411480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ings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738" y="2194559"/>
            <a:ext cx="56692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88738" y="2926079"/>
            <a:ext cx="281421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FOV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8738" y="3657599"/>
            <a:ext cx="2814218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Mejora la RSR (proporcional al FOV²) y reduce el solapamiento — pero aumenta el tamaño de píxel y reduce la resolución espacial.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874519"/>
            <a:ext cx="3454298" cy="411480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rid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356" y="2194559"/>
            <a:ext cx="566928" cy="5669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7356" y="2926079"/>
            <a:ext cx="281421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Tamaño de matriz 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7356" y="3657599"/>
            <a:ext cx="2814218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Mejora la resolución espacial y reduce los artefactos de truncamiento y susceptibilidad — pero la RSR cae con el inverso del cuadrado de la matriz y aumenta el tiempo de adquisición.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La Relación FOV–Δk y el Aliasing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908792" cy="777240"/>
          </a:xfrm>
          <a:prstGeom prst="roundRect">
            <a:avLst>
              <a:gd name="adj" fmla="val 6000"/>
            </a:avLst>
          </a:prstGeom>
          <a:solidFill>
            <a:srgbClr val="10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00" b="0">
                <a:solidFill>
                  <a:srgbClr val="22D3EE"/>
                </a:solidFill>
                <a:latin typeface="Consolas"/>
              </a:rPr>
              <a:t>FOV = 1 / Δk</a:t>
            </a:r>
          </a:p>
        </p:txBody>
      </p:sp>
      <p:pic>
        <p:nvPicPr>
          <p:cNvPr id="6" name="Picture 5" descr="grid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33472"/>
            <a:ext cx="512064" cy="5120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2606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El espaciado gobierna el campo de visión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9008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La separación Δk entre codificaciones de fase sucesivas determina el FOV: a menor espaciado, mayor campo de visión.</a:t>
            </a:r>
          </a:p>
        </p:txBody>
      </p:sp>
      <p:pic>
        <p:nvPicPr>
          <p:cNvPr id="9" name="Picture 8" descr="rings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44112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4480" y="3916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El área cubierta gobierna la resolución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30072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Mantener intacta el área barrida por el espacio-k (de −kmáx a +kmáx) conserva la resolución espacial, aunque cambie el número de líneas adquiridas.</a:t>
            </a:r>
          </a:p>
        </p:txBody>
      </p:sp>
      <p:pic>
        <p:nvPicPr>
          <p:cNvPr id="12" name="Picture 11" descr="ghost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254752"/>
            <a:ext cx="512064" cy="512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522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Muestrear más ancho que 1/FOV produce solapamiento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61136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Si el muestreo discreto del espacio-k incumple el criterio de Nyquist (paso mayor que 1/FOV), la imagen se repliega sobre sí misma: el aliasing.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s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24028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>
                <a:solidFill>
                  <a:srgbClr val="22D3EE"/>
                </a:solidFill>
                <a:latin typeface="Calibri"/>
              </a:rPr>
              <a:t>PARTE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996696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Aceleración por Lectura Parcial y Trayectorias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BA3C7"/>
                </a:solidFill>
                <a:latin typeface="Calibri"/>
              </a:rPr>
              <a:t>Reducir las líneas adquiridas ahorra tiempo — la pregunta es cuáles se omiten y qué efecto tiene cada elección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Adquisición Reducida vs. FOV Rectangular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100" b="1">
                <a:solidFill>
                  <a:srgbClr val="22D3EE"/>
                </a:solidFill>
                <a:latin typeface="Calibri"/>
              </a:rPr>
              <a:t>Adquisición reducida (scan percentage)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512064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Mantiene el espaciado Δk: </a:t>
            </a:r>
            <a:r>
              <a:rPr sz="1350" b="0">
                <a:solidFill>
                  <a:srgbClr val="9BA3C7"/>
                </a:solidFill>
                <a:latin typeface="Calibri"/>
              </a:rPr>
              <a:t>adquiere solo las líneas centrales del espacio-k.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20440"/>
            <a:ext cx="512064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Reduce la resolución espacial: </a:t>
            </a:r>
            <a:r>
              <a:rPr sz="1350" b="0">
                <a:solidFill>
                  <a:srgbClr val="9BA3C7"/>
                </a:solidFill>
                <a:latin typeface="Calibri"/>
              </a:rPr>
              <a:t>se pierde la frecuencia máxima kmáx; el FOV no cambia porque las líneas omitidas se rellenan con ceros.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512064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Artefactos: </a:t>
            </a:r>
            <a:r>
              <a:rPr sz="1350" b="0">
                <a:solidFill>
                  <a:srgbClr val="9BA3C7"/>
                </a:solidFill>
                <a:latin typeface="Calibri"/>
              </a:rPr>
              <a:t>por debajo del 70-80% de adquisición aparecen anillos de Gibbs por el relleno con ceros.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100" b="1">
                <a:solidFill>
                  <a:srgbClr val="8B7CFF"/>
                </a:solidFill>
                <a:latin typeface="Calibri"/>
              </a:rPr>
              <a:t>FOV rectangular (half FOV imaging)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468880"/>
            <a:ext cx="512064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Mantiene el área del espacio-k: </a:t>
            </a:r>
            <a:r>
              <a:rPr sz="1350" b="0">
                <a:solidFill>
                  <a:srgbClr val="9BA3C7"/>
                </a:solidFill>
                <a:latin typeface="Calibri"/>
              </a:rPr>
              <a:t>aumenta el espaciado Δk entre líneas de codificación de fase.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520440"/>
            <a:ext cx="512064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Conserva la resolución espacial: </a:t>
            </a:r>
            <a:r>
              <a:rPr sz="1350" b="0">
                <a:solidFill>
                  <a:srgbClr val="9BA3C7"/>
                </a:solidFill>
                <a:latin typeface="Calibri"/>
              </a:rPr>
              <a:t>se mantiene kmáx; el FOV se reduce en la dirección de codificación de fase.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572000"/>
            <a:ext cx="512064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Riesgo: </a:t>
            </a:r>
            <a:r>
              <a:rPr sz="1350" b="0">
                <a:solidFill>
                  <a:srgbClr val="9BA3C7"/>
                </a:solidFill>
                <a:latin typeface="Calibri"/>
              </a:rPr>
              <a:t>si el sujeto excede el nuevo FOV reducido, aparece solapamiento (aliasing).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Simetría del Espacio-K: Semi-Fourier y Eco Parcial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3454298" cy="411480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rror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94559"/>
            <a:ext cx="566928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2926079"/>
            <a:ext cx="281421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Simetría conjugada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657599"/>
            <a:ext cx="2814218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Los datos en frecuencias espaciales positivas y negativas no son independientes: conociendo la mitad del espacio-k se puede predecir la otra mitad.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698" y="1874519"/>
            <a:ext cx="3454298" cy="411480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zero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738" y="2194559"/>
            <a:ext cx="566928" cy="566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88738" y="2926079"/>
            <a:ext cx="281421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Semi-Fourier (half scan)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8738" y="3657599"/>
            <a:ext cx="2814218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Adquiere poco más de la mitad de las codificaciones de fase y copia el resto por simetría; conserva la resolución espacial pero reduce la RSR y aumenta la sensibilidad al movimiento.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316" y="1874519"/>
            <a:ext cx="3454298" cy="411480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radient_ramp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356" y="2194559"/>
            <a:ext cx="566928" cy="566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7356" y="2926079"/>
            <a:ext cx="281421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Eco parcial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7356" y="3657599"/>
            <a:ext cx="2814218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Aplica la misma simetría en la dirección de lectura, abortando la adquisición del eco a mitad de camino; acorta el TE a costa de la RSR.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Perfiles de Llenado: Controlando el TE Efectivo</a:t>
            </a:r>
          </a:p>
        </p:txBody>
      </p:sp>
      <p:pic>
        <p:nvPicPr>
          <p:cNvPr id="4" name="Picture 3" descr="cartesian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1051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Lineal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6712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Las codificaciones de fase se adquieren de forma secuencial, desde el extremo más negativo hasta el más positivo del espacio-k; el TE efectivo ocurre a mitad de la adquisición.</a:t>
            </a:r>
          </a:p>
        </p:txBody>
      </p:sp>
      <p:pic>
        <p:nvPicPr>
          <p:cNvPr id="7" name="Picture 6" descr="cartesian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99232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2971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Lineal invertido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35584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Igual que el perfil lineal, pero en sentido contrario: primero el extremo positivo y después el negativo.</a:t>
            </a:r>
          </a:p>
        </p:txBody>
      </p:sp>
      <p:pic>
        <p:nvPicPr>
          <p:cNvPr id="10" name="Picture 9" descr="grid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87952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4480" y="4160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Segmentado (multishot)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54456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Adquiere codificaciones de fase intercaladas en varios segmentos por excitación, lo que permite acortar el TE efectivo.</a:t>
            </a:r>
          </a:p>
        </p:txBody>
      </p:sp>
      <p:pic>
        <p:nvPicPr>
          <p:cNvPr id="13" name="Picture 12" descr="rings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376672"/>
            <a:ext cx="512064" cy="51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54480" y="5349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Central o bajo-alto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73328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Adquiere primero las líneas centrales (bajas frecuencias) y después las periféricas (altas frecuencias), minimizando al máximo el TE efectivo.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Trayectorias No Convencionales: Espiral y Radial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272887" cy="411480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iral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285999"/>
            <a:ext cx="777240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3291839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Espiral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931919"/>
            <a:ext cx="444992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BA3C7"/>
                </a:solidFill>
                <a:latin typeface="Calibri"/>
              </a:rPr>
              <a:t>Aplica gradientes senoidales en lectura y codificación de fase con muestreo continuo, comenzando en el centro del espacio-k. Permite un TE muy corto y baja sensibilidad al movimiento, pero exige interpolar los datos a una malla rectangular antes de la Transformada de Fourier.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874519"/>
            <a:ext cx="5272887" cy="411480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adial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207" y="2285999"/>
            <a:ext cx="777240" cy="777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90207" y="3291839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Radial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7" y="3931919"/>
            <a:ext cx="444992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BA3C7"/>
                </a:solidFill>
                <a:latin typeface="Calibri"/>
              </a:rPr>
              <a:t>Cada repetición adquiere una línea que atraviesa el centro del espacio-k, como los radios de una rueda. El centro queda muestreado de forma muy densa (mejor RSR), pero la periferia queda submuestreada (menor resolución), y exige una reconstrucción por proyección más costosa.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Tabla Resumen: Proporcionalidades Clave del Espacio-K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454298" cy="1737360"/>
          </a:xfrm>
          <a:prstGeom prst="roundRect">
            <a:avLst>
              <a:gd name="adj" fmla="val 6000"/>
            </a:avLst>
          </a:prstGeom>
          <a:solidFill>
            <a:srgbClr val="10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997098" cy="1737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2D3EE"/>
                </a:solidFill>
                <a:latin typeface="Consolas"/>
              </a:rPr>
              <a:t>RSR ∝ vóxel × √(tiempo de adquisición)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8698" y="1783080"/>
            <a:ext cx="3454298" cy="1737360"/>
          </a:xfrm>
          <a:prstGeom prst="roundRect">
            <a:avLst>
              <a:gd name="adj" fmla="val 6000"/>
            </a:avLst>
          </a:prstGeom>
          <a:solidFill>
            <a:srgbClr val="10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783080"/>
            <a:ext cx="2997098" cy="1737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2D3EE"/>
                </a:solidFill>
                <a:latin typeface="Consolas"/>
              </a:rPr>
              <a:t>RSR ∝ (tamaño de matriz)^-1.5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7316" y="1783080"/>
            <a:ext cx="3454298" cy="1737360"/>
          </a:xfrm>
          <a:prstGeom prst="roundRect">
            <a:avLst>
              <a:gd name="adj" fmla="val 6000"/>
            </a:avLst>
          </a:prstGeom>
          <a:solidFill>
            <a:srgbClr val="10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5916" y="1783080"/>
            <a:ext cx="2997098" cy="1737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2D3EE"/>
                </a:solidFill>
                <a:latin typeface="Consolas"/>
              </a:rPr>
              <a:t>RSR ∝ FOV^2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59"/>
            <a:ext cx="3454298" cy="1737360"/>
          </a:xfrm>
          <a:prstGeom prst="roundRect">
            <a:avLst>
              <a:gd name="adj" fmla="val 6000"/>
            </a:avLst>
          </a:prstGeom>
          <a:solidFill>
            <a:srgbClr val="10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94759"/>
            <a:ext cx="2997098" cy="1737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2D3EE"/>
                </a:solidFill>
                <a:latin typeface="Consolas"/>
              </a:rPr>
              <a:t>RSR ∝ espesor de corte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3794759"/>
            <a:ext cx="3454298" cy="1737360"/>
          </a:xfrm>
          <a:prstGeom prst="roundRect">
            <a:avLst>
              <a:gd name="adj" fmla="val 6000"/>
            </a:avLst>
          </a:prstGeom>
          <a:solidFill>
            <a:srgbClr val="10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3794759"/>
            <a:ext cx="2997098" cy="1737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2D3EE"/>
                </a:solidFill>
                <a:latin typeface="Consolas"/>
              </a:rPr>
              <a:t>RSR ∝ √NSA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3794759"/>
            <a:ext cx="3454298" cy="1737360"/>
          </a:xfrm>
          <a:prstGeom prst="roundRect">
            <a:avLst>
              <a:gd name="adj" fmla="val 6000"/>
            </a:avLst>
          </a:prstGeom>
          <a:solidFill>
            <a:srgbClr val="10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5916" y="3794759"/>
            <a:ext cx="2997098" cy="1737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2D3EE"/>
                </a:solidFill>
                <a:latin typeface="Consolas"/>
              </a:rPr>
              <a:t>T. adquisición = Nº cod. de fase × TR × NSA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s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20" y="1737360"/>
            <a:ext cx="54864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2331720"/>
            <a:ext cx="987552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La calidad de una imagen de RM no es un accidente: es la huella matemática de cómo se llenó su espacio-k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48056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0">
                <a:solidFill>
                  <a:srgbClr val="22D3EE"/>
                </a:solidFill>
                <a:latin typeface="Calibri"/>
              </a:rPr>
              <a:t>Contraste, resolución, RSR y artefactos — cuatro caras de una misma matriz de frecuencias espaciales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