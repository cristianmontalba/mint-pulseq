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ngs_violet.png"/>
          <p:cNvPicPr>
            <a:picLocks noChangeAspect="1"/>
          </p:cNvPicPr>
          <p:nvPr/>
        </p:nvPicPr>
        <p:blipFill>
          <a:blip r:embed="rId2"/>
          <a:stretch>
            <a:fillRect/>
          </a:stretch>
        </p:blipFill>
        <p:spPr>
          <a:xfrm>
            <a:off x="7452360" y="1234440"/>
            <a:ext cx="4480560" cy="4480560"/>
          </a:xfrm>
          <a:prstGeom prst="rect">
            <a:avLst/>
          </a:prstGeom>
        </p:spPr>
      </p:pic>
      <p:pic>
        <p:nvPicPr>
          <p:cNvPr id="4" name="Picture 3" descr="rings_cyan.png"/>
          <p:cNvPicPr>
            <a:picLocks noChangeAspect="1"/>
          </p:cNvPicPr>
          <p:nvPr/>
        </p:nvPicPr>
        <p:blipFill>
          <a:blip r:embed="rId3"/>
          <a:stretch>
            <a:fillRect/>
          </a:stretch>
        </p:blipFill>
        <p:spPr>
          <a:xfrm>
            <a:off x="8732520" y="2514600"/>
            <a:ext cx="1920240" cy="1920240"/>
          </a:xfrm>
          <a:prstGeom prst="rect">
            <a:avLst/>
          </a:prstGeom>
        </p:spPr>
      </p:pic>
      <p:sp>
        <p:nvSpPr>
          <p:cNvPr id="5" name="TextBox 4"/>
          <p:cNvSpPr txBox="1"/>
          <p:nvPr/>
        </p:nvSpPr>
        <p:spPr>
          <a:xfrm>
            <a:off x="777240" y="1783080"/>
            <a:ext cx="6675120" cy="1737360"/>
          </a:xfrm>
          <a:prstGeom prst="rect">
            <a:avLst/>
          </a:prstGeom>
          <a:noFill/>
        </p:spPr>
        <p:txBody>
          <a:bodyPr wrap="square" anchor="t" lIns="0" rIns="0" tIns="0" bIns="0">
            <a:noAutofit/>
          </a:bodyPr>
          <a:lstStyle/>
          <a:p>
            <a:pPr algn="l">
              <a:lnSpc>
                <a:spcPct val="105000"/>
              </a:lnSpc>
            </a:pPr>
            <a:r>
              <a:rPr sz="4200" b="1">
                <a:solidFill>
                  <a:srgbClr val="FFFFFF"/>
                </a:solidFill>
                <a:latin typeface="Calibri"/>
              </a:rPr>
              <a:t>Surcando el Espacio-K</a:t>
            </a:r>
          </a:p>
        </p:txBody>
      </p:sp>
      <p:sp>
        <p:nvSpPr>
          <p:cNvPr id="6" name="TextBox 5"/>
          <p:cNvSpPr txBox="1"/>
          <p:nvPr/>
        </p:nvSpPr>
        <p:spPr>
          <a:xfrm>
            <a:off x="795528" y="2697480"/>
            <a:ext cx="6035040" cy="457200"/>
          </a:xfrm>
          <a:prstGeom prst="rect">
            <a:avLst/>
          </a:prstGeom>
          <a:noFill/>
        </p:spPr>
        <p:txBody>
          <a:bodyPr wrap="square" anchor="t" lIns="0" rIns="0" tIns="0" bIns="0">
            <a:noAutofit/>
          </a:bodyPr>
          <a:lstStyle/>
          <a:p>
            <a:pPr algn="l"/>
            <a:r>
              <a:rPr sz="1400" b="1">
                <a:solidFill>
                  <a:srgbClr val="8B7CFF"/>
                </a:solidFill>
                <a:latin typeface="Calibri"/>
              </a:rPr>
              <a:t>EDICIÓN AVANZADA</a:t>
            </a:r>
          </a:p>
        </p:txBody>
      </p:sp>
      <p:sp>
        <p:nvSpPr>
          <p:cNvPr id="7" name="TextBox 6"/>
          <p:cNvSpPr txBox="1"/>
          <p:nvPr/>
        </p:nvSpPr>
        <p:spPr>
          <a:xfrm>
            <a:off x="822960" y="3246120"/>
            <a:ext cx="6492240" cy="1371600"/>
          </a:xfrm>
          <a:prstGeom prst="rect">
            <a:avLst/>
          </a:prstGeom>
          <a:noFill/>
        </p:spPr>
        <p:txBody>
          <a:bodyPr wrap="square" anchor="t" lIns="0" rIns="0" tIns="0" bIns="0">
            <a:noAutofit/>
          </a:bodyPr>
          <a:lstStyle/>
          <a:p>
            <a:pPr algn="l">
              <a:lnSpc>
                <a:spcPct val="125000"/>
              </a:lnSpc>
            </a:pPr>
            <a:r>
              <a:rPr sz="1700" b="0">
                <a:solidFill>
                  <a:srgbClr val="22D3EE"/>
                </a:solidFill>
                <a:latin typeface="Calibri"/>
              </a:rPr>
              <a:t>Fundamentos cuantitativos, simetría de cuadrantes y aceleración espacio-temporal en RM</a:t>
            </a:r>
          </a:p>
        </p:txBody>
      </p:sp>
      <p:sp>
        <p:nvSpPr>
          <p:cNvPr id="8" name="TextBox 7"/>
          <p:cNvSpPr txBox="1"/>
          <p:nvPr/>
        </p:nvSpPr>
        <p:spPr>
          <a:xfrm>
            <a:off x="822960" y="6035040"/>
            <a:ext cx="9052560" cy="457200"/>
          </a:xfrm>
          <a:prstGeom prst="rect">
            <a:avLst/>
          </a:prstGeom>
          <a:noFill/>
        </p:spPr>
        <p:txBody>
          <a:bodyPr wrap="square" anchor="t" lIns="0" rIns="0" tIns="0" bIns="0">
            <a:noAutofit/>
          </a:bodyPr>
          <a:lstStyle/>
          <a:p>
            <a:pPr algn="l"/>
            <a:r>
              <a:rPr sz="1150" b="0">
                <a:solidFill>
                  <a:srgbClr val="9BA3C7"/>
                </a:solidFill>
                <a:latin typeface="Calibri"/>
              </a:rPr>
              <a:t>Basado en Moratal-Pérez et al., “Surcando el espacio-k para mejorar la imagen por RM”, Radiología 2004;46(3):133-50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ngs_violet.png"/>
          <p:cNvPicPr>
            <a:picLocks noChangeAspect="1"/>
          </p:cNvPicPr>
          <p:nvPr/>
        </p:nvPicPr>
        <p:blipFill>
          <a:blip r:embed="rId2"/>
          <a:stretch>
            <a:fillRect/>
          </a:stretch>
        </p:blipFill>
        <p:spPr>
          <a:xfrm>
            <a:off x="6949440" y="1097280"/>
            <a:ext cx="4754880" cy="4754880"/>
          </a:xfrm>
          <a:prstGeom prst="rect">
            <a:avLst/>
          </a:prstGeom>
        </p:spPr>
      </p:pic>
      <p:sp>
        <p:nvSpPr>
          <p:cNvPr id="4" name="TextBox 3"/>
          <p:cNvSpPr txBox="1"/>
          <p:nvPr/>
        </p:nvSpPr>
        <p:spPr>
          <a:xfrm>
            <a:off x="640080" y="2240280"/>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PARTE 1</a:t>
            </a:r>
          </a:p>
        </p:txBody>
      </p:sp>
      <p:sp>
        <p:nvSpPr>
          <p:cNvPr id="5" name="TextBox 4"/>
          <p:cNvSpPr txBox="1"/>
          <p:nvPr/>
        </p:nvSpPr>
        <p:spPr>
          <a:xfrm>
            <a:off x="640080" y="2606040"/>
            <a:ext cx="9966960" cy="1554480"/>
          </a:xfrm>
          <a:prstGeom prst="rect">
            <a:avLst/>
          </a:prstGeom>
          <a:noFill/>
        </p:spPr>
        <p:txBody>
          <a:bodyPr wrap="square" anchor="t" lIns="0" rIns="0" tIns="0" bIns="0">
            <a:noAutofit/>
          </a:bodyPr>
          <a:lstStyle/>
          <a:p>
            <a:pPr algn="l">
              <a:lnSpc>
                <a:spcPct val="102000"/>
              </a:lnSpc>
            </a:pPr>
            <a:r>
              <a:rPr sz="3400" b="1">
                <a:solidFill>
                  <a:srgbClr val="FFFFFF"/>
                </a:solidFill>
                <a:latin typeface="Calibri"/>
              </a:rPr>
              <a:t>¿Qué es el Espacio-K?</a:t>
            </a:r>
          </a:p>
        </p:txBody>
      </p:sp>
      <p:sp>
        <p:nvSpPr>
          <p:cNvPr id="6" name="TextBox 5"/>
          <p:cNvSpPr txBox="1"/>
          <p:nvPr/>
        </p:nvSpPr>
        <p:spPr>
          <a:xfrm>
            <a:off x="640080" y="4160520"/>
            <a:ext cx="8138160" cy="822960"/>
          </a:xfrm>
          <a:prstGeom prst="rect">
            <a:avLst/>
          </a:prstGeom>
          <a:noFill/>
        </p:spPr>
        <p:txBody>
          <a:bodyPr wrap="square" anchor="t" lIns="0" rIns="0" tIns="0" bIns="0">
            <a:noAutofit/>
          </a:bodyPr>
          <a:lstStyle/>
          <a:p>
            <a:pPr algn="l">
              <a:lnSpc>
                <a:spcPct val="120000"/>
              </a:lnSpc>
            </a:pPr>
            <a:r>
              <a:rPr sz="1500" b="0">
                <a:solidFill>
                  <a:srgbClr val="9BA3C7"/>
                </a:solidFill>
                <a:latin typeface="Calibri"/>
              </a:rPr>
              <a:t>La matriz de datos crudos que precede a la reconstrucción de toda imagen de 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Definición y Estructura del Espacio-K</a:t>
            </a:r>
          </a:p>
        </p:txBody>
      </p:sp>
      <p:sp>
        <p:nvSpPr>
          <p:cNvPr id="4" name="Rounded Rectangle 3"/>
          <p:cNvSpPr/>
          <p:nvPr/>
        </p:nvSpPr>
        <p:spPr>
          <a:xfrm>
            <a:off x="640080" y="1554480"/>
            <a:ext cx="10908792" cy="713232"/>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10451592" cy="713232"/>
          </a:xfrm>
          <a:prstGeom prst="rect">
            <a:avLst/>
          </a:prstGeom>
          <a:noFill/>
        </p:spPr>
        <p:txBody>
          <a:bodyPr wrap="square" anchor="ctr" lIns="0" rIns="0" tIns="0" bIns="0">
            <a:noAutofit/>
          </a:bodyPr>
          <a:lstStyle/>
          <a:p>
            <a:pPr algn="ctr">
              <a:lnSpc>
                <a:spcPct val="125000"/>
              </a:lnSpc>
            </a:pPr>
            <a:r>
              <a:rPr sz="1550" b="0">
                <a:solidFill>
                  <a:srgbClr val="22D3EE"/>
                </a:solidFill>
                <a:latin typeface="Consolas"/>
              </a:rPr>
              <a:t>kx(t) = γ·Gx·t          ky(t) = γ·Gy·t          (γ: razón giromagnética)</a:t>
            </a:r>
          </a:p>
        </p:txBody>
      </p:sp>
      <p:pic>
        <p:nvPicPr>
          <p:cNvPr id="6" name="Picture 5" descr="grid_cyan.png"/>
          <p:cNvPicPr>
            <a:picLocks noChangeAspect="1"/>
          </p:cNvPicPr>
          <p:nvPr/>
        </p:nvPicPr>
        <p:blipFill>
          <a:blip r:embed="rId2"/>
          <a:stretch>
            <a:fillRect/>
          </a:stretch>
        </p:blipFill>
        <p:spPr>
          <a:xfrm>
            <a:off x="640080" y="2542032"/>
            <a:ext cx="512064" cy="512064"/>
          </a:xfrm>
          <a:prstGeom prst="rect">
            <a:avLst/>
          </a:prstGeom>
        </p:spPr>
      </p:pic>
      <p:sp>
        <p:nvSpPr>
          <p:cNvPr id="7" name="TextBox 6"/>
          <p:cNvSpPr txBox="1"/>
          <p:nvPr/>
        </p:nvSpPr>
        <p:spPr>
          <a:xfrm>
            <a:off x="1554480" y="2514600"/>
            <a:ext cx="10058400" cy="365760"/>
          </a:xfrm>
          <a:prstGeom prst="rect">
            <a:avLst/>
          </a:prstGeom>
          <a:noFill/>
        </p:spPr>
        <p:txBody>
          <a:bodyPr wrap="square" anchor="t" lIns="0" rIns="0" tIns="0" bIns="0">
            <a:noAutofit/>
          </a:bodyPr>
          <a:lstStyle/>
          <a:p>
            <a:pPr algn="l"/>
            <a:r>
              <a:rPr sz="1650" b="1">
                <a:solidFill>
                  <a:srgbClr val="FFFFFF"/>
                </a:solidFill>
                <a:latin typeface="Calibri"/>
              </a:rPr>
              <a:t>Una malla de frecuencias espaciales</a:t>
            </a:r>
          </a:p>
        </p:txBody>
      </p:sp>
      <p:sp>
        <p:nvSpPr>
          <p:cNvPr id="8" name="TextBox 7"/>
          <p:cNvSpPr txBox="1"/>
          <p:nvPr/>
        </p:nvSpPr>
        <p:spPr>
          <a:xfrm>
            <a:off x="1554480" y="289864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El espacio-k está formado por las coordenadas kx y ky, denominadas frecuencia espacial y expresadas en ciclos/cm, con una intensidad de señal representada como nivel de gris.</a:t>
            </a:r>
          </a:p>
        </p:txBody>
      </p:sp>
      <p:pic>
        <p:nvPicPr>
          <p:cNvPr id="9" name="Picture 8" descr="arrow_transform_cyan.png"/>
          <p:cNvPicPr>
            <a:picLocks noChangeAspect="1"/>
          </p:cNvPicPr>
          <p:nvPr/>
        </p:nvPicPr>
        <p:blipFill>
          <a:blip r:embed="rId3"/>
          <a:stretch>
            <a:fillRect/>
          </a:stretch>
        </p:blipFill>
        <p:spPr>
          <a:xfrm>
            <a:off x="640080" y="3883152"/>
            <a:ext cx="512064" cy="512064"/>
          </a:xfrm>
          <a:prstGeom prst="rect">
            <a:avLst/>
          </a:prstGeom>
        </p:spPr>
      </p:pic>
      <p:sp>
        <p:nvSpPr>
          <p:cNvPr id="10" name="TextBox 9"/>
          <p:cNvSpPr txBox="1"/>
          <p:nvPr/>
        </p:nvSpPr>
        <p:spPr>
          <a:xfrm>
            <a:off x="1554480" y="3855720"/>
            <a:ext cx="10058400" cy="365760"/>
          </a:xfrm>
          <a:prstGeom prst="rect">
            <a:avLst/>
          </a:prstGeom>
          <a:noFill/>
        </p:spPr>
        <p:txBody>
          <a:bodyPr wrap="square" anchor="t" lIns="0" rIns="0" tIns="0" bIns="0">
            <a:noAutofit/>
          </a:bodyPr>
          <a:lstStyle/>
          <a:p>
            <a:pPr algn="l"/>
            <a:r>
              <a:rPr sz="1650" b="1">
                <a:solidFill>
                  <a:srgbClr val="FFFFFF"/>
                </a:solidFill>
                <a:latin typeface="Calibri"/>
              </a:rPr>
              <a:t>Una relación de uno-a-todos</a:t>
            </a:r>
          </a:p>
        </p:txBody>
      </p:sp>
      <p:sp>
        <p:nvSpPr>
          <p:cNvPr id="11" name="TextBox 10"/>
          <p:cNvSpPr txBox="1"/>
          <p:nvPr/>
        </p:nvSpPr>
        <p:spPr>
          <a:xfrm>
            <a:off x="1554480" y="423976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Cada punto del espacio-k contiene información de todos y cada uno de los píxeles de la imagen, y viceversa; ambos dominios están relacionados mediante la Transformada de Fourier bidimensional (TF 2D).</a:t>
            </a:r>
          </a:p>
        </p:txBody>
      </p:sp>
      <p:pic>
        <p:nvPicPr>
          <p:cNvPr id="12" name="Picture 11" descr="cartesian_cyan.png"/>
          <p:cNvPicPr>
            <a:picLocks noChangeAspect="1"/>
          </p:cNvPicPr>
          <p:nvPr/>
        </p:nvPicPr>
        <p:blipFill>
          <a:blip r:embed="rId4"/>
          <a:stretch>
            <a:fillRect/>
          </a:stretch>
        </p:blipFill>
        <p:spPr>
          <a:xfrm>
            <a:off x="640080" y="5224272"/>
            <a:ext cx="512064" cy="512064"/>
          </a:xfrm>
          <a:prstGeom prst="rect">
            <a:avLst/>
          </a:prstGeom>
        </p:spPr>
      </p:pic>
      <p:sp>
        <p:nvSpPr>
          <p:cNvPr id="13" name="TextBox 12"/>
          <p:cNvSpPr txBox="1"/>
          <p:nvPr/>
        </p:nvSpPr>
        <p:spPr>
          <a:xfrm>
            <a:off x="1554480" y="5196840"/>
            <a:ext cx="10058400" cy="365760"/>
          </a:xfrm>
          <a:prstGeom prst="rect">
            <a:avLst/>
          </a:prstGeom>
          <a:noFill/>
        </p:spPr>
        <p:txBody>
          <a:bodyPr wrap="square" anchor="t" lIns="0" rIns="0" tIns="0" bIns="0">
            <a:noAutofit/>
          </a:bodyPr>
          <a:lstStyle/>
          <a:p>
            <a:pPr algn="l"/>
            <a:r>
              <a:rPr sz="1650" b="1">
                <a:solidFill>
                  <a:srgbClr val="FFFFFF"/>
                </a:solidFill>
                <a:latin typeface="Calibri"/>
              </a:rPr>
              <a:t>El espaciado ∆kx refleja el ancho de banda del receptor</a:t>
            </a:r>
          </a:p>
        </p:txBody>
      </p:sp>
      <p:sp>
        <p:nvSpPr>
          <p:cNvPr id="14" name="TextBox 13"/>
          <p:cNvSpPr txBox="1"/>
          <p:nvPr/>
        </p:nvSpPr>
        <p:spPr>
          <a:xfrm>
            <a:off x="1554480" y="558088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La separación entre puntos en kx es tal que dos líneas en la periferia del FOV describen la frecuencia máxima detectable, conocida como frecuencia de Nyquist, igual al ancho de banda del receptor (en kHz).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Centro vs. Periferia</a:t>
            </a:r>
          </a:p>
        </p:txBody>
      </p:sp>
      <p:pic>
        <p:nvPicPr>
          <p:cNvPr id="4" name="Picture 3" descr="rings_cyan.png"/>
          <p:cNvPicPr>
            <a:picLocks noChangeAspect="1"/>
          </p:cNvPicPr>
          <p:nvPr/>
        </p:nvPicPr>
        <p:blipFill>
          <a:blip r:embed="rId2"/>
          <a:stretch>
            <a:fillRect/>
          </a:stretch>
        </p:blipFill>
        <p:spPr>
          <a:xfrm>
            <a:off x="685800" y="1874519"/>
            <a:ext cx="3566160" cy="3566160"/>
          </a:xfrm>
          <a:prstGeom prst="rect">
            <a:avLst/>
          </a:prstGeom>
        </p:spPr>
      </p:pic>
      <p:sp>
        <p:nvSpPr>
          <p:cNvPr id="5" name="TextBox 4"/>
          <p:cNvSpPr txBox="1"/>
          <p:nvPr/>
        </p:nvSpPr>
        <p:spPr>
          <a:xfrm>
            <a:off x="1417320" y="3246120"/>
            <a:ext cx="2194560" cy="457200"/>
          </a:xfrm>
          <a:prstGeom prst="rect">
            <a:avLst/>
          </a:prstGeom>
          <a:noFill/>
        </p:spPr>
        <p:txBody>
          <a:bodyPr wrap="square" anchor="t" lIns="0" rIns="0" tIns="0" bIns="0">
            <a:noAutofit/>
          </a:bodyPr>
          <a:lstStyle/>
          <a:p>
            <a:pPr algn="ctr"/>
            <a:r>
              <a:rPr sz="1400" b="1">
                <a:solidFill>
                  <a:srgbClr val="FFFFFF"/>
                </a:solidFill>
                <a:latin typeface="Calibri"/>
              </a:rPr>
              <a:t>Centro</a:t>
            </a:r>
          </a:p>
        </p:txBody>
      </p:sp>
      <p:sp>
        <p:nvSpPr>
          <p:cNvPr id="6" name="TextBox 5"/>
          <p:cNvSpPr txBox="1"/>
          <p:nvPr/>
        </p:nvSpPr>
        <p:spPr>
          <a:xfrm>
            <a:off x="457200" y="1600200"/>
            <a:ext cx="4023360" cy="365760"/>
          </a:xfrm>
          <a:prstGeom prst="rect">
            <a:avLst/>
          </a:prstGeom>
          <a:noFill/>
        </p:spPr>
        <p:txBody>
          <a:bodyPr wrap="square" anchor="t" lIns="0" rIns="0" tIns="0" bIns="0">
            <a:noAutofit/>
          </a:bodyPr>
          <a:lstStyle/>
          <a:p>
            <a:pPr algn="ctr"/>
            <a:r>
              <a:rPr sz="1400" b="1">
                <a:solidFill>
                  <a:srgbClr val="9BA3C7"/>
                </a:solidFill>
                <a:latin typeface="Calibri"/>
              </a:rPr>
              <a:t>Periferia</a:t>
            </a:r>
          </a:p>
        </p:txBody>
      </p:sp>
      <p:sp>
        <p:nvSpPr>
          <p:cNvPr id="7" name="TextBox 6"/>
          <p:cNvSpPr txBox="1"/>
          <p:nvPr/>
        </p:nvSpPr>
        <p:spPr>
          <a:xfrm>
            <a:off x="4709160" y="1874519"/>
            <a:ext cx="6858000" cy="457200"/>
          </a:xfrm>
          <a:prstGeom prst="rect">
            <a:avLst/>
          </a:prstGeom>
          <a:noFill/>
        </p:spPr>
        <p:txBody>
          <a:bodyPr wrap="square" anchor="t" lIns="0" rIns="0" tIns="0" bIns="0">
            <a:noAutofit/>
          </a:bodyPr>
          <a:lstStyle/>
          <a:p>
            <a:pPr algn="l"/>
            <a:r>
              <a:rPr sz="2000" b="1">
                <a:solidFill>
                  <a:srgbClr val="22D3EE"/>
                </a:solidFill>
                <a:latin typeface="Calibri"/>
              </a:rPr>
              <a:t>Centro del espacio-k</a:t>
            </a:r>
          </a:p>
        </p:txBody>
      </p:sp>
      <p:sp>
        <p:nvSpPr>
          <p:cNvPr id="8" name="TextBox 7"/>
          <p:cNvSpPr txBox="1"/>
          <p:nvPr/>
        </p:nvSpPr>
        <p:spPr>
          <a:xfrm>
            <a:off x="4709160" y="2395728"/>
            <a:ext cx="6858000" cy="1188720"/>
          </a:xfrm>
          <a:prstGeom prst="rect">
            <a:avLst/>
          </a:prstGeom>
          <a:noFill/>
        </p:spPr>
        <p:txBody>
          <a:bodyPr wrap="square" anchor="t" lIns="0" rIns="0" tIns="0" bIns="0">
            <a:noAutofit/>
          </a:bodyPr>
          <a:lstStyle/>
          <a:p>
            <a:pPr algn="l">
              <a:lnSpc>
                <a:spcPct val="120000"/>
              </a:lnSpc>
            </a:pPr>
            <a:r>
              <a:rPr sz="1450" b="1">
                <a:solidFill>
                  <a:srgbClr val="FFFFFF"/>
                </a:solidFill>
                <a:latin typeface="Calibri"/>
              </a:rPr>
              <a:t>Bajas frecuencias espaciales: </a:t>
            </a:r>
            <a:r>
              <a:rPr sz="1450" b="0">
                <a:solidFill>
                  <a:srgbClr val="9BA3C7"/>
                </a:solidFill>
                <a:latin typeface="Calibri"/>
              </a:rPr>
              <a:t>corresponden a la forma general y al contraste de la imagen.</a:t>
            </a:r>
          </a:p>
        </p:txBody>
      </p:sp>
      <p:sp>
        <p:nvSpPr>
          <p:cNvPr id="9" name="TextBox 8"/>
          <p:cNvSpPr txBox="1"/>
          <p:nvPr/>
        </p:nvSpPr>
        <p:spPr>
          <a:xfrm>
            <a:off x="4709160" y="3703320"/>
            <a:ext cx="6858000" cy="457200"/>
          </a:xfrm>
          <a:prstGeom prst="rect">
            <a:avLst/>
          </a:prstGeom>
          <a:noFill/>
        </p:spPr>
        <p:txBody>
          <a:bodyPr wrap="square" anchor="t" lIns="0" rIns="0" tIns="0" bIns="0">
            <a:noAutofit/>
          </a:bodyPr>
          <a:lstStyle/>
          <a:p>
            <a:pPr algn="l"/>
            <a:r>
              <a:rPr sz="2000" b="1">
                <a:solidFill>
                  <a:srgbClr val="8B7CFF"/>
                </a:solidFill>
                <a:latin typeface="Calibri"/>
              </a:rPr>
              <a:t>Periferia del espacio-k</a:t>
            </a:r>
          </a:p>
        </p:txBody>
      </p:sp>
      <p:sp>
        <p:nvSpPr>
          <p:cNvPr id="10" name="TextBox 9"/>
          <p:cNvSpPr txBox="1"/>
          <p:nvPr/>
        </p:nvSpPr>
        <p:spPr>
          <a:xfrm>
            <a:off x="4709160" y="4224528"/>
            <a:ext cx="6858000" cy="1188720"/>
          </a:xfrm>
          <a:prstGeom prst="rect">
            <a:avLst/>
          </a:prstGeom>
          <a:noFill/>
        </p:spPr>
        <p:txBody>
          <a:bodyPr wrap="square" anchor="t" lIns="0" rIns="0" tIns="0" bIns="0">
            <a:noAutofit/>
          </a:bodyPr>
          <a:lstStyle/>
          <a:p>
            <a:pPr algn="l">
              <a:lnSpc>
                <a:spcPct val="120000"/>
              </a:lnSpc>
            </a:pPr>
            <a:r>
              <a:rPr sz="1450" b="1">
                <a:solidFill>
                  <a:srgbClr val="FFFFFF"/>
                </a:solidFill>
                <a:latin typeface="Calibri"/>
              </a:rPr>
              <a:t>Altas frecuencias espaciales: </a:t>
            </a:r>
            <a:r>
              <a:rPr sz="1450" b="0">
                <a:solidFill>
                  <a:srgbClr val="9BA3C7"/>
                </a:solidFill>
                <a:latin typeface="Calibri"/>
              </a:rPr>
              <a:t>representan los detalles más finos y el borde de los objetos.</a:t>
            </a:r>
          </a:p>
        </p:txBody>
      </p:sp>
      <p:sp>
        <p:nvSpPr>
          <p:cNvPr id="11" name="TextBox 10"/>
          <p:cNvSpPr txBox="1"/>
          <p:nvPr/>
        </p:nvSpPr>
        <p:spPr>
          <a:xfrm>
            <a:off x="4709160" y="5212080"/>
            <a:ext cx="6858000" cy="1005840"/>
          </a:xfrm>
          <a:prstGeom prst="rect">
            <a:avLst/>
          </a:prstGeom>
          <a:noFill/>
        </p:spPr>
        <p:txBody>
          <a:bodyPr wrap="square" anchor="t" lIns="0" rIns="0" tIns="0" bIns="0">
            <a:noAutofit/>
          </a:bodyPr>
          <a:lstStyle/>
          <a:p>
            <a:pPr algn="l">
              <a:lnSpc>
                <a:spcPct val="120000"/>
              </a:lnSpc>
            </a:pPr>
            <a:r>
              <a:rPr sz="1250" b="0">
                <a:solidFill>
                  <a:srgbClr val="9BA3C7"/>
                </a:solidFill>
                <a:latin typeface="Calibri"/>
              </a:rPr>
              <a:t>La distribución de altas o bajas frecuencias depende del contenido de la imagen y de su número de pequeños objetos y detalles.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Los Cuatro Determinantes de la Calidad de Imagen</a:t>
            </a:r>
          </a:p>
        </p:txBody>
      </p:sp>
      <p:sp>
        <p:nvSpPr>
          <p:cNvPr id="4" name="TextBox 3"/>
          <p:cNvSpPr txBox="1"/>
          <p:nvPr/>
        </p:nvSpPr>
        <p:spPr>
          <a:xfrm>
            <a:off x="640080" y="1207008"/>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NO ES POSIBLE MAXIMIZAR LOS CUATRO A LA VEZ: LA CALIDAD DE IMAGEN ES SIEMPRE UN COMPROMISO</a:t>
            </a:r>
          </a:p>
        </p:txBody>
      </p:sp>
      <p:sp>
        <p:nvSpPr>
          <p:cNvPr id="5" name="Rounded Rectangle 4"/>
          <p:cNvSpPr/>
          <p:nvPr/>
        </p:nvSpPr>
        <p:spPr>
          <a:xfrm>
            <a:off x="640080" y="1783080"/>
            <a:ext cx="5394960" cy="210312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ings_cyan.png"/>
          <p:cNvPicPr>
            <a:picLocks noChangeAspect="1"/>
          </p:cNvPicPr>
          <p:nvPr/>
        </p:nvPicPr>
        <p:blipFill>
          <a:blip r:embed="rId2"/>
          <a:stretch>
            <a:fillRect/>
          </a:stretch>
        </p:blipFill>
        <p:spPr>
          <a:xfrm>
            <a:off x="960120" y="2075688"/>
            <a:ext cx="731520" cy="731520"/>
          </a:xfrm>
          <a:prstGeom prst="rect">
            <a:avLst/>
          </a:prstGeom>
        </p:spPr>
      </p:pic>
      <p:sp>
        <p:nvSpPr>
          <p:cNvPr id="7" name="TextBox 6"/>
          <p:cNvSpPr txBox="1"/>
          <p:nvPr/>
        </p:nvSpPr>
        <p:spPr>
          <a:xfrm>
            <a:off x="1920240" y="2075688"/>
            <a:ext cx="3794760" cy="457200"/>
          </a:xfrm>
          <a:prstGeom prst="rect">
            <a:avLst/>
          </a:prstGeom>
          <a:noFill/>
        </p:spPr>
        <p:txBody>
          <a:bodyPr wrap="square" anchor="t" lIns="0" rIns="0" tIns="0" bIns="0">
            <a:noAutofit/>
          </a:bodyPr>
          <a:lstStyle/>
          <a:p>
            <a:pPr algn="l"/>
            <a:r>
              <a:rPr sz="1800" b="1">
                <a:solidFill>
                  <a:srgbClr val="FFFFFF"/>
                </a:solidFill>
                <a:latin typeface="Calibri"/>
              </a:rPr>
              <a:t>Contraste</a:t>
            </a:r>
          </a:p>
        </p:txBody>
      </p:sp>
      <p:sp>
        <p:nvSpPr>
          <p:cNvPr id="8" name="TextBox 7"/>
          <p:cNvSpPr txBox="1"/>
          <p:nvPr/>
        </p:nvSpPr>
        <p:spPr>
          <a:xfrm>
            <a:off x="1920240" y="2532888"/>
            <a:ext cx="3794760" cy="1188720"/>
          </a:xfrm>
          <a:prstGeom prst="rect">
            <a:avLst/>
          </a:prstGeom>
          <a:noFill/>
        </p:spPr>
        <p:txBody>
          <a:bodyPr wrap="square" anchor="t" lIns="0" rIns="0" tIns="0" bIns="0">
            <a:noAutofit/>
          </a:bodyPr>
          <a:lstStyle/>
          <a:p>
            <a:pPr algn="l">
              <a:lnSpc>
                <a:spcPct val="115000"/>
              </a:lnSpc>
            </a:pPr>
            <a:r>
              <a:rPr sz="1200" b="0">
                <a:solidFill>
                  <a:srgbClr val="9BA3C7"/>
                </a:solidFill>
                <a:latin typeface="Calibri"/>
              </a:rPr>
              <a:t>Determinado por las codificaciones de fase centrales del espacio-k y por los parámetros de la secuencia (TR, TE, ángulo de flip).</a:t>
            </a:r>
          </a:p>
        </p:txBody>
      </p:sp>
      <p:sp>
        <p:nvSpPr>
          <p:cNvPr id="9" name="Rounded Rectangle 8"/>
          <p:cNvSpPr/>
          <p:nvPr/>
        </p:nvSpPr>
        <p:spPr>
          <a:xfrm>
            <a:off x="6336792" y="1783080"/>
            <a:ext cx="5394960" cy="210312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id_cyan.png"/>
          <p:cNvPicPr>
            <a:picLocks noChangeAspect="1"/>
          </p:cNvPicPr>
          <p:nvPr/>
        </p:nvPicPr>
        <p:blipFill>
          <a:blip r:embed="rId3"/>
          <a:stretch>
            <a:fillRect/>
          </a:stretch>
        </p:blipFill>
        <p:spPr>
          <a:xfrm>
            <a:off x="6656832" y="2075688"/>
            <a:ext cx="731520" cy="731520"/>
          </a:xfrm>
          <a:prstGeom prst="rect">
            <a:avLst/>
          </a:prstGeom>
        </p:spPr>
      </p:pic>
      <p:sp>
        <p:nvSpPr>
          <p:cNvPr id="11" name="TextBox 10"/>
          <p:cNvSpPr txBox="1"/>
          <p:nvPr/>
        </p:nvSpPr>
        <p:spPr>
          <a:xfrm>
            <a:off x="7616952" y="2075688"/>
            <a:ext cx="3794760" cy="457200"/>
          </a:xfrm>
          <a:prstGeom prst="rect">
            <a:avLst/>
          </a:prstGeom>
          <a:noFill/>
        </p:spPr>
        <p:txBody>
          <a:bodyPr wrap="square" anchor="t" lIns="0" rIns="0" tIns="0" bIns="0">
            <a:noAutofit/>
          </a:bodyPr>
          <a:lstStyle/>
          <a:p>
            <a:pPr algn="l"/>
            <a:r>
              <a:rPr sz="1800" b="1">
                <a:solidFill>
                  <a:srgbClr val="FFFFFF"/>
                </a:solidFill>
                <a:latin typeface="Calibri"/>
              </a:rPr>
              <a:t>Resolución espacial</a:t>
            </a:r>
          </a:p>
        </p:txBody>
      </p:sp>
      <p:sp>
        <p:nvSpPr>
          <p:cNvPr id="12" name="TextBox 11"/>
          <p:cNvSpPr txBox="1"/>
          <p:nvPr/>
        </p:nvSpPr>
        <p:spPr>
          <a:xfrm>
            <a:off x="7616952" y="2532888"/>
            <a:ext cx="3794760" cy="1188720"/>
          </a:xfrm>
          <a:prstGeom prst="rect">
            <a:avLst/>
          </a:prstGeom>
          <a:noFill/>
        </p:spPr>
        <p:txBody>
          <a:bodyPr wrap="square" anchor="t" lIns="0" rIns="0" tIns="0" bIns="0">
            <a:noAutofit/>
          </a:bodyPr>
          <a:lstStyle/>
          <a:p>
            <a:pPr algn="l">
              <a:lnSpc>
                <a:spcPct val="115000"/>
              </a:lnSpc>
            </a:pPr>
            <a:r>
              <a:rPr sz="1200" b="0">
                <a:solidFill>
                  <a:srgbClr val="9BA3C7"/>
                </a:solidFill>
                <a:latin typeface="Calibri"/>
              </a:rPr>
              <a:t>Determinada por la frecuencia espacial máxima cubierta, kmáx; a mayor tamaño de matriz, mayor resolución.</a:t>
            </a:r>
          </a:p>
        </p:txBody>
      </p:sp>
      <p:sp>
        <p:nvSpPr>
          <p:cNvPr id="13" name="Rounded Rectangle 12"/>
          <p:cNvSpPr/>
          <p:nvPr/>
        </p:nvSpPr>
        <p:spPr>
          <a:xfrm>
            <a:off x="640080" y="4123944"/>
            <a:ext cx="5394960" cy="210312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ave_cyan.png"/>
          <p:cNvPicPr>
            <a:picLocks noChangeAspect="1"/>
          </p:cNvPicPr>
          <p:nvPr/>
        </p:nvPicPr>
        <p:blipFill>
          <a:blip r:embed="rId4"/>
          <a:stretch>
            <a:fillRect/>
          </a:stretch>
        </p:blipFill>
        <p:spPr>
          <a:xfrm>
            <a:off x="960120" y="4416552"/>
            <a:ext cx="731520" cy="731520"/>
          </a:xfrm>
          <a:prstGeom prst="rect">
            <a:avLst/>
          </a:prstGeom>
        </p:spPr>
      </p:pic>
      <p:sp>
        <p:nvSpPr>
          <p:cNvPr id="15" name="TextBox 14"/>
          <p:cNvSpPr txBox="1"/>
          <p:nvPr/>
        </p:nvSpPr>
        <p:spPr>
          <a:xfrm>
            <a:off x="1920240" y="4416552"/>
            <a:ext cx="3794760" cy="457200"/>
          </a:xfrm>
          <a:prstGeom prst="rect">
            <a:avLst/>
          </a:prstGeom>
          <a:noFill/>
        </p:spPr>
        <p:txBody>
          <a:bodyPr wrap="square" anchor="t" lIns="0" rIns="0" tIns="0" bIns="0">
            <a:noAutofit/>
          </a:bodyPr>
          <a:lstStyle/>
          <a:p>
            <a:pPr algn="l"/>
            <a:r>
              <a:rPr sz="1800" b="1">
                <a:solidFill>
                  <a:srgbClr val="FFFFFF"/>
                </a:solidFill>
                <a:latin typeface="Calibri"/>
              </a:rPr>
              <a:t>RSR (relación señal-ruido)</a:t>
            </a:r>
          </a:p>
        </p:txBody>
      </p:sp>
      <p:sp>
        <p:nvSpPr>
          <p:cNvPr id="16" name="TextBox 15"/>
          <p:cNvSpPr txBox="1"/>
          <p:nvPr/>
        </p:nvSpPr>
        <p:spPr>
          <a:xfrm>
            <a:off x="1920240" y="4873752"/>
            <a:ext cx="3794760" cy="1188720"/>
          </a:xfrm>
          <a:prstGeom prst="rect">
            <a:avLst/>
          </a:prstGeom>
          <a:noFill/>
        </p:spPr>
        <p:txBody>
          <a:bodyPr wrap="square" anchor="t" lIns="0" rIns="0" tIns="0" bIns="0">
            <a:noAutofit/>
          </a:bodyPr>
          <a:lstStyle/>
          <a:p>
            <a:pPr algn="l">
              <a:lnSpc>
                <a:spcPct val="115000"/>
              </a:lnSpc>
            </a:pPr>
            <a:r>
              <a:rPr sz="1200" b="0">
                <a:solidFill>
                  <a:srgbClr val="9BA3C7"/>
                </a:solidFill>
                <a:latin typeface="Calibri"/>
              </a:rPr>
              <a:t>Proporcional al volumen del vóxel y a la raíz cuadrada del tiempo de adquisición.</a:t>
            </a:r>
          </a:p>
        </p:txBody>
      </p:sp>
      <p:sp>
        <p:nvSpPr>
          <p:cNvPr id="17" name="Rounded Rectangle 16"/>
          <p:cNvSpPr/>
          <p:nvPr/>
        </p:nvSpPr>
        <p:spPr>
          <a:xfrm>
            <a:off x="6336792" y="4123944"/>
            <a:ext cx="5394960" cy="210312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host_cyan.png"/>
          <p:cNvPicPr>
            <a:picLocks noChangeAspect="1"/>
          </p:cNvPicPr>
          <p:nvPr/>
        </p:nvPicPr>
        <p:blipFill>
          <a:blip r:embed="rId5"/>
          <a:stretch>
            <a:fillRect/>
          </a:stretch>
        </p:blipFill>
        <p:spPr>
          <a:xfrm>
            <a:off x="6656832" y="4416552"/>
            <a:ext cx="731520" cy="731520"/>
          </a:xfrm>
          <a:prstGeom prst="rect">
            <a:avLst/>
          </a:prstGeom>
        </p:spPr>
      </p:pic>
      <p:sp>
        <p:nvSpPr>
          <p:cNvPr id="19" name="TextBox 18"/>
          <p:cNvSpPr txBox="1"/>
          <p:nvPr/>
        </p:nvSpPr>
        <p:spPr>
          <a:xfrm>
            <a:off x="7616952" y="4416552"/>
            <a:ext cx="3794760" cy="457200"/>
          </a:xfrm>
          <a:prstGeom prst="rect">
            <a:avLst/>
          </a:prstGeom>
          <a:noFill/>
        </p:spPr>
        <p:txBody>
          <a:bodyPr wrap="square" anchor="t" lIns="0" rIns="0" tIns="0" bIns="0">
            <a:noAutofit/>
          </a:bodyPr>
          <a:lstStyle/>
          <a:p>
            <a:pPr algn="l"/>
            <a:r>
              <a:rPr sz="1800" b="1">
                <a:solidFill>
                  <a:srgbClr val="FFFFFF"/>
                </a:solidFill>
                <a:latin typeface="Calibri"/>
              </a:rPr>
              <a:t>Ausencia de artefactos</a:t>
            </a:r>
          </a:p>
        </p:txBody>
      </p:sp>
      <p:sp>
        <p:nvSpPr>
          <p:cNvPr id="20" name="TextBox 19"/>
          <p:cNvSpPr txBox="1"/>
          <p:nvPr/>
        </p:nvSpPr>
        <p:spPr>
          <a:xfrm>
            <a:off x="7616952" y="4873752"/>
            <a:ext cx="3794760" cy="1188720"/>
          </a:xfrm>
          <a:prstGeom prst="rect">
            <a:avLst/>
          </a:prstGeom>
          <a:noFill/>
        </p:spPr>
        <p:txBody>
          <a:bodyPr wrap="square" anchor="t" lIns="0" rIns="0" tIns="0" bIns="0">
            <a:noAutofit/>
          </a:bodyPr>
          <a:lstStyle/>
          <a:p>
            <a:pPr algn="l">
              <a:lnSpc>
                <a:spcPct val="115000"/>
              </a:lnSpc>
            </a:pPr>
            <a:r>
              <a:rPr sz="1200" b="0">
                <a:solidFill>
                  <a:srgbClr val="9BA3C7"/>
                </a:solidFill>
                <a:latin typeface="Calibri"/>
              </a:rPr>
              <a:t>Depende de cómo se muestrea el espacio-k: truncamiento, solapamiento, movimiento y simetría de los datos.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Caso de Estudio: la Adquisición Real del Artículo</a:t>
            </a:r>
          </a:p>
        </p:txBody>
      </p:sp>
      <p:sp>
        <p:nvSpPr>
          <p:cNvPr id="4" name="TextBox 3"/>
          <p:cNvSpPr txBox="1"/>
          <p:nvPr/>
        </p:nvSpPr>
        <p:spPr>
          <a:xfrm>
            <a:off x="640080" y="1207008"/>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LOS EJEMPLOS DEL ARTÍCULO ORIGINAL SE CALCULARON SOBRE ESTA ADQUISICIÓN CARDÍACA</a:t>
            </a:r>
          </a:p>
        </p:txBody>
      </p:sp>
      <p:sp>
        <p:nvSpPr>
          <p:cNvPr id="5" name="Rounded Rectangle 4"/>
          <p:cNvSpPr/>
          <p:nvPr/>
        </p:nvSpPr>
        <p:spPr>
          <a:xfrm>
            <a:off x="640080" y="1783080"/>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Secuencia: balanced FFE (bFFE)</a:t>
            </a:r>
          </a:p>
        </p:txBody>
      </p:sp>
      <p:sp>
        <p:nvSpPr>
          <p:cNvPr id="7" name="Rounded Rectangle 6"/>
          <p:cNvSpPr/>
          <p:nvPr/>
        </p:nvSpPr>
        <p:spPr>
          <a:xfrm>
            <a:off x="4368698" y="1783080"/>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783080"/>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256 codificaciones de fase</a:t>
            </a:r>
          </a:p>
        </p:txBody>
      </p:sp>
      <p:sp>
        <p:nvSpPr>
          <p:cNvPr id="9" name="Rounded Rectangle 8"/>
          <p:cNvSpPr/>
          <p:nvPr/>
        </p:nvSpPr>
        <p:spPr>
          <a:xfrm>
            <a:off x="8097316" y="1783080"/>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5916" y="1783080"/>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TR = 3,5 ms  ·  TE = 1,7 ms</a:t>
            </a:r>
          </a:p>
        </p:txBody>
      </p:sp>
      <p:sp>
        <p:nvSpPr>
          <p:cNvPr id="11" name="Rounded Rectangle 10"/>
          <p:cNvSpPr/>
          <p:nvPr/>
        </p:nvSpPr>
        <p:spPr>
          <a:xfrm>
            <a:off x="640080" y="3794759"/>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94759"/>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Flip angle = 60°</a:t>
            </a:r>
          </a:p>
        </p:txBody>
      </p:sp>
      <p:sp>
        <p:nvSpPr>
          <p:cNvPr id="13" name="Rounded Rectangle 12"/>
          <p:cNvSpPr/>
          <p:nvPr/>
        </p:nvSpPr>
        <p:spPr>
          <a:xfrm>
            <a:off x="4368698" y="3794759"/>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3794759"/>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FOV = 350 mm</a:t>
            </a:r>
          </a:p>
        </p:txBody>
      </p:sp>
      <p:sp>
        <p:nvSpPr>
          <p:cNvPr id="15" name="Rounded Rectangle 14"/>
          <p:cNvSpPr/>
          <p:nvPr/>
        </p:nvSpPr>
        <p:spPr>
          <a:xfrm>
            <a:off x="8097316" y="3794759"/>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5916" y="3794759"/>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12 fases cardíacas · bobina de array de 5 elementos</a:t>
            </a:r>
          </a:p>
        </p:txBody>
      </p:sp>
      <p:sp>
        <p:nvSpPr>
          <p:cNvPr id="17" name="TextBox 16"/>
          <p:cNvSpPr txBox="1"/>
          <p:nvPr/>
        </p:nvSpPr>
        <p:spPr>
          <a:xfrm>
            <a:off x="640080" y="5623560"/>
            <a:ext cx="10881360" cy="822960"/>
          </a:xfrm>
          <a:prstGeom prst="rect">
            <a:avLst/>
          </a:prstGeom>
          <a:noFill/>
        </p:spPr>
        <p:txBody>
          <a:bodyPr wrap="square" anchor="t" lIns="0" rIns="0" tIns="0" bIns="0">
            <a:noAutofit/>
          </a:bodyPr>
          <a:lstStyle/>
          <a:p>
            <a:pPr algn="l">
              <a:lnSpc>
                <a:spcPct val="120000"/>
              </a:lnSpc>
            </a:pPr>
            <a:r>
              <a:rPr sz="1250" b="0">
                <a:solidFill>
                  <a:srgbClr val="9BA3C7"/>
                </a:solidFill>
                <a:latin typeface="Calibri"/>
              </a:rPr>
              <a:t>Equipo Philips Gyroscan Intera. Los datos brutos se procesaron en MATLAB 6.5 para simular filtrado, ruido y selección de codificaciones de fase sobre este mismo espacio-k.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ngs_violet.png"/>
          <p:cNvPicPr>
            <a:picLocks noChangeAspect="1"/>
          </p:cNvPicPr>
          <p:nvPr/>
        </p:nvPicPr>
        <p:blipFill>
          <a:blip r:embed="rId2"/>
          <a:stretch>
            <a:fillRect/>
          </a:stretch>
        </p:blipFill>
        <p:spPr>
          <a:xfrm>
            <a:off x="6949440" y="1097280"/>
            <a:ext cx="4754880" cy="4754880"/>
          </a:xfrm>
          <a:prstGeom prst="rect">
            <a:avLst/>
          </a:prstGeom>
        </p:spPr>
      </p:pic>
      <p:sp>
        <p:nvSpPr>
          <p:cNvPr id="4" name="TextBox 3"/>
          <p:cNvSpPr txBox="1"/>
          <p:nvPr/>
        </p:nvSpPr>
        <p:spPr>
          <a:xfrm>
            <a:off x="640080" y="2240280"/>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PARTE 2</a:t>
            </a:r>
          </a:p>
        </p:txBody>
      </p:sp>
      <p:sp>
        <p:nvSpPr>
          <p:cNvPr id="5" name="TextBox 4"/>
          <p:cNvSpPr txBox="1"/>
          <p:nvPr/>
        </p:nvSpPr>
        <p:spPr>
          <a:xfrm>
            <a:off x="640080" y="2606040"/>
            <a:ext cx="9966960" cy="1554480"/>
          </a:xfrm>
          <a:prstGeom prst="rect">
            <a:avLst/>
          </a:prstGeom>
          <a:noFill/>
        </p:spPr>
        <p:txBody>
          <a:bodyPr wrap="square" anchor="t" lIns="0" rIns="0" tIns="0" bIns="0">
            <a:noAutofit/>
          </a:bodyPr>
          <a:lstStyle/>
          <a:p>
            <a:pPr algn="l">
              <a:lnSpc>
                <a:spcPct val="102000"/>
              </a:lnSpc>
            </a:pPr>
            <a:r>
              <a:rPr sz="3400" b="1">
                <a:solidFill>
                  <a:srgbClr val="FFFFFF"/>
                </a:solidFill>
                <a:latin typeface="Calibri"/>
              </a:rPr>
              <a:t>El Compromiso Cuantitativo: Vóxel, FOV y Matriz</a:t>
            </a:r>
          </a:p>
        </p:txBody>
      </p:sp>
      <p:sp>
        <p:nvSpPr>
          <p:cNvPr id="6" name="TextBox 5"/>
          <p:cNvSpPr txBox="1"/>
          <p:nvPr/>
        </p:nvSpPr>
        <p:spPr>
          <a:xfrm>
            <a:off x="640080" y="4160520"/>
            <a:ext cx="8138160" cy="822960"/>
          </a:xfrm>
          <a:prstGeom prst="rect">
            <a:avLst/>
          </a:prstGeom>
          <a:noFill/>
        </p:spPr>
        <p:txBody>
          <a:bodyPr wrap="square" anchor="t" lIns="0" rIns="0" tIns="0" bIns="0">
            <a:noAutofit/>
          </a:bodyPr>
          <a:lstStyle/>
          <a:p>
            <a:pPr algn="l">
              <a:lnSpc>
                <a:spcPct val="120000"/>
              </a:lnSpc>
            </a:pPr>
            <a:r>
              <a:rPr sz="1500" b="0">
                <a:solidFill>
                  <a:srgbClr val="9BA3C7"/>
                </a:solidFill>
                <a:latin typeface="Calibri"/>
              </a:rPr>
              <a:t>Tiempo de adquisición, resolución espacial y RSR están matemáticamente ligados a un mismo parámetro: el tamaño de la matriz de datos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Tamaño de Píxel y Vóxel</a:t>
            </a:r>
          </a:p>
        </p:txBody>
      </p:sp>
      <p:sp>
        <p:nvSpPr>
          <p:cNvPr id="4" name="Rounded Rectangle 3"/>
          <p:cNvSpPr/>
          <p:nvPr/>
        </p:nvSpPr>
        <p:spPr>
          <a:xfrm>
            <a:off x="640080" y="1554480"/>
            <a:ext cx="10908792" cy="86868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10451592" cy="868680"/>
          </a:xfrm>
          <a:prstGeom prst="rect">
            <a:avLst/>
          </a:prstGeom>
          <a:noFill/>
        </p:spPr>
        <p:txBody>
          <a:bodyPr wrap="square" anchor="ctr" lIns="0" rIns="0" tIns="0" bIns="0">
            <a:noAutofit/>
          </a:bodyPr>
          <a:lstStyle/>
          <a:p>
            <a:pPr algn="ctr">
              <a:lnSpc>
                <a:spcPct val="125000"/>
              </a:lnSpc>
            </a:pPr>
            <a:r>
              <a:rPr sz="1450" b="0">
                <a:solidFill>
                  <a:srgbClr val="22D3EE"/>
                </a:solidFill>
                <a:latin typeface="Consolas"/>
              </a:rPr>
              <a:t>tamaño del píxel = FOVx · FOVy / (kx_máx · ky_máx)      tamaño del vóxel = espesor de corte × tamaño del píxel</a:t>
            </a:r>
          </a:p>
        </p:txBody>
      </p:sp>
      <p:pic>
        <p:nvPicPr>
          <p:cNvPr id="6" name="Picture 5" descr="wave_cyan.png"/>
          <p:cNvPicPr>
            <a:picLocks noChangeAspect="1"/>
          </p:cNvPicPr>
          <p:nvPr/>
        </p:nvPicPr>
        <p:blipFill>
          <a:blip r:embed="rId2"/>
          <a:stretch>
            <a:fillRect/>
          </a:stretch>
        </p:blipFill>
        <p:spPr>
          <a:xfrm>
            <a:off x="640080" y="2679192"/>
            <a:ext cx="512064" cy="512064"/>
          </a:xfrm>
          <a:prstGeom prst="rect">
            <a:avLst/>
          </a:prstGeom>
        </p:spPr>
      </p:pic>
      <p:sp>
        <p:nvSpPr>
          <p:cNvPr id="7" name="TextBox 6"/>
          <p:cNvSpPr txBox="1"/>
          <p:nvPr/>
        </p:nvSpPr>
        <p:spPr>
          <a:xfrm>
            <a:off x="1554480" y="2651760"/>
            <a:ext cx="10058400" cy="365760"/>
          </a:xfrm>
          <a:prstGeom prst="rect">
            <a:avLst/>
          </a:prstGeom>
          <a:noFill/>
        </p:spPr>
        <p:txBody>
          <a:bodyPr wrap="square" anchor="t" lIns="0" rIns="0" tIns="0" bIns="0">
            <a:noAutofit/>
          </a:bodyPr>
          <a:lstStyle/>
          <a:p>
            <a:pPr algn="l"/>
            <a:r>
              <a:rPr sz="1650" b="1">
                <a:solidFill>
                  <a:srgbClr val="FFFFFF"/>
                </a:solidFill>
                <a:latin typeface="Calibri"/>
              </a:rPr>
              <a:t>La intensidad de un píxel refleja su contenido</a:t>
            </a:r>
          </a:p>
        </p:txBody>
      </p:sp>
      <p:sp>
        <p:nvSpPr>
          <p:cNvPr id="8" name="TextBox 7"/>
          <p:cNvSpPr txBox="1"/>
          <p:nvPr/>
        </p:nvSpPr>
        <p:spPr>
          <a:xfrm>
            <a:off x="1554480" y="303580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La intensidad de un píxel es proporcional al número de núcleos excitados en su vóxel correspondiente; por tanto, la RSR es proporcional al volumen del vóxel.</a:t>
            </a:r>
          </a:p>
        </p:txBody>
      </p:sp>
      <p:pic>
        <p:nvPicPr>
          <p:cNvPr id="9" name="Picture 8" descr="grid_cyan.png"/>
          <p:cNvPicPr>
            <a:picLocks noChangeAspect="1"/>
          </p:cNvPicPr>
          <p:nvPr/>
        </p:nvPicPr>
        <p:blipFill>
          <a:blip r:embed="rId3"/>
          <a:stretch>
            <a:fillRect/>
          </a:stretch>
        </p:blipFill>
        <p:spPr>
          <a:xfrm>
            <a:off x="640080" y="3974592"/>
            <a:ext cx="512064" cy="512064"/>
          </a:xfrm>
          <a:prstGeom prst="rect">
            <a:avLst/>
          </a:prstGeom>
        </p:spPr>
      </p:pic>
      <p:sp>
        <p:nvSpPr>
          <p:cNvPr id="10" name="TextBox 9"/>
          <p:cNvSpPr txBox="1"/>
          <p:nvPr/>
        </p:nvSpPr>
        <p:spPr>
          <a:xfrm>
            <a:off x="1554480" y="3947160"/>
            <a:ext cx="10058400" cy="365760"/>
          </a:xfrm>
          <a:prstGeom prst="rect">
            <a:avLst/>
          </a:prstGeom>
          <a:noFill/>
        </p:spPr>
        <p:txBody>
          <a:bodyPr wrap="square" anchor="t" lIns="0" rIns="0" tIns="0" bIns="0">
            <a:noAutofit/>
          </a:bodyPr>
          <a:lstStyle/>
          <a:p>
            <a:pPr algn="l"/>
            <a:r>
              <a:rPr sz="1650" b="1">
                <a:solidFill>
                  <a:srgbClr val="FFFFFF"/>
                </a:solidFill>
                <a:latin typeface="Calibri"/>
              </a:rPr>
              <a:t>Matrices más grandes, píxeles más pequeños</a:t>
            </a:r>
          </a:p>
        </p:txBody>
      </p:sp>
      <p:sp>
        <p:nvSpPr>
          <p:cNvPr id="11" name="TextBox 10"/>
          <p:cNvSpPr txBox="1"/>
          <p:nvPr/>
        </p:nvSpPr>
        <p:spPr>
          <a:xfrm>
            <a:off x="1554480" y="433120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Cuanto mayor es la frecuencia espacial máxima cubierta por el espacio-k, menor es el tamaño de píxel resultante y mayor la resolución espacial.</a:t>
            </a:r>
          </a:p>
        </p:txBody>
      </p:sp>
      <p:pic>
        <p:nvPicPr>
          <p:cNvPr id="12" name="Picture 11" descr="gradient_ramp_cyan.png"/>
          <p:cNvPicPr>
            <a:picLocks noChangeAspect="1"/>
          </p:cNvPicPr>
          <p:nvPr/>
        </p:nvPicPr>
        <p:blipFill>
          <a:blip r:embed="rId4"/>
          <a:stretch>
            <a:fillRect/>
          </a:stretch>
        </p:blipFill>
        <p:spPr>
          <a:xfrm>
            <a:off x="640080" y="5269992"/>
            <a:ext cx="512064" cy="512064"/>
          </a:xfrm>
          <a:prstGeom prst="rect">
            <a:avLst/>
          </a:prstGeom>
        </p:spPr>
      </p:pic>
      <p:sp>
        <p:nvSpPr>
          <p:cNvPr id="13" name="TextBox 12"/>
          <p:cNvSpPr txBox="1"/>
          <p:nvPr/>
        </p:nvSpPr>
        <p:spPr>
          <a:xfrm>
            <a:off x="1554480" y="5242560"/>
            <a:ext cx="10058400" cy="365760"/>
          </a:xfrm>
          <a:prstGeom prst="rect">
            <a:avLst/>
          </a:prstGeom>
          <a:noFill/>
        </p:spPr>
        <p:txBody>
          <a:bodyPr wrap="square" anchor="t" lIns="0" rIns="0" tIns="0" bIns="0">
            <a:noAutofit/>
          </a:bodyPr>
          <a:lstStyle/>
          <a:p>
            <a:pPr algn="l"/>
            <a:r>
              <a:rPr sz="1650" b="1">
                <a:solidFill>
                  <a:srgbClr val="FFFFFF"/>
                </a:solidFill>
                <a:latin typeface="Calibri"/>
              </a:rPr>
              <a:t>Más resolución siempre cuesta tiempo</a:t>
            </a:r>
          </a:p>
        </p:txBody>
      </p:sp>
      <p:sp>
        <p:nvSpPr>
          <p:cNvPr id="14" name="TextBox 13"/>
          <p:cNvSpPr txBox="1"/>
          <p:nvPr/>
        </p:nvSpPr>
        <p:spPr>
          <a:xfrm>
            <a:off x="1554480" y="562660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Adquirir más datos del espacio-k para aumentar la resolución implica necesariamente un mayor tiempo de adquisición.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500" b="1">
                <a:solidFill>
                  <a:srgbClr val="FFFFFF"/>
                </a:solidFill>
                <a:latin typeface="Calibri"/>
              </a:rPr>
              <a:t>Tres Palancas, Un Compromiso</a:t>
            </a:r>
          </a:p>
        </p:txBody>
      </p:sp>
      <p:sp>
        <p:nvSpPr>
          <p:cNvPr id="4" name="TextBox 3"/>
          <p:cNvSpPr txBox="1"/>
          <p:nvPr/>
        </p:nvSpPr>
        <p:spPr>
          <a:xfrm>
            <a:off x="640080" y="1207008"/>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CON LOS VALORES REALES REPORTADOS EN EL ARTÍCULO (MATRIZ 256×256 COMO REFERENCIA)</a:t>
            </a:r>
          </a:p>
        </p:txBody>
      </p:sp>
      <p:sp>
        <p:nvSpPr>
          <p:cNvPr id="5" name="Rounded Rectangle 4"/>
          <p:cNvSpPr/>
          <p:nvPr/>
        </p:nvSpPr>
        <p:spPr>
          <a:xfrm>
            <a:off x="640080" y="1874519"/>
            <a:ext cx="3454298" cy="411480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dient_ramp_cyan.png"/>
          <p:cNvPicPr>
            <a:picLocks noChangeAspect="1"/>
          </p:cNvPicPr>
          <p:nvPr/>
        </p:nvPicPr>
        <p:blipFill>
          <a:blip r:embed="rId2"/>
          <a:stretch>
            <a:fillRect/>
          </a:stretch>
        </p:blipFill>
        <p:spPr>
          <a:xfrm>
            <a:off x="960120" y="2194559"/>
            <a:ext cx="566928" cy="566928"/>
          </a:xfrm>
          <a:prstGeom prst="rect">
            <a:avLst/>
          </a:prstGeom>
        </p:spPr>
      </p:pic>
      <p:sp>
        <p:nvSpPr>
          <p:cNvPr id="7" name="TextBox 6"/>
          <p:cNvSpPr txBox="1"/>
          <p:nvPr/>
        </p:nvSpPr>
        <p:spPr>
          <a:xfrm>
            <a:off x="960120" y="2926079"/>
            <a:ext cx="2814218" cy="685800"/>
          </a:xfrm>
          <a:prstGeom prst="rect">
            <a:avLst/>
          </a:prstGeom>
          <a:noFill/>
        </p:spPr>
        <p:txBody>
          <a:bodyPr wrap="square" anchor="t" lIns="0" rIns="0" tIns="0" bIns="0">
            <a:noAutofit/>
          </a:bodyPr>
          <a:lstStyle/>
          <a:p>
            <a:pPr algn="l">
              <a:lnSpc>
                <a:spcPct val="105000"/>
              </a:lnSpc>
            </a:pPr>
            <a:r>
              <a:rPr sz="1800" b="1">
                <a:solidFill>
                  <a:srgbClr val="FFFFFF"/>
                </a:solidFill>
                <a:latin typeface="Calibri"/>
              </a:rPr>
              <a:t>Espesor de corte: 3 mm → 10 mm</a:t>
            </a:r>
          </a:p>
        </p:txBody>
      </p:sp>
      <p:sp>
        <p:nvSpPr>
          <p:cNvPr id="8" name="TextBox 7"/>
          <p:cNvSpPr txBox="1"/>
          <p:nvPr/>
        </p:nvSpPr>
        <p:spPr>
          <a:xfrm>
            <a:off x="960120" y="3657599"/>
            <a:ext cx="2814218" cy="2103120"/>
          </a:xfrm>
          <a:prstGeom prst="rect">
            <a:avLst/>
          </a:prstGeom>
          <a:noFill/>
        </p:spPr>
        <p:txBody>
          <a:bodyPr wrap="square" anchor="t" lIns="0" rIns="0" tIns="0" bIns="0">
            <a:noAutofit/>
          </a:bodyPr>
          <a:lstStyle/>
          <a:p>
            <a:pPr algn="l">
              <a:lnSpc>
                <a:spcPct val="118000"/>
              </a:lnSpc>
            </a:pPr>
            <a:r>
              <a:rPr sz="1250" b="0">
                <a:solidFill>
                  <a:srgbClr val="9BA3C7"/>
                </a:solidFill>
                <a:latin typeface="Calibri"/>
              </a:rPr>
              <a:t>RSR 100% → 333% (mejora lineal). A cambio, disminuye la resolución espacial y aumentan el efecto de volumen parcial y los artefactos de susceptibilidad.</a:t>
            </a:r>
          </a:p>
        </p:txBody>
      </p:sp>
      <p:sp>
        <p:nvSpPr>
          <p:cNvPr id="9" name="Rounded Rectangle 8"/>
          <p:cNvSpPr/>
          <p:nvPr/>
        </p:nvSpPr>
        <p:spPr>
          <a:xfrm>
            <a:off x="4368698" y="1874519"/>
            <a:ext cx="3454298" cy="411480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ings_cyan.png"/>
          <p:cNvPicPr>
            <a:picLocks noChangeAspect="1"/>
          </p:cNvPicPr>
          <p:nvPr/>
        </p:nvPicPr>
        <p:blipFill>
          <a:blip r:embed="rId3"/>
          <a:stretch>
            <a:fillRect/>
          </a:stretch>
        </p:blipFill>
        <p:spPr>
          <a:xfrm>
            <a:off x="4688738" y="2194559"/>
            <a:ext cx="566928" cy="566928"/>
          </a:xfrm>
          <a:prstGeom prst="rect">
            <a:avLst/>
          </a:prstGeom>
        </p:spPr>
      </p:pic>
      <p:sp>
        <p:nvSpPr>
          <p:cNvPr id="11" name="TextBox 10"/>
          <p:cNvSpPr txBox="1"/>
          <p:nvPr/>
        </p:nvSpPr>
        <p:spPr>
          <a:xfrm>
            <a:off x="4688738" y="2926079"/>
            <a:ext cx="2814218" cy="685800"/>
          </a:xfrm>
          <a:prstGeom prst="rect">
            <a:avLst/>
          </a:prstGeom>
          <a:noFill/>
        </p:spPr>
        <p:txBody>
          <a:bodyPr wrap="square" anchor="t" lIns="0" rIns="0" tIns="0" bIns="0">
            <a:noAutofit/>
          </a:bodyPr>
          <a:lstStyle/>
          <a:p>
            <a:pPr algn="l">
              <a:lnSpc>
                <a:spcPct val="105000"/>
              </a:lnSpc>
            </a:pPr>
            <a:r>
              <a:rPr sz="1800" b="1">
                <a:solidFill>
                  <a:srgbClr val="FFFFFF"/>
                </a:solidFill>
                <a:latin typeface="Calibri"/>
              </a:rPr>
              <a:t>FOV: 250 mm → 350 mm</a:t>
            </a:r>
          </a:p>
        </p:txBody>
      </p:sp>
      <p:sp>
        <p:nvSpPr>
          <p:cNvPr id="12" name="TextBox 11"/>
          <p:cNvSpPr txBox="1"/>
          <p:nvPr/>
        </p:nvSpPr>
        <p:spPr>
          <a:xfrm>
            <a:off x="4688738" y="3657599"/>
            <a:ext cx="2814218" cy="2103120"/>
          </a:xfrm>
          <a:prstGeom prst="rect">
            <a:avLst/>
          </a:prstGeom>
          <a:noFill/>
        </p:spPr>
        <p:txBody>
          <a:bodyPr wrap="square" anchor="t" lIns="0" rIns="0" tIns="0" bIns="0">
            <a:noAutofit/>
          </a:bodyPr>
          <a:lstStyle/>
          <a:p>
            <a:pPr algn="l">
              <a:lnSpc>
                <a:spcPct val="118000"/>
              </a:lnSpc>
            </a:pPr>
            <a:r>
              <a:rPr sz="1250" b="0">
                <a:solidFill>
                  <a:srgbClr val="9BA3C7"/>
                </a:solidFill>
                <a:latin typeface="Calibri"/>
              </a:rPr>
              <a:t>RSR 100% → 196% (proporcional al FOV²) y se reduce el solapamiento. A cambio, aumenta el tamaño de píxel y cae la resolución espacial.</a:t>
            </a:r>
          </a:p>
        </p:txBody>
      </p:sp>
      <p:sp>
        <p:nvSpPr>
          <p:cNvPr id="13" name="Rounded Rectangle 12"/>
          <p:cNvSpPr/>
          <p:nvPr/>
        </p:nvSpPr>
        <p:spPr>
          <a:xfrm>
            <a:off x="8097316" y="1874519"/>
            <a:ext cx="3454298" cy="411480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rid_cyan.png"/>
          <p:cNvPicPr>
            <a:picLocks noChangeAspect="1"/>
          </p:cNvPicPr>
          <p:nvPr/>
        </p:nvPicPr>
        <p:blipFill>
          <a:blip r:embed="rId4"/>
          <a:stretch>
            <a:fillRect/>
          </a:stretch>
        </p:blipFill>
        <p:spPr>
          <a:xfrm>
            <a:off x="8417356" y="2194559"/>
            <a:ext cx="566928" cy="566928"/>
          </a:xfrm>
          <a:prstGeom prst="rect">
            <a:avLst/>
          </a:prstGeom>
        </p:spPr>
      </p:pic>
      <p:sp>
        <p:nvSpPr>
          <p:cNvPr id="15" name="TextBox 14"/>
          <p:cNvSpPr txBox="1"/>
          <p:nvPr/>
        </p:nvSpPr>
        <p:spPr>
          <a:xfrm>
            <a:off x="8417356" y="2926079"/>
            <a:ext cx="2814218" cy="685800"/>
          </a:xfrm>
          <a:prstGeom prst="rect">
            <a:avLst/>
          </a:prstGeom>
          <a:noFill/>
        </p:spPr>
        <p:txBody>
          <a:bodyPr wrap="square" anchor="t" lIns="0" rIns="0" tIns="0" bIns="0">
            <a:noAutofit/>
          </a:bodyPr>
          <a:lstStyle/>
          <a:p>
            <a:pPr algn="l">
              <a:lnSpc>
                <a:spcPct val="105000"/>
              </a:lnSpc>
            </a:pPr>
            <a:r>
              <a:rPr sz="1800" b="1">
                <a:solidFill>
                  <a:srgbClr val="FFFFFF"/>
                </a:solidFill>
                <a:latin typeface="Calibri"/>
              </a:rPr>
              <a:t>Matriz: 256² → 512²</a:t>
            </a:r>
          </a:p>
        </p:txBody>
      </p:sp>
      <p:sp>
        <p:nvSpPr>
          <p:cNvPr id="16" name="TextBox 15"/>
          <p:cNvSpPr txBox="1"/>
          <p:nvPr/>
        </p:nvSpPr>
        <p:spPr>
          <a:xfrm>
            <a:off x="8417356" y="3657599"/>
            <a:ext cx="2814218" cy="2103120"/>
          </a:xfrm>
          <a:prstGeom prst="rect">
            <a:avLst/>
          </a:prstGeom>
          <a:noFill/>
        </p:spPr>
        <p:txBody>
          <a:bodyPr wrap="square" anchor="t" lIns="0" rIns="0" tIns="0" bIns="0">
            <a:noAutofit/>
          </a:bodyPr>
          <a:lstStyle/>
          <a:p>
            <a:pPr algn="l">
              <a:lnSpc>
                <a:spcPct val="118000"/>
              </a:lnSpc>
            </a:pPr>
            <a:r>
              <a:rPr sz="1250" b="0">
                <a:solidFill>
                  <a:srgbClr val="9BA3C7"/>
                </a:solidFill>
                <a:latin typeface="Calibri"/>
              </a:rPr>
              <a:t>Resolución espacial × 2, pero RSR 100% → 25% y tiempo de adquisición 2 min → 4 min. La RSR cae con el inverso del cuadrado de la matriz.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La Relación FOV–Δk y el Criterio de Nyquist</a:t>
            </a:r>
          </a:p>
        </p:txBody>
      </p:sp>
      <p:sp>
        <p:nvSpPr>
          <p:cNvPr id="4" name="Rounded Rectangle 3"/>
          <p:cNvSpPr/>
          <p:nvPr/>
        </p:nvSpPr>
        <p:spPr>
          <a:xfrm>
            <a:off x="640080" y="1554480"/>
            <a:ext cx="10908792" cy="713232"/>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10451592" cy="713232"/>
          </a:xfrm>
          <a:prstGeom prst="rect">
            <a:avLst/>
          </a:prstGeom>
          <a:noFill/>
        </p:spPr>
        <p:txBody>
          <a:bodyPr wrap="square" anchor="ctr" lIns="0" rIns="0" tIns="0" bIns="0">
            <a:noAutofit/>
          </a:bodyPr>
          <a:lstStyle/>
          <a:p>
            <a:pPr algn="ctr">
              <a:lnSpc>
                <a:spcPct val="125000"/>
              </a:lnSpc>
            </a:pPr>
            <a:r>
              <a:rPr sz="1600" b="0">
                <a:solidFill>
                  <a:srgbClr val="22D3EE"/>
                </a:solidFill>
                <a:latin typeface="Consolas"/>
              </a:rPr>
              <a:t>FOV = 1 / Δk          Δk ≤ 1 / FOV  (condición de no-solapamiento)</a:t>
            </a:r>
          </a:p>
        </p:txBody>
      </p:sp>
      <p:pic>
        <p:nvPicPr>
          <p:cNvPr id="6" name="Picture 5" descr="grid_cyan.png"/>
          <p:cNvPicPr>
            <a:picLocks noChangeAspect="1"/>
          </p:cNvPicPr>
          <p:nvPr/>
        </p:nvPicPr>
        <p:blipFill>
          <a:blip r:embed="rId2"/>
          <a:stretch>
            <a:fillRect/>
          </a:stretch>
        </p:blipFill>
        <p:spPr>
          <a:xfrm>
            <a:off x="640080" y="2679192"/>
            <a:ext cx="512064" cy="512064"/>
          </a:xfrm>
          <a:prstGeom prst="rect">
            <a:avLst/>
          </a:prstGeom>
        </p:spPr>
      </p:pic>
      <p:sp>
        <p:nvSpPr>
          <p:cNvPr id="7" name="TextBox 6"/>
          <p:cNvSpPr txBox="1"/>
          <p:nvPr/>
        </p:nvSpPr>
        <p:spPr>
          <a:xfrm>
            <a:off x="1554480" y="2651760"/>
            <a:ext cx="10058400" cy="365760"/>
          </a:xfrm>
          <a:prstGeom prst="rect">
            <a:avLst/>
          </a:prstGeom>
          <a:noFill/>
        </p:spPr>
        <p:txBody>
          <a:bodyPr wrap="square" anchor="t" lIns="0" rIns="0" tIns="0" bIns="0">
            <a:noAutofit/>
          </a:bodyPr>
          <a:lstStyle/>
          <a:p>
            <a:pPr algn="l"/>
            <a:r>
              <a:rPr sz="1650" b="1">
                <a:solidFill>
                  <a:srgbClr val="FFFFFF"/>
                </a:solidFill>
                <a:latin typeface="Calibri"/>
              </a:rPr>
              <a:t>El espaciado gobierna el campo de visión</a:t>
            </a:r>
          </a:p>
        </p:txBody>
      </p:sp>
      <p:sp>
        <p:nvSpPr>
          <p:cNvPr id="8" name="TextBox 7"/>
          <p:cNvSpPr txBox="1"/>
          <p:nvPr/>
        </p:nvSpPr>
        <p:spPr>
          <a:xfrm>
            <a:off x="1554480" y="303580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La separación Δk entre codificaciones de fase sucesivas determina el FOV: a menor espaciado, mayor campo de visión.</a:t>
            </a:r>
          </a:p>
        </p:txBody>
      </p:sp>
      <p:pic>
        <p:nvPicPr>
          <p:cNvPr id="9" name="Picture 8" descr="rings_cyan.png"/>
          <p:cNvPicPr>
            <a:picLocks noChangeAspect="1"/>
          </p:cNvPicPr>
          <p:nvPr/>
        </p:nvPicPr>
        <p:blipFill>
          <a:blip r:embed="rId3"/>
          <a:stretch>
            <a:fillRect/>
          </a:stretch>
        </p:blipFill>
        <p:spPr>
          <a:xfrm>
            <a:off x="640080" y="3974592"/>
            <a:ext cx="512064" cy="512064"/>
          </a:xfrm>
          <a:prstGeom prst="rect">
            <a:avLst/>
          </a:prstGeom>
        </p:spPr>
      </p:pic>
      <p:sp>
        <p:nvSpPr>
          <p:cNvPr id="10" name="TextBox 9"/>
          <p:cNvSpPr txBox="1"/>
          <p:nvPr/>
        </p:nvSpPr>
        <p:spPr>
          <a:xfrm>
            <a:off x="1554480" y="3947160"/>
            <a:ext cx="10058400" cy="365760"/>
          </a:xfrm>
          <a:prstGeom prst="rect">
            <a:avLst/>
          </a:prstGeom>
          <a:noFill/>
        </p:spPr>
        <p:txBody>
          <a:bodyPr wrap="square" anchor="t" lIns="0" rIns="0" tIns="0" bIns="0">
            <a:noAutofit/>
          </a:bodyPr>
          <a:lstStyle/>
          <a:p>
            <a:pPr algn="l"/>
            <a:r>
              <a:rPr sz="1650" b="1">
                <a:solidFill>
                  <a:srgbClr val="FFFFFF"/>
                </a:solidFill>
                <a:latin typeface="Calibri"/>
              </a:rPr>
              <a:t>El área cubierta gobierna la resolución</a:t>
            </a:r>
          </a:p>
        </p:txBody>
      </p:sp>
      <p:sp>
        <p:nvSpPr>
          <p:cNvPr id="11" name="TextBox 10"/>
          <p:cNvSpPr txBox="1"/>
          <p:nvPr/>
        </p:nvSpPr>
        <p:spPr>
          <a:xfrm>
            <a:off x="1554480" y="433120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Mantener intacta el área barrida por el espacio-k (de −kmáx a +kmáx) conserva la resolución espacial, aunque cambie el número de líneas adquiridas.</a:t>
            </a:r>
          </a:p>
        </p:txBody>
      </p:sp>
      <p:pic>
        <p:nvPicPr>
          <p:cNvPr id="12" name="Picture 11" descr="ghost_cyan.png"/>
          <p:cNvPicPr>
            <a:picLocks noChangeAspect="1"/>
          </p:cNvPicPr>
          <p:nvPr/>
        </p:nvPicPr>
        <p:blipFill>
          <a:blip r:embed="rId4"/>
          <a:stretch>
            <a:fillRect/>
          </a:stretch>
        </p:blipFill>
        <p:spPr>
          <a:xfrm>
            <a:off x="640080" y="5269992"/>
            <a:ext cx="512064" cy="512064"/>
          </a:xfrm>
          <a:prstGeom prst="rect">
            <a:avLst/>
          </a:prstGeom>
        </p:spPr>
      </p:pic>
      <p:sp>
        <p:nvSpPr>
          <p:cNvPr id="13" name="TextBox 12"/>
          <p:cNvSpPr txBox="1"/>
          <p:nvPr/>
        </p:nvSpPr>
        <p:spPr>
          <a:xfrm>
            <a:off x="1554480" y="5242560"/>
            <a:ext cx="10058400" cy="365760"/>
          </a:xfrm>
          <a:prstGeom prst="rect">
            <a:avLst/>
          </a:prstGeom>
          <a:noFill/>
        </p:spPr>
        <p:txBody>
          <a:bodyPr wrap="square" anchor="t" lIns="0" rIns="0" tIns="0" bIns="0">
            <a:noAutofit/>
          </a:bodyPr>
          <a:lstStyle/>
          <a:p>
            <a:pPr algn="l"/>
            <a:r>
              <a:rPr sz="1650" b="1">
                <a:solidFill>
                  <a:srgbClr val="FFFFFF"/>
                </a:solidFill>
                <a:latin typeface="Calibri"/>
              </a:rPr>
              <a:t>Muestrear más ancho que 1/FOV produce solapamiento</a:t>
            </a:r>
          </a:p>
        </p:txBody>
      </p:sp>
      <p:sp>
        <p:nvSpPr>
          <p:cNvPr id="14" name="TextBox 13"/>
          <p:cNvSpPr txBox="1"/>
          <p:nvPr/>
        </p:nvSpPr>
        <p:spPr>
          <a:xfrm>
            <a:off x="1554480" y="562660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El muestreo discreto del espacio-k introduce una replicación en el dominio de la imagen; si Δk supera 1/FOV se incumple Nyquist y el objeto se repliega sobre sí mismo (aliasing).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ngs_violet.png"/>
          <p:cNvPicPr>
            <a:picLocks noChangeAspect="1"/>
          </p:cNvPicPr>
          <p:nvPr/>
        </p:nvPicPr>
        <p:blipFill>
          <a:blip r:embed="rId2"/>
          <a:stretch>
            <a:fillRect/>
          </a:stretch>
        </p:blipFill>
        <p:spPr>
          <a:xfrm>
            <a:off x="6949440" y="1097280"/>
            <a:ext cx="4754880" cy="4754880"/>
          </a:xfrm>
          <a:prstGeom prst="rect">
            <a:avLst/>
          </a:prstGeom>
        </p:spPr>
      </p:pic>
      <p:sp>
        <p:nvSpPr>
          <p:cNvPr id="4" name="TextBox 3"/>
          <p:cNvSpPr txBox="1"/>
          <p:nvPr/>
        </p:nvSpPr>
        <p:spPr>
          <a:xfrm>
            <a:off x="640080" y="2240280"/>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PARTE 3</a:t>
            </a:r>
          </a:p>
        </p:txBody>
      </p:sp>
      <p:sp>
        <p:nvSpPr>
          <p:cNvPr id="5" name="TextBox 4"/>
          <p:cNvSpPr txBox="1"/>
          <p:nvPr/>
        </p:nvSpPr>
        <p:spPr>
          <a:xfrm>
            <a:off x="640080" y="2606040"/>
            <a:ext cx="9966960" cy="1554480"/>
          </a:xfrm>
          <a:prstGeom prst="rect">
            <a:avLst/>
          </a:prstGeom>
          <a:noFill/>
        </p:spPr>
        <p:txBody>
          <a:bodyPr wrap="square" anchor="t" lIns="0" rIns="0" tIns="0" bIns="0">
            <a:noAutofit/>
          </a:bodyPr>
          <a:lstStyle/>
          <a:p>
            <a:pPr algn="l">
              <a:lnSpc>
                <a:spcPct val="102000"/>
              </a:lnSpc>
            </a:pPr>
            <a:r>
              <a:rPr sz="3400" b="1">
                <a:solidFill>
                  <a:srgbClr val="FFFFFF"/>
                </a:solidFill>
                <a:latin typeface="Calibri"/>
              </a:rPr>
              <a:t>Aceleración por Lectura Parcial del Espacio-K</a:t>
            </a:r>
          </a:p>
        </p:txBody>
      </p:sp>
      <p:sp>
        <p:nvSpPr>
          <p:cNvPr id="6" name="TextBox 5"/>
          <p:cNvSpPr txBox="1"/>
          <p:nvPr/>
        </p:nvSpPr>
        <p:spPr>
          <a:xfrm>
            <a:off x="640080" y="4160520"/>
            <a:ext cx="8138160" cy="822960"/>
          </a:xfrm>
          <a:prstGeom prst="rect">
            <a:avLst/>
          </a:prstGeom>
          <a:noFill/>
        </p:spPr>
        <p:txBody>
          <a:bodyPr wrap="square" anchor="t" lIns="0" rIns="0" tIns="0" bIns="0">
            <a:noAutofit/>
          </a:bodyPr>
          <a:lstStyle/>
          <a:p>
            <a:pPr algn="l">
              <a:lnSpc>
                <a:spcPct val="120000"/>
              </a:lnSpc>
            </a:pPr>
            <a:r>
              <a:rPr sz="1500" b="0">
                <a:solidFill>
                  <a:srgbClr val="9BA3C7"/>
                </a:solidFill>
                <a:latin typeface="Calibri"/>
              </a:rPr>
              <a:t>Reducir las líneas adquiridas ahorra tiempo — la pregunta es cuáles se omiten y qué efecto tiene cada elección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500" b="1">
                <a:solidFill>
                  <a:srgbClr val="FFFFFF"/>
                </a:solidFill>
                <a:latin typeface="Calibri"/>
              </a:rPr>
              <a:t>Adquisición Reducida vs. FOV Rectangular</a:t>
            </a:r>
          </a:p>
        </p:txBody>
      </p:sp>
      <p:sp>
        <p:nvSpPr>
          <p:cNvPr id="4" name="TextBox 3"/>
          <p:cNvSpPr txBox="1"/>
          <p:nvPr/>
        </p:nvSpPr>
        <p:spPr>
          <a:xfrm>
            <a:off x="640080" y="1600200"/>
            <a:ext cx="5120640" cy="502920"/>
          </a:xfrm>
          <a:prstGeom prst="rect">
            <a:avLst/>
          </a:prstGeom>
          <a:noFill/>
        </p:spPr>
        <p:txBody>
          <a:bodyPr wrap="square" anchor="t" lIns="0" rIns="0" tIns="0" bIns="0">
            <a:noAutofit/>
          </a:bodyPr>
          <a:lstStyle/>
          <a:p>
            <a:pPr algn="l"/>
            <a:r>
              <a:rPr sz="2000" b="1">
                <a:solidFill>
                  <a:srgbClr val="22D3EE"/>
                </a:solidFill>
                <a:latin typeface="Calibri"/>
              </a:rPr>
              <a:t>Adquisición reducida</a:t>
            </a:r>
          </a:p>
        </p:txBody>
      </p:sp>
      <p:sp>
        <p:nvSpPr>
          <p:cNvPr id="5" name="TextBox 4"/>
          <p:cNvSpPr txBox="1"/>
          <p:nvPr/>
        </p:nvSpPr>
        <p:spPr>
          <a:xfrm>
            <a:off x="640080" y="228600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Otros nombres: </a:t>
            </a:r>
            <a:r>
              <a:rPr sz="1300" b="0">
                <a:solidFill>
                  <a:srgbClr val="9BA3C7"/>
                </a:solidFill>
                <a:latin typeface="Calibri"/>
              </a:rPr>
              <a:t>scan percentage, rectangular matrix imaging.</a:t>
            </a:r>
          </a:p>
        </p:txBody>
      </p:sp>
      <p:sp>
        <p:nvSpPr>
          <p:cNvPr id="6" name="TextBox 5"/>
          <p:cNvSpPr txBox="1"/>
          <p:nvPr/>
        </p:nvSpPr>
        <p:spPr>
          <a:xfrm>
            <a:off x="640080" y="338328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Mantiene el espaciado Δk: </a:t>
            </a:r>
            <a:r>
              <a:rPr sz="1300" b="0">
                <a:solidFill>
                  <a:srgbClr val="9BA3C7"/>
                </a:solidFill>
                <a:latin typeface="Calibri"/>
              </a:rPr>
              <a:t>adquiere solo las líneas centrales del espacio-k.</a:t>
            </a:r>
          </a:p>
        </p:txBody>
      </p:sp>
      <p:sp>
        <p:nvSpPr>
          <p:cNvPr id="7" name="TextBox 6"/>
          <p:cNvSpPr txBox="1"/>
          <p:nvPr/>
        </p:nvSpPr>
        <p:spPr>
          <a:xfrm>
            <a:off x="640080" y="448056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Reduce la resolución espacial: </a:t>
            </a:r>
            <a:r>
              <a:rPr sz="1300" b="0">
                <a:solidFill>
                  <a:srgbClr val="9BA3C7"/>
                </a:solidFill>
                <a:latin typeface="Calibri"/>
              </a:rPr>
              <a:t>se pierde kmáx; el FOV no cambia (relleno con ceros).</a:t>
            </a:r>
          </a:p>
        </p:txBody>
      </p:sp>
      <p:sp>
        <p:nvSpPr>
          <p:cNvPr id="8" name="TextBox 7"/>
          <p:cNvSpPr txBox="1"/>
          <p:nvPr/>
        </p:nvSpPr>
        <p:spPr>
          <a:xfrm>
            <a:off x="640080" y="557784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Umbral práctico: </a:t>
            </a:r>
            <a:r>
              <a:rPr sz="1300" b="0">
                <a:solidFill>
                  <a:srgbClr val="9BA3C7"/>
                </a:solidFill>
                <a:latin typeface="Calibri"/>
              </a:rPr>
              <a:t>por debajo del 70-80% aparecen anillos de Gibbs notables.</a:t>
            </a:r>
          </a:p>
        </p:txBody>
      </p:sp>
      <p:sp>
        <p:nvSpPr>
          <p:cNvPr id="9" name="TextBox 8"/>
          <p:cNvSpPr txBox="1"/>
          <p:nvPr/>
        </p:nvSpPr>
        <p:spPr>
          <a:xfrm>
            <a:off x="6217920" y="1600200"/>
            <a:ext cx="5120640" cy="502920"/>
          </a:xfrm>
          <a:prstGeom prst="rect">
            <a:avLst/>
          </a:prstGeom>
          <a:noFill/>
        </p:spPr>
        <p:txBody>
          <a:bodyPr wrap="square" anchor="t" lIns="0" rIns="0" tIns="0" bIns="0">
            <a:noAutofit/>
          </a:bodyPr>
          <a:lstStyle/>
          <a:p>
            <a:pPr algn="l"/>
            <a:r>
              <a:rPr sz="2000" b="1">
                <a:solidFill>
                  <a:srgbClr val="8B7CFF"/>
                </a:solidFill>
                <a:latin typeface="Calibri"/>
              </a:rPr>
              <a:t>FOV rectangular</a:t>
            </a:r>
          </a:p>
        </p:txBody>
      </p:sp>
      <p:sp>
        <p:nvSpPr>
          <p:cNvPr id="10" name="TextBox 9"/>
          <p:cNvSpPr txBox="1"/>
          <p:nvPr/>
        </p:nvSpPr>
        <p:spPr>
          <a:xfrm>
            <a:off x="6217920" y="228600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Otros nombres: </a:t>
            </a:r>
            <a:r>
              <a:rPr sz="1300" b="0">
                <a:solidFill>
                  <a:srgbClr val="9BA3C7"/>
                </a:solidFill>
                <a:latin typeface="Calibri"/>
              </a:rPr>
              <a:t>half FOV imaging · Philips: RFOV · GE: Rectangular FOV · Siemens: Rec FOV.</a:t>
            </a:r>
          </a:p>
        </p:txBody>
      </p:sp>
      <p:sp>
        <p:nvSpPr>
          <p:cNvPr id="11" name="TextBox 10"/>
          <p:cNvSpPr txBox="1"/>
          <p:nvPr/>
        </p:nvSpPr>
        <p:spPr>
          <a:xfrm>
            <a:off x="6217920" y="338328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Mantiene el área del espacio-k: </a:t>
            </a:r>
            <a:r>
              <a:rPr sz="1300" b="0">
                <a:solidFill>
                  <a:srgbClr val="9BA3C7"/>
                </a:solidFill>
                <a:latin typeface="Calibri"/>
              </a:rPr>
              <a:t>aumenta el espaciado Δk entre líneas de fase.</a:t>
            </a:r>
          </a:p>
        </p:txBody>
      </p:sp>
      <p:sp>
        <p:nvSpPr>
          <p:cNvPr id="12" name="TextBox 11"/>
          <p:cNvSpPr txBox="1"/>
          <p:nvPr/>
        </p:nvSpPr>
        <p:spPr>
          <a:xfrm>
            <a:off x="6217920" y="448056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Conserva la resolución espacial: </a:t>
            </a:r>
            <a:r>
              <a:rPr sz="1300" b="0">
                <a:solidFill>
                  <a:srgbClr val="9BA3C7"/>
                </a:solidFill>
                <a:latin typeface="Calibri"/>
              </a:rPr>
              <a:t>se mantiene kmáx; el FOV se reduce en la dirección de fase.</a:t>
            </a:r>
          </a:p>
        </p:txBody>
      </p:sp>
      <p:sp>
        <p:nvSpPr>
          <p:cNvPr id="13" name="TextBox 12"/>
          <p:cNvSpPr txBox="1"/>
          <p:nvPr/>
        </p:nvSpPr>
        <p:spPr>
          <a:xfrm>
            <a:off x="6217920" y="557784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Riesgo: </a:t>
            </a:r>
            <a:r>
              <a:rPr sz="1300" b="0">
                <a:solidFill>
                  <a:srgbClr val="9BA3C7"/>
                </a:solidFill>
                <a:latin typeface="Calibri"/>
              </a:rPr>
              <a:t>si el sujeto excede el nuevo FOV reducido, aparece solapamiento.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Simetría del Espacio-K: Cuadrantes Conjugados</a:t>
            </a:r>
          </a:p>
        </p:txBody>
      </p:sp>
      <p:sp>
        <p:nvSpPr>
          <p:cNvPr id="4" name="Rounded Rectangle 3"/>
          <p:cNvSpPr/>
          <p:nvPr/>
        </p:nvSpPr>
        <p:spPr>
          <a:xfrm>
            <a:off x="777240" y="1691640"/>
            <a:ext cx="3657600" cy="3657600"/>
          </a:xfrm>
          <a:prstGeom prst="roundRect">
            <a:avLst>
              <a:gd name="adj" fmla="val 3000"/>
            </a:avLst>
          </a:prstGeom>
          <a:solidFill>
            <a:srgbClr val="101426"/>
          </a:solidFill>
          <a:ln w="12700">
            <a:solidFill>
              <a:srgbClr val="9BA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50008"/>
            <a:ext cx="1828800" cy="512064"/>
          </a:xfrm>
          <a:prstGeom prst="rect">
            <a:avLst/>
          </a:prstGeom>
          <a:noFill/>
        </p:spPr>
        <p:txBody>
          <a:bodyPr wrap="square" anchor="ctr" lIns="0" rIns="0" tIns="0" bIns="0">
            <a:noAutofit/>
          </a:bodyPr>
          <a:lstStyle/>
          <a:p>
            <a:pPr algn="ctr"/>
            <a:r>
              <a:rPr sz="2000" b="1">
                <a:solidFill>
                  <a:srgbClr val="22D3EE"/>
                </a:solidFill>
                <a:latin typeface="Consolas"/>
              </a:rPr>
              <a:t>c + id</a:t>
            </a:r>
          </a:p>
        </p:txBody>
      </p:sp>
      <p:sp>
        <p:nvSpPr>
          <p:cNvPr id="6" name="TextBox 5"/>
          <p:cNvSpPr txBox="1"/>
          <p:nvPr/>
        </p:nvSpPr>
        <p:spPr>
          <a:xfrm>
            <a:off x="2606040" y="2350008"/>
            <a:ext cx="1828800" cy="512064"/>
          </a:xfrm>
          <a:prstGeom prst="rect">
            <a:avLst/>
          </a:prstGeom>
          <a:noFill/>
        </p:spPr>
        <p:txBody>
          <a:bodyPr wrap="square" anchor="ctr" lIns="0" rIns="0" tIns="0" bIns="0">
            <a:noAutofit/>
          </a:bodyPr>
          <a:lstStyle/>
          <a:p>
            <a:pPr algn="ctr"/>
            <a:r>
              <a:rPr sz="2000" b="1">
                <a:solidFill>
                  <a:srgbClr val="8B7CFF"/>
                </a:solidFill>
                <a:latin typeface="Consolas"/>
              </a:rPr>
              <a:t>a + ib</a:t>
            </a:r>
          </a:p>
        </p:txBody>
      </p:sp>
      <p:sp>
        <p:nvSpPr>
          <p:cNvPr id="7" name="TextBox 6"/>
          <p:cNvSpPr txBox="1"/>
          <p:nvPr/>
        </p:nvSpPr>
        <p:spPr>
          <a:xfrm>
            <a:off x="777240" y="4178807"/>
            <a:ext cx="1828800" cy="512064"/>
          </a:xfrm>
          <a:prstGeom prst="rect">
            <a:avLst/>
          </a:prstGeom>
          <a:noFill/>
        </p:spPr>
        <p:txBody>
          <a:bodyPr wrap="square" anchor="ctr" lIns="0" rIns="0" tIns="0" bIns="0">
            <a:noAutofit/>
          </a:bodyPr>
          <a:lstStyle/>
          <a:p>
            <a:pPr algn="ctr"/>
            <a:r>
              <a:rPr sz="2000" b="1">
                <a:solidFill>
                  <a:srgbClr val="8B7CFF"/>
                </a:solidFill>
                <a:latin typeface="Consolas"/>
              </a:rPr>
              <a:t>a − ib</a:t>
            </a:r>
          </a:p>
        </p:txBody>
      </p:sp>
      <p:sp>
        <p:nvSpPr>
          <p:cNvPr id="8" name="TextBox 7"/>
          <p:cNvSpPr txBox="1"/>
          <p:nvPr/>
        </p:nvSpPr>
        <p:spPr>
          <a:xfrm>
            <a:off x="2606040" y="4178807"/>
            <a:ext cx="1828800" cy="512064"/>
          </a:xfrm>
          <a:prstGeom prst="rect">
            <a:avLst/>
          </a:prstGeom>
          <a:noFill/>
        </p:spPr>
        <p:txBody>
          <a:bodyPr wrap="square" anchor="ctr" lIns="0" rIns="0" tIns="0" bIns="0">
            <a:noAutofit/>
          </a:bodyPr>
          <a:lstStyle/>
          <a:p>
            <a:pPr algn="ctr"/>
            <a:r>
              <a:rPr sz="2000" b="1">
                <a:solidFill>
                  <a:srgbClr val="22D3EE"/>
                </a:solidFill>
                <a:latin typeface="Consolas"/>
              </a:rPr>
              <a:t>c − id</a:t>
            </a:r>
          </a:p>
        </p:txBody>
      </p:sp>
      <p:sp>
        <p:nvSpPr>
          <p:cNvPr id="9" name="Rectangle 8"/>
          <p:cNvSpPr/>
          <p:nvPr/>
        </p:nvSpPr>
        <p:spPr>
          <a:xfrm>
            <a:off x="2596896" y="1691640"/>
            <a:ext cx="18288" cy="3657600"/>
          </a:xfrm>
          <a:prstGeom prst="rect">
            <a:avLst/>
          </a:prstGeom>
          <a:solidFill>
            <a:srgbClr val="9BA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511296"/>
            <a:ext cx="3657600" cy="18288"/>
          </a:xfrm>
          <a:prstGeom prst="rect">
            <a:avLst/>
          </a:prstGeom>
          <a:solidFill>
            <a:srgbClr val="9BA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691640"/>
            <a:ext cx="6583680" cy="457200"/>
          </a:xfrm>
          <a:prstGeom prst="rect">
            <a:avLst/>
          </a:prstGeom>
          <a:noFill/>
        </p:spPr>
        <p:txBody>
          <a:bodyPr wrap="square" anchor="t" lIns="0" rIns="0" tIns="0" bIns="0">
            <a:noAutofit/>
          </a:bodyPr>
          <a:lstStyle/>
          <a:p>
            <a:pPr algn="l"/>
            <a:r>
              <a:rPr sz="2000" b="0">
                <a:solidFill>
                  <a:srgbClr val="22D3EE"/>
                </a:solidFill>
                <a:latin typeface="Consolas"/>
              </a:rPr>
              <a:t>S(−kx,−ky) = S*(kx,ky)</a:t>
            </a:r>
          </a:p>
        </p:txBody>
      </p:sp>
      <p:sp>
        <p:nvSpPr>
          <p:cNvPr id="12" name="TextBox 11"/>
          <p:cNvSpPr txBox="1"/>
          <p:nvPr/>
        </p:nvSpPr>
        <p:spPr>
          <a:xfrm>
            <a:off x="4937760" y="2331720"/>
            <a:ext cx="6583680" cy="1097280"/>
          </a:xfrm>
          <a:prstGeom prst="rect">
            <a:avLst/>
          </a:prstGeom>
          <a:noFill/>
        </p:spPr>
        <p:txBody>
          <a:bodyPr wrap="square" anchor="t" lIns="0" rIns="0" tIns="0" bIns="0">
            <a:noAutofit/>
          </a:bodyPr>
          <a:lstStyle/>
          <a:p>
            <a:pPr algn="l">
              <a:lnSpc>
                <a:spcPct val="125000"/>
              </a:lnSpc>
            </a:pPr>
            <a:r>
              <a:rPr sz="1400" b="1">
                <a:solidFill>
                  <a:srgbClr val="FFFFFF"/>
                </a:solidFill>
                <a:latin typeface="Calibri"/>
              </a:rPr>
              <a:t>Simetría conjugada: </a:t>
            </a:r>
            <a:r>
              <a:rPr sz="1400" b="0">
                <a:solidFill>
                  <a:srgbClr val="9BA3C7"/>
                </a:solidFill>
                <a:latin typeface="Calibri"/>
              </a:rPr>
              <a:t>los cuadrantes diagonalmente opuestos son complejos conjugados entre sí — el inferior izquierdo con el superior derecho, y el inferior derecho con el superior izquierdo.</a:t>
            </a:r>
          </a:p>
        </p:txBody>
      </p:sp>
      <p:sp>
        <p:nvSpPr>
          <p:cNvPr id="13" name="TextBox 12"/>
          <p:cNvSpPr txBox="1"/>
          <p:nvPr/>
        </p:nvSpPr>
        <p:spPr>
          <a:xfrm>
            <a:off x="4937760" y="3657600"/>
            <a:ext cx="6583680" cy="1097280"/>
          </a:xfrm>
          <a:prstGeom prst="rect">
            <a:avLst/>
          </a:prstGeom>
          <a:noFill/>
        </p:spPr>
        <p:txBody>
          <a:bodyPr wrap="square" anchor="t" lIns="0" rIns="0" tIns="0" bIns="0">
            <a:noAutofit/>
          </a:bodyPr>
          <a:lstStyle/>
          <a:p>
            <a:pPr algn="l">
              <a:lnSpc>
                <a:spcPct val="125000"/>
              </a:lnSpc>
            </a:pPr>
            <a:r>
              <a:rPr sz="1400" b="1">
                <a:solidFill>
                  <a:srgbClr val="FFFFFF"/>
                </a:solidFill>
                <a:latin typeface="Calibri"/>
              </a:rPr>
              <a:t>Redundancia del 50%: </a:t>
            </a:r>
            <a:r>
              <a:rPr sz="1400" b="0">
                <a:solidFill>
                  <a:srgbClr val="9BA3C7"/>
                </a:solidFill>
                <a:latin typeface="Calibri"/>
              </a:rPr>
              <a:t>conocida la mitad del espacio-k, la otra mitad puede predecirse por conjugación — la base matemática de semi-Fourier y del eco parcial.</a:t>
            </a:r>
          </a:p>
        </p:txBody>
      </p:sp>
      <p:sp>
        <p:nvSpPr>
          <p:cNvPr id="14" name="TextBox 13"/>
          <p:cNvSpPr txBox="1"/>
          <p:nvPr/>
        </p:nvSpPr>
        <p:spPr>
          <a:xfrm>
            <a:off x="4937760" y="4937760"/>
            <a:ext cx="6583680" cy="1097280"/>
          </a:xfrm>
          <a:prstGeom prst="rect">
            <a:avLst/>
          </a:prstGeom>
          <a:noFill/>
        </p:spPr>
        <p:txBody>
          <a:bodyPr wrap="square" anchor="t" lIns="0" rIns="0" tIns="0" bIns="0">
            <a:noAutofit/>
          </a:bodyPr>
          <a:lstStyle/>
          <a:p>
            <a:pPr algn="l">
              <a:lnSpc>
                <a:spcPct val="125000"/>
              </a:lnSpc>
            </a:pPr>
            <a:r>
              <a:rPr sz="1400" b="1">
                <a:solidFill>
                  <a:srgbClr val="FFFFFF"/>
                </a:solidFill>
                <a:latin typeface="Calibri"/>
              </a:rPr>
              <a:t>Siempre se incluye el centro: </a:t>
            </a:r>
            <a:r>
              <a:rPr sz="1400" b="0">
                <a:solidFill>
                  <a:srgbClr val="9BA3C7"/>
                </a:solidFill>
                <a:latin typeface="Calibri"/>
              </a:rPr>
              <a:t>es necesario adquirir la zona central para poder aplicar una corrección de fase antes de completar el resto por simetría.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500" b="1">
                <a:solidFill>
                  <a:srgbClr val="FFFFFF"/>
                </a:solidFill>
                <a:latin typeface="Calibri"/>
              </a:rPr>
              <a:t>Semi-Fourier y Eco Parcial</a:t>
            </a:r>
          </a:p>
        </p:txBody>
      </p:sp>
      <p:sp>
        <p:nvSpPr>
          <p:cNvPr id="4" name="TextBox 3"/>
          <p:cNvSpPr txBox="1"/>
          <p:nvPr/>
        </p:nvSpPr>
        <p:spPr>
          <a:xfrm>
            <a:off x="640080" y="1600200"/>
            <a:ext cx="5120640" cy="502920"/>
          </a:xfrm>
          <a:prstGeom prst="rect">
            <a:avLst/>
          </a:prstGeom>
          <a:noFill/>
        </p:spPr>
        <p:txBody>
          <a:bodyPr wrap="square" anchor="t" lIns="0" rIns="0" tIns="0" bIns="0">
            <a:noAutofit/>
          </a:bodyPr>
          <a:lstStyle/>
          <a:p>
            <a:pPr algn="l"/>
            <a:r>
              <a:rPr sz="2000" b="1">
                <a:solidFill>
                  <a:srgbClr val="22D3EE"/>
                </a:solidFill>
                <a:latin typeface="Calibri"/>
              </a:rPr>
              <a:t>Semi-Fourier (half scan)</a:t>
            </a:r>
          </a:p>
        </p:txBody>
      </p:sp>
      <p:sp>
        <p:nvSpPr>
          <p:cNvPr id="5" name="TextBox 4"/>
          <p:cNvSpPr txBox="1"/>
          <p:nvPr/>
        </p:nvSpPr>
        <p:spPr>
          <a:xfrm>
            <a:off x="640080" y="228600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Otros nombres: </a:t>
            </a:r>
            <a:r>
              <a:rPr sz="1300" b="0">
                <a:solidFill>
                  <a:srgbClr val="9BA3C7"/>
                </a:solidFill>
                <a:latin typeface="Calibri"/>
              </a:rPr>
              <a:t>half-NEX, half scan · Philips: Half Scan (HS) · GE: 1/2 NEX · Siemens: Half Fourier.</a:t>
            </a:r>
          </a:p>
        </p:txBody>
      </p:sp>
      <p:sp>
        <p:nvSpPr>
          <p:cNvPr id="6" name="TextBox 5"/>
          <p:cNvSpPr txBox="1"/>
          <p:nvPr/>
        </p:nvSpPr>
        <p:spPr>
          <a:xfrm>
            <a:off x="640080" y="338328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Aplica la simetría: </a:t>
            </a:r>
            <a:r>
              <a:rPr sz="1300" b="0">
                <a:solidFill>
                  <a:srgbClr val="9BA3C7"/>
                </a:solidFill>
                <a:latin typeface="Calibri"/>
              </a:rPr>
              <a:t>en la dirección de codificación de fase; se adquiere poco más de la mitad de las líneas.</a:t>
            </a:r>
          </a:p>
        </p:txBody>
      </p:sp>
      <p:sp>
        <p:nvSpPr>
          <p:cNvPr id="7" name="TextBox 6"/>
          <p:cNvSpPr txBox="1"/>
          <p:nvPr/>
        </p:nvSpPr>
        <p:spPr>
          <a:xfrm>
            <a:off x="640080" y="448056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Conserva: </a:t>
            </a:r>
            <a:r>
              <a:rPr sz="1300" b="0">
                <a:solidFill>
                  <a:srgbClr val="9BA3C7"/>
                </a:solidFill>
                <a:latin typeface="Calibri"/>
              </a:rPr>
              <a:t>la máxima frecuencia espacial → misma resolución espacial.</a:t>
            </a:r>
          </a:p>
        </p:txBody>
      </p:sp>
      <p:sp>
        <p:nvSpPr>
          <p:cNvPr id="8" name="TextBox 7"/>
          <p:cNvSpPr txBox="1"/>
          <p:nvPr/>
        </p:nvSpPr>
        <p:spPr>
          <a:xfrm>
            <a:off x="640080" y="557784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Cuesta: </a:t>
            </a:r>
            <a:r>
              <a:rPr sz="1300" b="0">
                <a:solidFill>
                  <a:srgbClr val="9BA3C7"/>
                </a:solidFill>
                <a:latin typeface="Calibri"/>
              </a:rPr>
              <a:t>RSR (el ruido también se copia), mayor sensibilidad a movimiento e inhomogeneidad de campo.</a:t>
            </a:r>
          </a:p>
        </p:txBody>
      </p:sp>
      <p:sp>
        <p:nvSpPr>
          <p:cNvPr id="9" name="TextBox 8"/>
          <p:cNvSpPr txBox="1"/>
          <p:nvPr/>
        </p:nvSpPr>
        <p:spPr>
          <a:xfrm>
            <a:off x="6217920" y="1600200"/>
            <a:ext cx="5120640" cy="502920"/>
          </a:xfrm>
          <a:prstGeom prst="rect">
            <a:avLst/>
          </a:prstGeom>
          <a:noFill/>
        </p:spPr>
        <p:txBody>
          <a:bodyPr wrap="square" anchor="t" lIns="0" rIns="0" tIns="0" bIns="0">
            <a:noAutofit/>
          </a:bodyPr>
          <a:lstStyle/>
          <a:p>
            <a:pPr algn="l"/>
            <a:r>
              <a:rPr sz="2000" b="1">
                <a:solidFill>
                  <a:srgbClr val="8B7CFF"/>
                </a:solidFill>
                <a:latin typeface="Calibri"/>
              </a:rPr>
              <a:t>Eco parcial</a:t>
            </a:r>
          </a:p>
        </p:txBody>
      </p:sp>
      <p:sp>
        <p:nvSpPr>
          <p:cNvPr id="10" name="TextBox 9"/>
          <p:cNvSpPr txBox="1"/>
          <p:nvPr/>
        </p:nvSpPr>
        <p:spPr>
          <a:xfrm>
            <a:off x="6217920" y="228600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Otros nombres: </a:t>
            </a:r>
            <a:r>
              <a:rPr sz="1300" b="0">
                <a:solidFill>
                  <a:srgbClr val="9BA3C7"/>
                </a:solidFill>
                <a:latin typeface="Calibri"/>
              </a:rPr>
              <a:t>partial echo · GE: Fractional Echo · Siemens: Assymetric Echo.</a:t>
            </a:r>
          </a:p>
        </p:txBody>
      </p:sp>
      <p:sp>
        <p:nvSpPr>
          <p:cNvPr id="11" name="TextBox 10"/>
          <p:cNvSpPr txBox="1"/>
          <p:nvPr/>
        </p:nvSpPr>
        <p:spPr>
          <a:xfrm>
            <a:off x="6217920" y="338328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Aplica la simetría: </a:t>
            </a:r>
            <a:r>
              <a:rPr sz="1300" b="0">
                <a:solidFill>
                  <a:srgbClr val="9BA3C7"/>
                </a:solidFill>
                <a:latin typeface="Calibri"/>
              </a:rPr>
              <a:t>en la dirección de lectura, abortando el eco «a mitad de camino».</a:t>
            </a:r>
          </a:p>
        </p:txBody>
      </p:sp>
      <p:sp>
        <p:nvSpPr>
          <p:cNvPr id="12" name="TextBox 11"/>
          <p:cNvSpPr txBox="1"/>
          <p:nvPr/>
        </p:nvSpPr>
        <p:spPr>
          <a:xfrm>
            <a:off x="6217920" y="448056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Ventaja principal: </a:t>
            </a:r>
            <a:r>
              <a:rPr sz="1300" b="0">
                <a:solidFill>
                  <a:srgbClr val="9BA3C7"/>
                </a:solidFill>
                <a:latin typeface="Calibri"/>
              </a:rPr>
              <a:t>reduce el TE, lo que ayuda a reducir ciertos artefactos.</a:t>
            </a:r>
          </a:p>
        </p:txBody>
      </p:sp>
      <p:sp>
        <p:nvSpPr>
          <p:cNvPr id="13" name="TextBox 12"/>
          <p:cNvSpPr txBox="1"/>
          <p:nvPr/>
        </p:nvSpPr>
        <p:spPr>
          <a:xfrm>
            <a:off x="6217920" y="5577840"/>
            <a:ext cx="5120640" cy="1005839"/>
          </a:xfrm>
          <a:prstGeom prst="rect">
            <a:avLst/>
          </a:prstGeom>
          <a:noFill/>
        </p:spPr>
        <p:txBody>
          <a:bodyPr wrap="square" anchor="t" lIns="0" rIns="0" tIns="0" bIns="0">
            <a:noAutofit/>
          </a:bodyPr>
          <a:lstStyle/>
          <a:p>
            <a:pPr algn="l">
              <a:lnSpc>
                <a:spcPct val="118000"/>
              </a:lnSpc>
            </a:pPr>
            <a:r>
              <a:rPr sz="1300" b="1">
                <a:solidFill>
                  <a:srgbClr val="FFFFFF"/>
                </a:solidFill>
                <a:latin typeface="Calibri"/>
              </a:rPr>
              <a:t>Cuesta: </a:t>
            </a:r>
            <a:r>
              <a:rPr sz="1300" b="0">
                <a:solidFill>
                  <a:srgbClr val="9BA3C7"/>
                </a:solidFill>
                <a:latin typeface="Calibri"/>
              </a:rPr>
              <a:t>una RSR menor, con el mismo mecanismo que el semi-Fourier.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Perfiles de Llenado: Controlando el TE Efectivo</a:t>
            </a:r>
          </a:p>
        </p:txBody>
      </p:sp>
      <p:pic>
        <p:nvPicPr>
          <p:cNvPr id="4" name="Picture 3" descr="cartesian_cyan.png"/>
          <p:cNvPicPr>
            <a:picLocks noChangeAspect="1"/>
          </p:cNvPicPr>
          <p:nvPr/>
        </p:nvPicPr>
        <p:blipFill>
          <a:blip r:embed="rId2"/>
          <a:stretch>
            <a:fillRect/>
          </a:stretch>
        </p:blipFill>
        <p:spPr>
          <a:xfrm>
            <a:off x="640080" y="1810512"/>
            <a:ext cx="512064" cy="512064"/>
          </a:xfrm>
          <a:prstGeom prst="rect">
            <a:avLst/>
          </a:prstGeom>
        </p:spPr>
      </p:pic>
      <p:sp>
        <p:nvSpPr>
          <p:cNvPr id="5" name="TextBox 4"/>
          <p:cNvSpPr txBox="1"/>
          <p:nvPr/>
        </p:nvSpPr>
        <p:spPr>
          <a:xfrm>
            <a:off x="1554480" y="1783080"/>
            <a:ext cx="10058400" cy="365760"/>
          </a:xfrm>
          <a:prstGeom prst="rect">
            <a:avLst/>
          </a:prstGeom>
          <a:noFill/>
        </p:spPr>
        <p:txBody>
          <a:bodyPr wrap="square" anchor="t" lIns="0" rIns="0" tIns="0" bIns="0">
            <a:noAutofit/>
          </a:bodyPr>
          <a:lstStyle/>
          <a:p>
            <a:pPr algn="l"/>
            <a:r>
              <a:rPr sz="1650" b="1">
                <a:solidFill>
                  <a:srgbClr val="FFFFFF"/>
                </a:solidFill>
                <a:latin typeface="Calibri"/>
              </a:rPr>
              <a:t>Lineal / lineal invertido</a:t>
            </a:r>
          </a:p>
        </p:txBody>
      </p:sp>
      <p:sp>
        <p:nvSpPr>
          <p:cNvPr id="6" name="TextBox 5"/>
          <p:cNvSpPr txBox="1"/>
          <p:nvPr/>
        </p:nvSpPr>
        <p:spPr>
          <a:xfrm>
            <a:off x="1554480" y="2167128"/>
            <a:ext cx="10058400" cy="73152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Adquisición secuencial de un extremo del espacio-k al otro (o a la inversa); el TE efectivo se alcanza a mitad de la adquisición, cuando se cruza k=0.</a:t>
            </a:r>
          </a:p>
        </p:txBody>
      </p:sp>
      <p:pic>
        <p:nvPicPr>
          <p:cNvPr id="7" name="Picture 6" descr="grid_cyan.png"/>
          <p:cNvPicPr>
            <a:picLocks noChangeAspect="1"/>
          </p:cNvPicPr>
          <p:nvPr/>
        </p:nvPicPr>
        <p:blipFill>
          <a:blip r:embed="rId3"/>
          <a:stretch>
            <a:fillRect/>
          </a:stretch>
        </p:blipFill>
        <p:spPr>
          <a:xfrm>
            <a:off x="640080" y="2999232"/>
            <a:ext cx="512064" cy="512064"/>
          </a:xfrm>
          <a:prstGeom prst="rect">
            <a:avLst/>
          </a:prstGeom>
        </p:spPr>
      </p:pic>
      <p:sp>
        <p:nvSpPr>
          <p:cNvPr id="8" name="TextBox 7"/>
          <p:cNvSpPr txBox="1"/>
          <p:nvPr/>
        </p:nvSpPr>
        <p:spPr>
          <a:xfrm>
            <a:off x="1554480" y="2971800"/>
            <a:ext cx="10058400" cy="365760"/>
          </a:xfrm>
          <a:prstGeom prst="rect">
            <a:avLst/>
          </a:prstGeom>
          <a:noFill/>
        </p:spPr>
        <p:txBody>
          <a:bodyPr wrap="square" anchor="t" lIns="0" rIns="0" tIns="0" bIns="0">
            <a:noAutofit/>
          </a:bodyPr>
          <a:lstStyle/>
          <a:p>
            <a:pPr algn="l"/>
            <a:r>
              <a:rPr sz="1650" b="1">
                <a:solidFill>
                  <a:srgbClr val="FFFFFF"/>
                </a:solidFill>
                <a:latin typeface="Calibri"/>
              </a:rPr>
              <a:t>Segmentado (multishot)</a:t>
            </a:r>
          </a:p>
        </p:txBody>
      </p:sp>
      <p:sp>
        <p:nvSpPr>
          <p:cNvPr id="9" name="TextBox 8"/>
          <p:cNvSpPr txBox="1"/>
          <p:nvPr/>
        </p:nvSpPr>
        <p:spPr>
          <a:xfrm>
            <a:off x="1554480" y="3355848"/>
            <a:ext cx="10058400" cy="73152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Codificaciones de fase intercaladas en varios segmentos por excitación, acercando las líneas centrales a la excitación y acortando el TE efectivo.</a:t>
            </a:r>
          </a:p>
        </p:txBody>
      </p:sp>
      <p:pic>
        <p:nvPicPr>
          <p:cNvPr id="10" name="Picture 9" descr="rings_cyan.png"/>
          <p:cNvPicPr>
            <a:picLocks noChangeAspect="1"/>
          </p:cNvPicPr>
          <p:nvPr/>
        </p:nvPicPr>
        <p:blipFill>
          <a:blip r:embed="rId4"/>
          <a:stretch>
            <a:fillRect/>
          </a:stretch>
        </p:blipFill>
        <p:spPr>
          <a:xfrm>
            <a:off x="640080" y="4187952"/>
            <a:ext cx="512064" cy="512064"/>
          </a:xfrm>
          <a:prstGeom prst="rect">
            <a:avLst/>
          </a:prstGeom>
        </p:spPr>
      </p:pic>
      <p:sp>
        <p:nvSpPr>
          <p:cNvPr id="11" name="TextBox 10"/>
          <p:cNvSpPr txBox="1"/>
          <p:nvPr/>
        </p:nvSpPr>
        <p:spPr>
          <a:xfrm>
            <a:off x="1554480" y="4160520"/>
            <a:ext cx="10058400" cy="365760"/>
          </a:xfrm>
          <a:prstGeom prst="rect">
            <a:avLst/>
          </a:prstGeom>
          <a:noFill/>
        </p:spPr>
        <p:txBody>
          <a:bodyPr wrap="square" anchor="t" lIns="0" rIns="0" tIns="0" bIns="0">
            <a:noAutofit/>
          </a:bodyPr>
          <a:lstStyle/>
          <a:p>
            <a:pPr algn="l"/>
            <a:r>
              <a:rPr sz="1650" b="1">
                <a:solidFill>
                  <a:srgbClr val="FFFFFF"/>
                </a:solidFill>
                <a:latin typeface="Calibri"/>
              </a:rPr>
              <a:t>Central o bajo-alto (low-high)</a:t>
            </a:r>
          </a:p>
        </p:txBody>
      </p:sp>
      <p:sp>
        <p:nvSpPr>
          <p:cNvPr id="12" name="TextBox 11"/>
          <p:cNvSpPr txBox="1"/>
          <p:nvPr/>
        </p:nvSpPr>
        <p:spPr>
          <a:xfrm>
            <a:off x="1554480" y="4544568"/>
            <a:ext cx="10058400" cy="73152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Adquiere primero las líneas centrales (bajas frecuencias) y después las periféricas (altas), minimizando al máximo el TE efectivo.</a:t>
            </a:r>
          </a:p>
        </p:txBody>
      </p:sp>
      <p:pic>
        <p:nvPicPr>
          <p:cNvPr id="13" name="Picture 12" descr="ghost_cyan.png"/>
          <p:cNvPicPr>
            <a:picLocks noChangeAspect="1"/>
          </p:cNvPicPr>
          <p:nvPr/>
        </p:nvPicPr>
        <p:blipFill>
          <a:blip r:embed="rId5"/>
          <a:stretch>
            <a:fillRect/>
          </a:stretch>
        </p:blipFill>
        <p:spPr>
          <a:xfrm>
            <a:off x="640080" y="5376672"/>
            <a:ext cx="512064" cy="512064"/>
          </a:xfrm>
          <a:prstGeom prst="rect">
            <a:avLst/>
          </a:prstGeom>
        </p:spPr>
      </p:pic>
      <p:sp>
        <p:nvSpPr>
          <p:cNvPr id="14" name="TextBox 13"/>
          <p:cNvSpPr txBox="1"/>
          <p:nvPr/>
        </p:nvSpPr>
        <p:spPr>
          <a:xfrm>
            <a:off x="1554480" y="5349240"/>
            <a:ext cx="10058400" cy="365760"/>
          </a:xfrm>
          <a:prstGeom prst="rect">
            <a:avLst/>
          </a:prstGeom>
          <a:noFill/>
        </p:spPr>
        <p:txBody>
          <a:bodyPr wrap="square" anchor="t" lIns="0" rIns="0" tIns="0" bIns="0">
            <a:noAutofit/>
          </a:bodyPr>
          <a:lstStyle/>
          <a:p>
            <a:pPr algn="l"/>
            <a:r>
              <a:rPr sz="1650" b="1">
                <a:solidFill>
                  <a:srgbClr val="FFFFFF"/>
                </a:solidFill>
                <a:latin typeface="Calibri"/>
              </a:rPr>
              <a:t>Perfil cíclico: por qué se evita</a:t>
            </a:r>
          </a:p>
        </p:txBody>
      </p:sp>
      <p:sp>
        <p:nvSpPr>
          <p:cNvPr id="15" name="TextBox 14"/>
          <p:cNvSpPr txBox="1"/>
          <p:nvPr/>
        </p:nvSpPr>
        <p:spPr>
          <a:xfrm>
            <a:off x="1554480" y="5733288"/>
            <a:ext cx="10058400" cy="73152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Adquirir siempre en el mismo sentido (…, +127, +128, −127, …) provoca un salto brusco de fase en k=0, ya que los perfiles centrales quedan separados en el tiempo — de ahí que apenas se use en la práctica.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Trayectorias No Convencionales: Espiral y Radial</a:t>
            </a:r>
          </a:p>
        </p:txBody>
      </p:sp>
      <p:sp>
        <p:nvSpPr>
          <p:cNvPr id="4" name="Rounded Rectangle 3"/>
          <p:cNvSpPr/>
          <p:nvPr/>
        </p:nvSpPr>
        <p:spPr>
          <a:xfrm>
            <a:off x="640080" y="1874519"/>
            <a:ext cx="5272887" cy="411480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piral_cyan.png"/>
          <p:cNvPicPr>
            <a:picLocks noChangeAspect="1"/>
          </p:cNvPicPr>
          <p:nvPr/>
        </p:nvPicPr>
        <p:blipFill>
          <a:blip r:embed="rId2"/>
          <a:stretch>
            <a:fillRect/>
          </a:stretch>
        </p:blipFill>
        <p:spPr>
          <a:xfrm>
            <a:off x="1051560" y="2285999"/>
            <a:ext cx="777240" cy="777240"/>
          </a:xfrm>
          <a:prstGeom prst="rect">
            <a:avLst/>
          </a:prstGeom>
        </p:spPr>
      </p:pic>
      <p:sp>
        <p:nvSpPr>
          <p:cNvPr id="6" name="TextBox 5"/>
          <p:cNvSpPr txBox="1"/>
          <p:nvPr/>
        </p:nvSpPr>
        <p:spPr>
          <a:xfrm>
            <a:off x="1051560" y="3291839"/>
            <a:ext cx="4449927" cy="548640"/>
          </a:xfrm>
          <a:prstGeom prst="rect">
            <a:avLst/>
          </a:prstGeom>
          <a:noFill/>
        </p:spPr>
        <p:txBody>
          <a:bodyPr wrap="square" anchor="t" lIns="0" rIns="0" tIns="0" bIns="0">
            <a:noAutofit/>
          </a:bodyPr>
          <a:lstStyle/>
          <a:p>
            <a:pPr algn="l"/>
            <a:r>
              <a:rPr sz="2200" b="1">
                <a:solidFill>
                  <a:srgbClr val="FFFFFF"/>
                </a:solidFill>
                <a:latin typeface="Calibri"/>
              </a:rPr>
              <a:t>Espiral</a:t>
            </a:r>
          </a:p>
        </p:txBody>
      </p:sp>
      <p:sp>
        <p:nvSpPr>
          <p:cNvPr id="7" name="TextBox 6"/>
          <p:cNvSpPr txBox="1"/>
          <p:nvPr/>
        </p:nvSpPr>
        <p:spPr>
          <a:xfrm>
            <a:off x="1051560" y="3931919"/>
            <a:ext cx="4449927" cy="1828800"/>
          </a:xfrm>
          <a:prstGeom prst="rect">
            <a:avLst/>
          </a:prstGeom>
          <a:noFill/>
        </p:spPr>
        <p:txBody>
          <a:bodyPr wrap="square" anchor="t" lIns="0" rIns="0" tIns="0" bIns="0">
            <a:noAutofit/>
          </a:bodyPr>
          <a:lstStyle/>
          <a:p>
            <a:pPr algn="l">
              <a:lnSpc>
                <a:spcPct val="125000"/>
              </a:lnSpc>
            </a:pPr>
            <a:r>
              <a:rPr sz="1350" b="0">
                <a:solidFill>
                  <a:srgbClr val="9BA3C7"/>
                </a:solidFill>
                <a:latin typeface="Calibri"/>
              </a:rPr>
              <a:t>Gradientes senoidales en lectura y codificación de fase con muestreo continuo, comenzando en el centro del espacio-k. TE muy corto y baja sensibilidad al movimiento; exige interpolar los datos a una malla rectangular antes de la TF. Los artefactos de movimiento aparecen con forma circular, no lineal.</a:t>
            </a:r>
          </a:p>
        </p:txBody>
      </p:sp>
      <p:sp>
        <p:nvSpPr>
          <p:cNvPr id="8" name="Rounded Rectangle 7"/>
          <p:cNvSpPr/>
          <p:nvPr/>
        </p:nvSpPr>
        <p:spPr>
          <a:xfrm>
            <a:off x="6278727" y="1874519"/>
            <a:ext cx="5272887" cy="4114800"/>
          </a:xfrm>
          <a:prstGeom prst="roundRect">
            <a:avLst>
              <a:gd name="adj" fmla="val 6000"/>
            </a:avLst>
          </a:prstGeom>
          <a:solidFill>
            <a:srgbClr val="14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adial_cyan.png"/>
          <p:cNvPicPr>
            <a:picLocks noChangeAspect="1"/>
          </p:cNvPicPr>
          <p:nvPr/>
        </p:nvPicPr>
        <p:blipFill>
          <a:blip r:embed="rId3"/>
          <a:stretch>
            <a:fillRect/>
          </a:stretch>
        </p:blipFill>
        <p:spPr>
          <a:xfrm>
            <a:off x="6690207" y="2285999"/>
            <a:ext cx="777240" cy="777240"/>
          </a:xfrm>
          <a:prstGeom prst="rect">
            <a:avLst/>
          </a:prstGeom>
        </p:spPr>
      </p:pic>
      <p:sp>
        <p:nvSpPr>
          <p:cNvPr id="10" name="TextBox 9"/>
          <p:cNvSpPr txBox="1"/>
          <p:nvPr/>
        </p:nvSpPr>
        <p:spPr>
          <a:xfrm>
            <a:off x="6690207" y="3291839"/>
            <a:ext cx="4449927" cy="548640"/>
          </a:xfrm>
          <a:prstGeom prst="rect">
            <a:avLst/>
          </a:prstGeom>
          <a:noFill/>
        </p:spPr>
        <p:txBody>
          <a:bodyPr wrap="square" anchor="t" lIns="0" rIns="0" tIns="0" bIns="0">
            <a:noAutofit/>
          </a:bodyPr>
          <a:lstStyle/>
          <a:p>
            <a:pPr algn="l"/>
            <a:r>
              <a:rPr sz="2200" b="1">
                <a:solidFill>
                  <a:srgbClr val="FFFFFF"/>
                </a:solidFill>
                <a:latin typeface="Calibri"/>
              </a:rPr>
              <a:t>Radial</a:t>
            </a:r>
          </a:p>
        </p:txBody>
      </p:sp>
      <p:sp>
        <p:nvSpPr>
          <p:cNvPr id="11" name="TextBox 10"/>
          <p:cNvSpPr txBox="1"/>
          <p:nvPr/>
        </p:nvSpPr>
        <p:spPr>
          <a:xfrm>
            <a:off x="6690207" y="3931919"/>
            <a:ext cx="4449927" cy="1828800"/>
          </a:xfrm>
          <a:prstGeom prst="rect">
            <a:avLst/>
          </a:prstGeom>
          <a:noFill/>
        </p:spPr>
        <p:txBody>
          <a:bodyPr wrap="square" anchor="t" lIns="0" rIns="0" tIns="0" bIns="0">
            <a:noAutofit/>
          </a:bodyPr>
          <a:lstStyle/>
          <a:p>
            <a:pPr algn="l">
              <a:lnSpc>
                <a:spcPct val="125000"/>
              </a:lnSpc>
            </a:pPr>
            <a:r>
              <a:rPr sz="1350" b="0">
                <a:solidFill>
                  <a:srgbClr val="9BA3C7"/>
                </a:solidFill>
                <a:latin typeface="Calibri"/>
              </a:rPr>
              <a:t>Cada repetición adquiere una línea que atraviesa el centro del espacio-k. El centro queda muestreado de forma muy densa (mejor RSR); la periferia queda submuestreada (menor resolución). Rotando la línea radial por corte se obtiene la variante helicoidal para imagen dinámica.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ngs_violet.png"/>
          <p:cNvPicPr>
            <a:picLocks noChangeAspect="1"/>
          </p:cNvPicPr>
          <p:nvPr/>
        </p:nvPicPr>
        <p:blipFill>
          <a:blip r:embed="rId2"/>
          <a:stretch>
            <a:fillRect/>
          </a:stretch>
        </p:blipFill>
        <p:spPr>
          <a:xfrm>
            <a:off x="6949440" y="1097280"/>
            <a:ext cx="4754880" cy="4754880"/>
          </a:xfrm>
          <a:prstGeom prst="rect">
            <a:avLst/>
          </a:prstGeom>
        </p:spPr>
      </p:pic>
      <p:sp>
        <p:nvSpPr>
          <p:cNvPr id="4" name="TextBox 3"/>
          <p:cNvSpPr txBox="1"/>
          <p:nvPr/>
        </p:nvSpPr>
        <p:spPr>
          <a:xfrm>
            <a:off x="640080" y="2240280"/>
            <a:ext cx="10058400" cy="365760"/>
          </a:xfrm>
          <a:prstGeom prst="rect">
            <a:avLst/>
          </a:prstGeom>
          <a:noFill/>
        </p:spPr>
        <p:txBody>
          <a:bodyPr wrap="square" anchor="t" lIns="0" rIns="0" tIns="0" bIns="0">
            <a:noAutofit/>
          </a:bodyPr>
          <a:lstStyle/>
          <a:p>
            <a:pPr algn="l">
              <a:lnSpc>
                <a:spcPct val="110000"/>
              </a:lnSpc>
            </a:pPr>
            <a:r>
              <a:rPr sz="1250" b="1">
                <a:solidFill>
                  <a:srgbClr val="22D3EE"/>
                </a:solidFill>
                <a:latin typeface="Calibri"/>
              </a:rPr>
              <a:t>PARTE 4</a:t>
            </a:r>
          </a:p>
        </p:txBody>
      </p:sp>
      <p:sp>
        <p:nvSpPr>
          <p:cNvPr id="5" name="TextBox 4"/>
          <p:cNvSpPr txBox="1"/>
          <p:nvPr/>
        </p:nvSpPr>
        <p:spPr>
          <a:xfrm>
            <a:off x="640080" y="2606040"/>
            <a:ext cx="9966960" cy="1554480"/>
          </a:xfrm>
          <a:prstGeom prst="rect">
            <a:avLst/>
          </a:prstGeom>
          <a:noFill/>
        </p:spPr>
        <p:txBody>
          <a:bodyPr wrap="square" anchor="t" lIns="0" rIns="0" tIns="0" bIns="0">
            <a:noAutofit/>
          </a:bodyPr>
          <a:lstStyle/>
          <a:p>
            <a:pPr algn="l">
              <a:lnSpc>
                <a:spcPct val="102000"/>
              </a:lnSpc>
            </a:pPr>
            <a:r>
              <a:rPr sz="3400" b="1">
                <a:solidFill>
                  <a:srgbClr val="FFFFFF"/>
                </a:solidFill>
                <a:latin typeface="Calibri"/>
              </a:rPr>
              <a:t>Más Allá del Artículo: Aceleración Espacio-Temporal</a:t>
            </a:r>
          </a:p>
        </p:txBody>
      </p:sp>
      <p:sp>
        <p:nvSpPr>
          <p:cNvPr id="6" name="TextBox 5"/>
          <p:cNvSpPr txBox="1"/>
          <p:nvPr/>
        </p:nvSpPr>
        <p:spPr>
          <a:xfrm>
            <a:off x="640080" y="4160520"/>
            <a:ext cx="8138160" cy="822960"/>
          </a:xfrm>
          <a:prstGeom prst="rect">
            <a:avLst/>
          </a:prstGeom>
          <a:noFill/>
        </p:spPr>
        <p:txBody>
          <a:bodyPr wrap="square" anchor="t" lIns="0" rIns="0" tIns="0" bIns="0">
            <a:noAutofit/>
          </a:bodyPr>
          <a:lstStyle/>
          <a:p>
            <a:pPr algn="l">
              <a:lnSpc>
                <a:spcPct val="120000"/>
              </a:lnSpc>
            </a:pPr>
            <a:r>
              <a:rPr sz="1500" b="0">
                <a:solidFill>
                  <a:srgbClr val="9BA3C7"/>
                </a:solidFill>
                <a:latin typeface="Calibri"/>
              </a:rPr>
              <a:t>El propio artículo referencia estas familias de técnicas sin desarrollarlas en detalle — aquí se completan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Imagen en Paralelo: SMASH y SENSE</a:t>
            </a:r>
          </a:p>
        </p:txBody>
      </p:sp>
      <p:pic>
        <p:nvPicPr>
          <p:cNvPr id="4" name="Picture 3" descr="coils_cyan.png"/>
          <p:cNvPicPr>
            <a:picLocks noChangeAspect="1"/>
          </p:cNvPicPr>
          <p:nvPr/>
        </p:nvPicPr>
        <p:blipFill>
          <a:blip r:embed="rId2"/>
          <a:stretch>
            <a:fillRect/>
          </a:stretch>
        </p:blipFill>
        <p:spPr>
          <a:xfrm>
            <a:off x="640080" y="1810512"/>
            <a:ext cx="512064" cy="512064"/>
          </a:xfrm>
          <a:prstGeom prst="rect">
            <a:avLst/>
          </a:prstGeom>
        </p:spPr>
      </p:pic>
      <p:sp>
        <p:nvSpPr>
          <p:cNvPr id="5" name="TextBox 4"/>
          <p:cNvSpPr txBox="1"/>
          <p:nvPr/>
        </p:nvSpPr>
        <p:spPr>
          <a:xfrm>
            <a:off x="1554480" y="1783080"/>
            <a:ext cx="10058400" cy="365760"/>
          </a:xfrm>
          <a:prstGeom prst="rect">
            <a:avLst/>
          </a:prstGeom>
          <a:noFill/>
        </p:spPr>
        <p:txBody>
          <a:bodyPr wrap="square" anchor="t" lIns="0" rIns="0" tIns="0" bIns="0">
            <a:noAutofit/>
          </a:bodyPr>
          <a:lstStyle/>
          <a:p>
            <a:pPr algn="l"/>
            <a:r>
              <a:rPr sz="1650" b="1">
                <a:solidFill>
                  <a:srgbClr val="FFFFFF"/>
                </a:solidFill>
                <a:latin typeface="Calibri"/>
              </a:rPr>
              <a:t>Correlación en el espacio-k, no en el tiempo</a:t>
            </a:r>
          </a:p>
        </p:txBody>
      </p:sp>
      <p:sp>
        <p:nvSpPr>
          <p:cNvPr id="6" name="TextBox 5"/>
          <p:cNvSpPr txBox="1"/>
          <p:nvPr/>
        </p:nvSpPr>
        <p:spPr>
          <a:xfrm>
            <a:off x="1554480" y="216712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 diferencia de las técnicas anteriores, la imagen en paralelo no explota la simetría del espacio-k sino la información espacial adicional que aportan varias bobinas receptoras simultáneas.</a:t>
            </a:r>
          </a:p>
        </p:txBody>
      </p:sp>
      <p:pic>
        <p:nvPicPr>
          <p:cNvPr id="7" name="Picture 6" descr="grid_cyan.png"/>
          <p:cNvPicPr>
            <a:picLocks noChangeAspect="1"/>
          </p:cNvPicPr>
          <p:nvPr/>
        </p:nvPicPr>
        <p:blipFill>
          <a:blip r:embed="rId3"/>
          <a:stretch>
            <a:fillRect/>
          </a:stretch>
        </p:blipFill>
        <p:spPr>
          <a:xfrm>
            <a:off x="640080" y="3227832"/>
            <a:ext cx="512064" cy="512064"/>
          </a:xfrm>
          <a:prstGeom prst="rect">
            <a:avLst/>
          </a:prstGeom>
        </p:spPr>
      </p:pic>
      <p:sp>
        <p:nvSpPr>
          <p:cNvPr id="8" name="TextBox 7"/>
          <p:cNvSpPr txBox="1"/>
          <p:nvPr/>
        </p:nvSpPr>
        <p:spPr>
          <a:xfrm>
            <a:off x="1554480" y="3200400"/>
            <a:ext cx="10058400" cy="365760"/>
          </a:xfrm>
          <a:prstGeom prst="rect">
            <a:avLst/>
          </a:prstGeom>
          <a:noFill/>
        </p:spPr>
        <p:txBody>
          <a:bodyPr wrap="square" anchor="t" lIns="0" rIns="0" tIns="0" bIns="0">
            <a:noAutofit/>
          </a:bodyPr>
          <a:lstStyle/>
          <a:p>
            <a:pPr algn="l"/>
            <a:r>
              <a:rPr sz="1650" b="1">
                <a:solidFill>
                  <a:srgbClr val="FFFFFF"/>
                </a:solidFill>
                <a:latin typeface="Calibri"/>
              </a:rPr>
              <a:t>SMASH — Sodickson y Manning, 1997</a:t>
            </a:r>
          </a:p>
        </p:txBody>
      </p:sp>
      <p:sp>
        <p:nvSpPr>
          <p:cNvPr id="9" name="TextBox 8"/>
          <p:cNvSpPr txBox="1"/>
          <p:nvPr/>
        </p:nvSpPr>
        <p:spPr>
          <a:xfrm>
            <a:off x="1554480" y="358444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Combina las señales de un array de bobinas para generar armónicos espaciales adicionales, sustituyendo codificaciones de fase que de otro modo habría que adquirir.</a:t>
            </a:r>
          </a:p>
        </p:txBody>
      </p:sp>
      <p:pic>
        <p:nvPicPr>
          <p:cNvPr id="10" name="Picture 9" descr="arrow_transform_cyan.png"/>
          <p:cNvPicPr>
            <a:picLocks noChangeAspect="1"/>
          </p:cNvPicPr>
          <p:nvPr/>
        </p:nvPicPr>
        <p:blipFill>
          <a:blip r:embed="rId4"/>
          <a:stretch>
            <a:fillRect/>
          </a:stretch>
        </p:blipFill>
        <p:spPr>
          <a:xfrm>
            <a:off x="640080" y="4645152"/>
            <a:ext cx="512064" cy="512064"/>
          </a:xfrm>
          <a:prstGeom prst="rect">
            <a:avLst/>
          </a:prstGeom>
        </p:spPr>
      </p:pic>
      <p:sp>
        <p:nvSpPr>
          <p:cNvPr id="11" name="TextBox 10"/>
          <p:cNvSpPr txBox="1"/>
          <p:nvPr/>
        </p:nvSpPr>
        <p:spPr>
          <a:xfrm>
            <a:off x="1554480" y="4617720"/>
            <a:ext cx="10058400" cy="365760"/>
          </a:xfrm>
          <a:prstGeom prst="rect">
            <a:avLst/>
          </a:prstGeom>
          <a:noFill/>
        </p:spPr>
        <p:txBody>
          <a:bodyPr wrap="square" anchor="t" lIns="0" rIns="0" tIns="0" bIns="0">
            <a:noAutofit/>
          </a:bodyPr>
          <a:lstStyle/>
          <a:p>
            <a:pPr algn="l"/>
            <a:r>
              <a:rPr sz="1650" b="1">
                <a:solidFill>
                  <a:srgbClr val="FFFFFF"/>
                </a:solidFill>
                <a:latin typeface="Calibri"/>
              </a:rPr>
              <a:t>SENSE — Pruessmann et al., 1999</a:t>
            </a:r>
          </a:p>
        </p:txBody>
      </p:sp>
      <p:sp>
        <p:nvSpPr>
          <p:cNvPr id="12" name="TextBox 11"/>
          <p:cNvSpPr txBox="1"/>
          <p:nvPr/>
        </p:nvSpPr>
        <p:spPr>
          <a:xfrm>
            <a:off x="1554480" y="500176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Adquiere un espacio-k submuestreado con múltiples bobinas y usa los mapas de sensibilidad de cada una para «desplegar» el solapamiento resultante, imagen a imagen, en el dominio espacial.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600" b="1">
                <a:solidFill>
                  <a:srgbClr val="FFFFFF"/>
                </a:solidFill>
                <a:latin typeface="Calibri"/>
              </a:rPr>
              <a:t>Correlación Temporal: Keyhole, View-Sharing y k-t BLAST/SENSE</a:t>
            </a:r>
          </a:p>
        </p:txBody>
      </p:sp>
      <p:pic>
        <p:nvPicPr>
          <p:cNvPr id="4" name="Picture 3" descr="frames_cyan.png"/>
          <p:cNvPicPr>
            <a:picLocks noChangeAspect="1"/>
          </p:cNvPicPr>
          <p:nvPr/>
        </p:nvPicPr>
        <p:blipFill>
          <a:blip r:embed="rId2"/>
          <a:stretch>
            <a:fillRect/>
          </a:stretch>
        </p:blipFill>
        <p:spPr>
          <a:xfrm>
            <a:off x="640080" y="1810512"/>
            <a:ext cx="512064" cy="512064"/>
          </a:xfrm>
          <a:prstGeom prst="rect">
            <a:avLst/>
          </a:prstGeom>
        </p:spPr>
      </p:pic>
      <p:sp>
        <p:nvSpPr>
          <p:cNvPr id="5" name="TextBox 4"/>
          <p:cNvSpPr txBox="1"/>
          <p:nvPr/>
        </p:nvSpPr>
        <p:spPr>
          <a:xfrm>
            <a:off x="1554480" y="1783080"/>
            <a:ext cx="10058400" cy="365760"/>
          </a:xfrm>
          <a:prstGeom prst="rect">
            <a:avLst/>
          </a:prstGeom>
          <a:noFill/>
        </p:spPr>
        <p:txBody>
          <a:bodyPr wrap="square" anchor="t" lIns="0" rIns="0" tIns="0" bIns="0">
            <a:noAutofit/>
          </a:bodyPr>
          <a:lstStyle/>
          <a:p>
            <a:pPr algn="l"/>
            <a:r>
              <a:rPr sz="1650" b="1">
                <a:solidFill>
                  <a:srgbClr val="FFFFFF"/>
                </a:solidFill>
                <a:latin typeface="Calibri"/>
              </a:rPr>
              <a:t>Keyhole</a:t>
            </a:r>
          </a:p>
        </p:txBody>
      </p:sp>
      <p:sp>
        <p:nvSpPr>
          <p:cNvPr id="6" name="TextBox 5"/>
          <p:cNvSpPr txBox="1"/>
          <p:nvPr/>
        </p:nvSpPr>
        <p:spPr>
          <a:xfrm>
            <a:off x="1554480" y="216712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Adquiere el espacio-k completo una vez y, después, solo actualiza periódicamente sus líneas centrales — asumiendo que el contraste cambia más rápido que el detalle fino de la imagen.</a:t>
            </a:r>
          </a:p>
        </p:txBody>
      </p:sp>
      <p:pic>
        <p:nvPicPr>
          <p:cNvPr id="7" name="Picture 6" descr="frames_cyan.png"/>
          <p:cNvPicPr>
            <a:picLocks noChangeAspect="1"/>
          </p:cNvPicPr>
          <p:nvPr/>
        </p:nvPicPr>
        <p:blipFill>
          <a:blip r:embed="rId2"/>
          <a:stretch>
            <a:fillRect/>
          </a:stretch>
        </p:blipFill>
        <p:spPr>
          <a:xfrm>
            <a:off x="640080" y="3227832"/>
            <a:ext cx="512064" cy="512064"/>
          </a:xfrm>
          <a:prstGeom prst="rect">
            <a:avLst/>
          </a:prstGeom>
        </p:spPr>
      </p:pic>
      <p:sp>
        <p:nvSpPr>
          <p:cNvPr id="8" name="TextBox 7"/>
          <p:cNvSpPr txBox="1"/>
          <p:nvPr/>
        </p:nvSpPr>
        <p:spPr>
          <a:xfrm>
            <a:off x="1554480" y="3200400"/>
            <a:ext cx="10058400" cy="365760"/>
          </a:xfrm>
          <a:prstGeom prst="rect">
            <a:avLst/>
          </a:prstGeom>
          <a:noFill/>
        </p:spPr>
        <p:txBody>
          <a:bodyPr wrap="square" anchor="t" lIns="0" rIns="0" tIns="0" bIns="0">
            <a:noAutofit/>
          </a:bodyPr>
          <a:lstStyle/>
          <a:p>
            <a:pPr algn="l"/>
            <a:r>
              <a:rPr sz="1650" b="1">
                <a:solidFill>
                  <a:srgbClr val="FFFFFF"/>
                </a:solidFill>
                <a:latin typeface="Calibri"/>
              </a:rPr>
              <a:t>View-sharing (BRISK, MR fluoroscopy, CURE)</a:t>
            </a:r>
          </a:p>
        </p:txBody>
      </p:sp>
      <p:sp>
        <p:nvSpPr>
          <p:cNvPr id="9" name="TextBox 8"/>
          <p:cNvSpPr txBox="1"/>
          <p:nvPr/>
        </p:nvSpPr>
        <p:spPr>
          <a:xfrm>
            <a:off x="1554480" y="358444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Comparte líneas del espacio-k entre fases temporales adyacentes, completando cada imagen dinámica con datos vecinos en el tiempo a costa de cierto emborronamiento temporal.</a:t>
            </a:r>
          </a:p>
        </p:txBody>
      </p:sp>
      <p:pic>
        <p:nvPicPr>
          <p:cNvPr id="10" name="Picture 9" descr="wave_cyan.png"/>
          <p:cNvPicPr>
            <a:picLocks noChangeAspect="1"/>
          </p:cNvPicPr>
          <p:nvPr/>
        </p:nvPicPr>
        <p:blipFill>
          <a:blip r:embed="rId3"/>
          <a:stretch>
            <a:fillRect/>
          </a:stretch>
        </p:blipFill>
        <p:spPr>
          <a:xfrm>
            <a:off x="640080" y="4645152"/>
            <a:ext cx="512064" cy="512064"/>
          </a:xfrm>
          <a:prstGeom prst="rect">
            <a:avLst/>
          </a:prstGeom>
        </p:spPr>
      </p:pic>
      <p:sp>
        <p:nvSpPr>
          <p:cNvPr id="11" name="TextBox 10"/>
          <p:cNvSpPr txBox="1"/>
          <p:nvPr/>
        </p:nvSpPr>
        <p:spPr>
          <a:xfrm>
            <a:off x="1554480" y="4617720"/>
            <a:ext cx="10058400" cy="365760"/>
          </a:xfrm>
          <a:prstGeom prst="rect">
            <a:avLst/>
          </a:prstGeom>
          <a:noFill/>
        </p:spPr>
        <p:txBody>
          <a:bodyPr wrap="square" anchor="t" lIns="0" rIns="0" tIns="0" bIns="0">
            <a:noAutofit/>
          </a:bodyPr>
          <a:lstStyle/>
          <a:p>
            <a:pPr algn="l"/>
            <a:r>
              <a:rPr sz="1650" b="1">
                <a:solidFill>
                  <a:srgbClr val="FFFFFF"/>
                </a:solidFill>
                <a:latin typeface="Calibri"/>
              </a:rPr>
              <a:t>k-t BLAST / k-t SENSE y TSENSE</a:t>
            </a:r>
          </a:p>
        </p:txBody>
      </p:sp>
      <p:sp>
        <p:nvSpPr>
          <p:cNvPr id="12" name="TextBox 11"/>
          <p:cNvSpPr txBox="1"/>
          <p:nvPr/>
        </p:nvSpPr>
        <p:spPr>
          <a:xfrm>
            <a:off x="1554480" y="5001768"/>
            <a:ext cx="10058400" cy="822960"/>
          </a:xfrm>
          <a:prstGeom prst="rect">
            <a:avLst/>
          </a:prstGeom>
          <a:noFill/>
        </p:spPr>
        <p:txBody>
          <a:bodyPr wrap="square" anchor="t" lIns="0" rIns="0" tIns="0" bIns="0">
            <a:noAutofit/>
          </a:bodyPr>
          <a:lstStyle/>
          <a:p>
            <a:pPr algn="l">
              <a:lnSpc>
                <a:spcPct val="112000"/>
              </a:lnSpc>
            </a:pPr>
            <a:r>
              <a:rPr sz="1250" b="0">
                <a:solidFill>
                  <a:srgbClr val="9BA3C7"/>
                </a:solidFill>
                <a:latin typeface="Calibri"/>
              </a:rPr>
              <a:t>Explotan simultáneamente la correlación espacial (espacio-k) y temporal, filtrando a lo largo del proceso — con la ventaja de no amplificar el ruido en la imagen final reconstruida.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685800"/>
          </a:xfrm>
          <a:prstGeom prst="rect">
            <a:avLst/>
          </a:prstGeom>
          <a:noFill/>
        </p:spPr>
        <p:txBody>
          <a:bodyPr wrap="square" anchor="t" lIns="0" rIns="0" tIns="0" bIns="0">
            <a:noAutofit/>
          </a:bodyPr>
          <a:lstStyle/>
          <a:p>
            <a:pPr algn="l"/>
            <a:r>
              <a:rPr sz="2300" b="1">
                <a:solidFill>
                  <a:srgbClr val="FFFFFF"/>
                </a:solidFill>
                <a:latin typeface="Calibri"/>
              </a:rPr>
              <a:t>Tabla Resumen: Proporcionalidades Clave del Espacio-K</a:t>
            </a:r>
          </a:p>
        </p:txBody>
      </p:sp>
      <p:sp>
        <p:nvSpPr>
          <p:cNvPr id="4" name="Rounded Rectangle 3"/>
          <p:cNvSpPr/>
          <p:nvPr/>
        </p:nvSpPr>
        <p:spPr>
          <a:xfrm>
            <a:off x="640080" y="1783080"/>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RSR ∝ vóxel × √(tiempo de adquisición)</a:t>
            </a:r>
          </a:p>
        </p:txBody>
      </p:sp>
      <p:sp>
        <p:nvSpPr>
          <p:cNvPr id="6" name="Rounded Rectangle 5"/>
          <p:cNvSpPr/>
          <p:nvPr/>
        </p:nvSpPr>
        <p:spPr>
          <a:xfrm>
            <a:off x="4368698" y="1783080"/>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1783080"/>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RSR ∝ (tamaño de matriz)^-1.5</a:t>
            </a:r>
          </a:p>
        </p:txBody>
      </p:sp>
      <p:sp>
        <p:nvSpPr>
          <p:cNvPr id="8" name="Rounded Rectangle 7"/>
          <p:cNvSpPr/>
          <p:nvPr/>
        </p:nvSpPr>
        <p:spPr>
          <a:xfrm>
            <a:off x="8097316" y="1783080"/>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5916" y="1783080"/>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RSR ∝ FOV^2</a:t>
            </a:r>
          </a:p>
        </p:txBody>
      </p:sp>
      <p:sp>
        <p:nvSpPr>
          <p:cNvPr id="10" name="Rounded Rectangle 9"/>
          <p:cNvSpPr/>
          <p:nvPr/>
        </p:nvSpPr>
        <p:spPr>
          <a:xfrm>
            <a:off x="640080" y="3794759"/>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94759"/>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RSR ∝ espesor de corte</a:t>
            </a:r>
          </a:p>
        </p:txBody>
      </p:sp>
      <p:sp>
        <p:nvSpPr>
          <p:cNvPr id="12" name="Rounded Rectangle 11"/>
          <p:cNvSpPr/>
          <p:nvPr/>
        </p:nvSpPr>
        <p:spPr>
          <a:xfrm>
            <a:off x="4368698" y="3794759"/>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3794759"/>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RSR ∝ √NSA</a:t>
            </a:r>
          </a:p>
        </p:txBody>
      </p:sp>
      <p:sp>
        <p:nvSpPr>
          <p:cNvPr id="14" name="Rounded Rectangle 13"/>
          <p:cNvSpPr/>
          <p:nvPr/>
        </p:nvSpPr>
        <p:spPr>
          <a:xfrm>
            <a:off x="8097316" y="3794759"/>
            <a:ext cx="3454298" cy="1737360"/>
          </a:xfrm>
          <a:prstGeom prst="roundRect">
            <a:avLst>
              <a:gd name="adj" fmla="val 6000"/>
            </a:avLst>
          </a:prstGeom>
          <a:solidFill>
            <a:srgbClr val="1014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5916" y="3794759"/>
            <a:ext cx="2997098" cy="1737360"/>
          </a:xfrm>
          <a:prstGeom prst="rect">
            <a:avLst/>
          </a:prstGeom>
          <a:noFill/>
        </p:spPr>
        <p:txBody>
          <a:bodyPr wrap="square" anchor="ctr" lIns="0" rIns="0" tIns="0" bIns="0">
            <a:noAutofit/>
          </a:bodyPr>
          <a:lstStyle/>
          <a:p>
            <a:pPr algn="ctr">
              <a:lnSpc>
                <a:spcPct val="130000"/>
              </a:lnSpc>
            </a:pPr>
            <a:r>
              <a:rPr sz="1350" b="0">
                <a:solidFill>
                  <a:srgbClr val="22D3EE"/>
                </a:solidFill>
                <a:latin typeface="Consolas"/>
              </a:rPr>
              <a:t>T. adquisición = Nº cod. de fase × TR × NSA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ngs_violet.png"/>
          <p:cNvPicPr>
            <a:picLocks noChangeAspect="1"/>
          </p:cNvPicPr>
          <p:nvPr/>
        </p:nvPicPr>
        <p:blipFill>
          <a:blip r:embed="rId2"/>
          <a:stretch>
            <a:fillRect/>
          </a:stretch>
        </p:blipFill>
        <p:spPr>
          <a:xfrm>
            <a:off x="-1188720" y="1737360"/>
            <a:ext cx="5486400" cy="5486400"/>
          </a:xfrm>
          <a:prstGeom prst="rect">
            <a:avLst/>
          </a:prstGeom>
        </p:spPr>
      </p:pic>
      <p:sp>
        <p:nvSpPr>
          <p:cNvPr id="4" name="TextBox 3"/>
          <p:cNvSpPr txBox="1"/>
          <p:nvPr/>
        </p:nvSpPr>
        <p:spPr>
          <a:xfrm>
            <a:off x="1188720" y="2331720"/>
            <a:ext cx="9875520" cy="1737360"/>
          </a:xfrm>
          <a:prstGeom prst="rect">
            <a:avLst/>
          </a:prstGeom>
          <a:noFill/>
        </p:spPr>
        <p:txBody>
          <a:bodyPr wrap="square" anchor="t" lIns="0" rIns="0" tIns="0" bIns="0">
            <a:noAutofit/>
          </a:bodyPr>
          <a:lstStyle/>
          <a:p>
            <a:pPr algn="ctr">
              <a:lnSpc>
                <a:spcPct val="115000"/>
              </a:lnSpc>
            </a:pPr>
            <a:r>
              <a:rPr sz="3000" b="1">
                <a:solidFill>
                  <a:srgbClr val="FFFFFF"/>
                </a:solidFill>
                <a:latin typeface="Calibri"/>
              </a:rPr>
              <a:t>La calidad de una imagen de RM no es un accidente: es la huella matemática de cómo se llenó su espacio-k</a:t>
            </a:r>
          </a:p>
        </p:txBody>
      </p:sp>
      <p:sp>
        <p:nvSpPr>
          <p:cNvPr id="5" name="TextBox 4"/>
          <p:cNvSpPr txBox="1"/>
          <p:nvPr/>
        </p:nvSpPr>
        <p:spPr>
          <a:xfrm>
            <a:off x="1737360" y="4434840"/>
            <a:ext cx="8686800" cy="548640"/>
          </a:xfrm>
          <a:prstGeom prst="rect">
            <a:avLst/>
          </a:prstGeom>
          <a:noFill/>
        </p:spPr>
        <p:txBody>
          <a:bodyPr wrap="square" anchor="t" lIns="0" rIns="0" tIns="0" bIns="0">
            <a:noAutofit/>
          </a:bodyPr>
          <a:lstStyle/>
          <a:p>
            <a:pPr algn="ctr"/>
            <a:r>
              <a:rPr sz="1500" b="0">
                <a:solidFill>
                  <a:srgbClr val="22D3EE"/>
                </a:solidFill>
                <a:latin typeface="Calibri"/>
              </a:rPr>
              <a:t>Contraste, resolución, RSR y artefactos — cuatro caras de una misma matriz de frecuencias espaciales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